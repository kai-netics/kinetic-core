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69" r:id="rId6"/>
    <p:sldId id="258" r:id="rId7"/>
    <p:sldId id="270" r:id="rId8"/>
    <p:sldId id="259" r:id="rId9"/>
    <p:sldId id="260" r:id="rId10"/>
    <p:sldId id="261" r:id="rId11"/>
    <p:sldId id="262" r:id="rId12"/>
    <p:sldId id="263" r:id="rId13"/>
    <p:sldId id="264" r:id="rId14"/>
    <p:sldId id="268" r:id="rId15"/>
    <p:sldId id="271" r:id="rId16"/>
    <p:sldId id="26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5" autoAdjust="0"/>
    <p:restoredTop sz="80157" autoAdjust="0"/>
  </p:normalViewPr>
  <p:slideViewPr>
    <p:cSldViewPr snapToGrid="0" snapToObjects="1">
      <p:cViewPr varScale="1">
        <p:scale>
          <a:sx n="116" d="100"/>
          <a:sy n="116" d="100"/>
        </p:scale>
        <p:origin x="43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405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55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84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UMMS built the Sparrows Point LOC as a deliberate consolidation strategy — centralizing supply receiving across all 11 hospital sites into a single location with one dock, one inventory system, and one logistics team managing inbound flow. That solved the fragmentation problem.</a:t>
            </a:r>
          </a:p>
          <a:p>
            <a:r>
              <a:rPr lang="en-US" dirty="0"/>
              <a:t>But consolidation created a new vulnerability. When you concentrate everything into one node, that node becomes a single point of failure. COVID proved this exactly — when ground transport was disrupted, the entire system froze because every delivery ran through the same bottlenecks.</a:t>
            </a:r>
          </a:p>
          <a:p>
            <a:r>
              <a:rPr lang="en-US" dirty="0"/>
              <a:t>Drones solve that specific problem. A drone doesn't need roads, doesn't need a driver, and operates on a completely separate infrastructure layer from the truck fleet. The LOC keeps doing what it was built to do — consolidate receiving. KAI-</a:t>
            </a:r>
            <a:r>
              <a:rPr lang="en-US" dirty="0" err="1"/>
              <a:t>Netics</a:t>
            </a:r>
            <a:r>
              <a:rPr lang="en-US" dirty="0"/>
              <a:t> adds a resilient last-mile distribution layer underneath it that can't be taken out by the same events that ground trucks.</a:t>
            </a:r>
          </a:p>
          <a:p>
            <a:r>
              <a:rPr lang="en-US" dirty="0"/>
              <a:t>The pitch is not "change how you receive supply." The pitch is "protect what you already built."</a:t>
            </a:r>
          </a:p>
          <a:p>
            <a:r>
              <a:rPr lang="en-US" dirty="0"/>
              <a:t>When a hospital supply chain VP asks "what happens when your system goes down?" — the answer is: our system is what you call when your system goes down.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726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05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64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KAI-Netics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Commercialization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68580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Infrastructure Operator: Unlocking Maryland's Medical &amp; Community Delivery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523744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1728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39712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/ UROC Applicant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Smith, Founder &amp; CEO  |  Kevin Alexander International LLC dba KAI-Netics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kas@kevin-llc.com  |  443.257.6836  |  kevin-llc.com  |  April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Submitted to: Maryland Energy Innovation Accelerator (MEIA)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Baltimore's Supply Chain Runs on Diesel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Medline's ~50-mile diesel truck runs from Perryville to UMMS Sparrows Point emit ~80–100 lbs CO2e per run, ~25,000 lbs annually. Every medical delivery is a truck trip.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truck fleets — the distributor's competitive moat — are also their largest cost liability: fuel, labor, maintenance, insurance, and growing emissions compliance burden.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proved the fleet-based model's vulnerability. UMMS built its $100M+ Sparrows Point Logistics Operations Center (LOC) specifically to address pandemic supply chain failures.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UMMS Sparrows Point LOC opened Q2 2025 — 415,000 sq ft serving 11 hospitals, 1.2M+ outpatients/year. It was built to solve supply chain resilience. Drone delivery is the next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Drone Delivery Now: Green House Gas (GHG) Reduction + Supply Chain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Climate Solutions Now Act (2022) set the most aggressive GHG targets in the US. Every diesel truck delivering medical supplies is a direct emissions liability — ~80–100 lbs CO2e per run. UMMS's new Sparrows Point LOC was built to Maryland's climate compliance standard*. Drone delivery is the next emissions reduction layer.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Proved the Fragility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“98% of hospital leaders said COVID-19 exposed critical supply chain vulnerabilities” – </a:t>
            </a: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Healthcare Exchange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Fleet-based delivery froze: borders closed, drivers fell ill, hospitals traded supplies between ICU units. UMMS invested $32M in the Sparrows Point LOC specifically to address these pandemic-era failures. The LOC consolidates. Drones make it resilient.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Opportunity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drone market grows from $1.73B (2025) to $4.68B by 2032. FAA Part 107 enables commercial operations TODAY. Chesapeake Unmanned Aerial Systems Route Network (CURN)'s Baltimore corridor provides the airspace. Techstars AI Health Baltimore — anchored by UMMS, Hopkins, MedStar, CareFirst, and UMB — Demo Day June 2026 at M&amp;T Bank Stadium. Baltimore's three largest health systems are actively seeking supply chain innovation partners right now.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MEIA alignment: Clean energy technology + quantifiable GHG reduction + MWVOB operator + green collar workforce (Equity &amp; Autonomy Foundry/EAF; Certified Autonomous Kinetic Operator/CAKO) = the complete Maryland climate tech story.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24B86D-28E4-F7FF-8D68-EA411CAF9AAF}"/>
              </a:ext>
            </a:extLst>
          </p:cNvPr>
          <p:cNvSpPr txBox="1"/>
          <p:nvPr/>
        </p:nvSpPr>
        <p:spPr>
          <a:xfrm>
            <a:off x="1179268" y="4800600"/>
            <a:ext cx="678546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800" i="1" dirty="0"/>
              <a:t>*The University of Maryland Medical System’s (UMMS) new 400,000-square-foot Logistics Operations Center (LOC) at Sparrows Point complies with Maryland’s climate standards by being an all-electric, solar-ready facility with high-efficiency insulation and heat-recovery technology.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The Infrastructure Thesis: Why KAI-Netics Unlocks a New Market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title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 pitchFamily="34" charset="0"/>
              </a:rPr>
              <a:t>Jevons Paradox: when efficiency drives cost down dramatically, total demand expands. Infrastructure density is the trigger.</a:t>
            </a:r>
          </a:p>
        </p:txBody>
      </p:sp>
      <p:sp>
        <p:nvSpPr>
          <p:cNvPr id="6" name="Col1Bg"/>
          <p:cNvSpPr/>
          <p:nvPr/>
        </p:nvSpPr>
        <p:spPr>
          <a:xfrm>
            <a:off x="274638" y="1554480"/>
            <a:ext cx="2438400" cy="3375866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ol1Header"/>
          <p:cNvSpPr/>
          <p:nvPr/>
        </p:nvSpPr>
        <p:spPr>
          <a:xfrm>
            <a:off x="274638" y="1554480"/>
            <a:ext cx="2438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TODAY</a:t>
            </a:r>
          </a:p>
        </p:txBody>
      </p:sp>
      <p:sp>
        <p:nvSpPr>
          <p:cNvPr id="8" name="Col1Text"/>
          <p:cNvSpPr/>
          <p:nvPr/>
        </p:nvSpPr>
        <p:spPr>
          <a:xfrm>
            <a:off x="32004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High cost-per-flight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Only critical specimens and urgent Rx justify economics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Use cases are rationed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Low-value trips — pharmacy runs, routine supply — cannot justify the cost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Displacement market only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No new trips are created — we're splitting a fixed pie until the price drops</a:t>
            </a:r>
          </a:p>
        </p:txBody>
      </p:sp>
      <p:sp>
        <p:nvSpPr>
          <p:cNvPr id="9" name="Arrow1"/>
          <p:cNvSpPr/>
          <p:nvPr/>
        </p:nvSpPr>
        <p:spPr>
          <a:xfrm>
            <a:off x="2804238" y="3006600"/>
            <a:ext cx="548640" cy="27432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ol2Bg"/>
          <p:cNvSpPr/>
          <p:nvPr/>
        </p:nvSpPr>
        <p:spPr>
          <a:xfrm>
            <a:off x="3352878" y="1554480"/>
            <a:ext cx="2438400" cy="3375866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ol2Header"/>
          <p:cNvSpPr/>
          <p:nvPr/>
        </p:nvSpPr>
        <p:spPr>
          <a:xfrm>
            <a:off x="3352878" y="1554480"/>
            <a:ext cx="2438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KAI-NETICS BUILDS</a:t>
            </a:r>
          </a:p>
        </p:txBody>
      </p:sp>
      <p:sp>
        <p:nvSpPr>
          <p:cNvPr id="12" name="Col2Text"/>
          <p:cNvSpPr/>
          <p:nvPr/>
        </p:nvSpPr>
        <p:spPr>
          <a:xfrm>
            <a:off x="3398280" y="1920240"/>
            <a:ext cx="2347596" cy="2971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Physical layer (KAI-</a:t>
            </a:r>
            <a:r>
              <a:rPr lang="en-US" sz="1300" b="1" dirty="0" err="1">
                <a:solidFill>
                  <a:srgbClr val="F5A623"/>
                </a:solidFill>
                <a:latin typeface="Calibri"/>
              </a:rPr>
              <a:t>Netics</a:t>
            </a:r>
            <a:r>
              <a:rPr lang="en-US" sz="1300" b="1" dirty="0">
                <a:solidFill>
                  <a:srgbClr val="F5A623"/>
                </a:solidFill>
                <a:latin typeface="Calibri"/>
              </a:rPr>
              <a:t> For Profit)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DFR pads at customer sites + CURN corridor access = controlled end-to-end flight path</a:t>
            </a: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Human layer (Equity &amp; Autonomy Foundry)</a:t>
            </a: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CAKO operators = captive workforce supply chain</a:t>
            </a: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Software layer (Modular Operational Network Kernel)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Autonomous Kinetic Management System (AKMS) AI drives cost-per-flight down with every delivery</a:t>
            </a:r>
          </a:p>
        </p:txBody>
      </p:sp>
      <p:sp>
        <p:nvSpPr>
          <p:cNvPr id="13" name="Arrow2"/>
          <p:cNvSpPr/>
          <p:nvPr/>
        </p:nvSpPr>
        <p:spPr>
          <a:xfrm>
            <a:off x="5882478" y="3006600"/>
            <a:ext cx="54864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ol3Bg"/>
          <p:cNvSpPr/>
          <p:nvPr/>
        </p:nvSpPr>
        <p:spPr>
          <a:xfrm>
            <a:off x="6431118" y="1554480"/>
            <a:ext cx="2438400" cy="3375866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ol3Header"/>
          <p:cNvSpPr/>
          <p:nvPr/>
        </p:nvSpPr>
        <p:spPr>
          <a:xfrm>
            <a:off x="6431118" y="1554480"/>
            <a:ext cx="243840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AT SCALE</a:t>
            </a:r>
          </a:p>
        </p:txBody>
      </p:sp>
      <p:sp>
        <p:nvSpPr>
          <p:cNvPr id="16" name="Col3Text"/>
          <p:cNvSpPr/>
          <p:nvPr/>
        </p:nvSpPr>
        <p:spPr>
          <a:xfrm>
            <a:off x="647652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New categories emerge: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Routine pharmacy courier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Campus internal supply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Non-critical specimen pickup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Municipal small supply (MBE)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Food desert last-mile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Market expands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Demand that does not yet exist at scale</a:t>
            </a:r>
          </a:p>
        </p:txBody>
      </p:sp>
      <p:sp>
        <p:nvSpPr>
          <p:cNvPr id="17" name="BottomCallout"/>
          <p:cNvSpPr/>
          <p:nvPr/>
        </p:nvSpPr>
        <p:spPr>
          <a:xfrm>
            <a:off x="274638" y="5303160"/>
            <a:ext cx="859488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KAI-Netics is not competing for existing drone delivery market share. It is building the infrastructure that creates the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Drone-as-Infrastructure (DaI): The Three-Layer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60000"/>
            <a:ext cx="8778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28090"/>
                </a:solidFill>
                <a:latin typeface="Calibri"/>
              </a:rPr>
              <a:t>No competitor owns all three layers. That structural advantage is the moat.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0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3600" y="1400000"/>
            <a:ext cx="2460000" cy="32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360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PHYSICAL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600" y="1720000"/>
            <a:ext cx="24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028090"/>
                </a:solidFill>
                <a:latin typeface="Calibri"/>
              </a:rPr>
              <a:t>KAI-</a:t>
            </a:r>
            <a:r>
              <a:rPr lang="en-US" sz="1100" b="1" dirty="0" err="1">
                <a:solidFill>
                  <a:srgbClr val="028090"/>
                </a:solidFill>
                <a:latin typeface="Calibri"/>
              </a:rPr>
              <a:t>Netics</a:t>
            </a:r>
            <a:r>
              <a:rPr lang="en-US" sz="1100" b="1" dirty="0">
                <a:solidFill>
                  <a:srgbClr val="028090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028090"/>
                </a:solidFill>
                <a:latin typeface="Calibri"/>
              </a:rPr>
              <a:t>(FP)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DFR Pads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150000"/>
            <a:ext cx="23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Drone launch, land &amp; charge at every delivery node</a:t>
            </a:r>
            <a:endParaRPr lang="en-US" sz="900" b="0" i="0" dirty="0">
              <a:solidFill>
                <a:srgbClr val="CADCFC"/>
              </a:solidFill>
              <a:latin typeface="Calibri"/>
            </a:endParaRPr>
          </a:p>
          <a:p>
            <a:pPr algn="l"/>
            <a:endParaRPr lang="en-US" sz="900" dirty="0">
              <a:solidFill>
                <a:srgbClr val="CADCFC"/>
              </a:solidFill>
              <a:latin typeface="Calibri"/>
            </a:endParaRPr>
          </a:p>
          <a:p>
            <a:pPr algn="l"/>
            <a:endParaRPr sz="9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4560" y="2503842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CURN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0" y="2711564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FAA-authorized BVLOS corridor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720" y="2990731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Flight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560" y="3184335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Medical, inspection, DFR, C-UAS,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560" y="4494552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028090"/>
                </a:solidFill>
                <a:latin typeface="Calibri"/>
              </a:rPr>
              <a:t>= Tesla</a:t>
            </a:r>
            <a:r>
              <a:rPr lang="en-US" sz="900" b="0" i="1" dirty="0">
                <a:solidFill>
                  <a:srgbClr val="028090"/>
                </a:solidFill>
                <a:latin typeface="Calibri"/>
              </a:rPr>
              <a:t> (TSLA)</a:t>
            </a:r>
            <a:r>
              <a:rPr sz="900" b="0" i="1" dirty="0">
                <a:solidFill>
                  <a:srgbClr val="028090"/>
                </a:solidFill>
                <a:latin typeface="Calibri"/>
              </a:rPr>
              <a:t> vehicle + Supercharger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224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3192240" y="1400000"/>
            <a:ext cx="2460000" cy="3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9224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HUMAN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2240" y="1720000"/>
            <a:ext cx="24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5A623"/>
                </a:solidFill>
                <a:latin typeface="Calibri"/>
              </a:rPr>
              <a:t>E</a:t>
            </a:r>
            <a:r>
              <a:rPr lang="en-US" sz="1100" b="1" i="0" dirty="0">
                <a:solidFill>
                  <a:srgbClr val="F5A623"/>
                </a:solidFill>
                <a:latin typeface="Calibri"/>
              </a:rPr>
              <a:t>quity &amp; </a:t>
            </a:r>
            <a:r>
              <a:rPr sz="1100" b="1" i="0" dirty="0">
                <a:solidFill>
                  <a:srgbClr val="F5A623"/>
                </a:solidFill>
                <a:latin typeface="Calibri"/>
              </a:rPr>
              <a:t>A</a:t>
            </a:r>
            <a:r>
              <a:rPr lang="en-US" sz="1100" b="1" i="0" dirty="0">
                <a:solidFill>
                  <a:srgbClr val="F5A623"/>
                </a:solidFill>
                <a:latin typeface="Calibri"/>
              </a:rPr>
              <a:t>utonomy </a:t>
            </a:r>
            <a:r>
              <a:rPr sz="1100" b="1" i="0" dirty="0">
                <a:solidFill>
                  <a:srgbClr val="F5A623"/>
                </a:solidFill>
                <a:latin typeface="Calibri"/>
              </a:rPr>
              <a:t>F</a:t>
            </a:r>
            <a:r>
              <a:rPr lang="en-US" sz="1100" b="1" i="0" dirty="0">
                <a:solidFill>
                  <a:srgbClr val="F5A623"/>
                </a:solidFill>
                <a:latin typeface="Calibri"/>
              </a:rPr>
              <a:t>oundry</a:t>
            </a:r>
            <a:r>
              <a:rPr sz="1100" b="1" i="0" dirty="0">
                <a:solidFill>
                  <a:srgbClr val="F5A623"/>
                </a:solidFill>
                <a:latin typeface="Calibri"/>
              </a:rPr>
              <a:t> (501c3)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320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CAKO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320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Baltimore residents trained as FAA Part 107 operators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2240" y="2536209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Grant-Funded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3200" y="2743604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EARN, FEMA SHSP, CDBG — zero cost to FP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3200" y="2986973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Talent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3200" y="3166266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CAKO graduates hired by FP at market-rate wages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3200" y="4518617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F5A623"/>
                </a:solidFill>
                <a:latin typeface="Calibri"/>
              </a:rPr>
              <a:t>= T</a:t>
            </a:r>
            <a:r>
              <a:rPr lang="en-US" sz="900" b="0" i="1" dirty="0">
                <a:solidFill>
                  <a:srgbClr val="F5A623"/>
                </a:solidFill>
                <a:latin typeface="Calibri"/>
              </a:rPr>
              <a:t>SLA</a:t>
            </a:r>
            <a:r>
              <a:rPr sz="900" b="0" i="1" dirty="0">
                <a:solidFill>
                  <a:srgbClr val="F5A623"/>
                </a:solidFill>
                <a:latin typeface="Calibri"/>
              </a:rPr>
              <a:t> Gigafactory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088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00880" y="1400000"/>
            <a:ext cx="2460000" cy="32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088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SOFTWARE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088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2C39A"/>
                </a:solidFill>
                <a:latin typeface="Calibri"/>
              </a:rPr>
              <a:t>MONK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184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AKMS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184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Agent dispatch; drives cost-per-flight down with every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0880" y="2536209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MONK 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1840" y="273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Low Altitude Authorization &amp; Notification Capability (LAANC) + cryptographic signing + tamper-evident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0880" y="32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IP Licensing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0880" y="3436266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Licensable to operators, municipalities, DHS approved tech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0880" y="4522531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02C39A"/>
                </a:solidFill>
                <a:latin typeface="Calibri"/>
              </a:rPr>
              <a:t>= 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TSLA Full-Service Driving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 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(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FSD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)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 data licensing</a:t>
            </a:r>
          </a:p>
        </p:txBody>
      </p:sp>
      <p:sp>
        <p:nvSpPr>
          <p:cNvPr id="39" name="Can 38"/>
          <p:cNvSpPr/>
          <p:nvPr/>
        </p:nvSpPr>
        <p:spPr>
          <a:xfrm>
            <a:off x="2703600" y="3065700"/>
            <a:ext cx="365760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n 39"/>
          <p:cNvSpPr/>
          <p:nvPr/>
        </p:nvSpPr>
        <p:spPr>
          <a:xfrm>
            <a:off x="5712240" y="3065700"/>
            <a:ext cx="365760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83600" y="4792302"/>
            <a:ext cx="8776800" cy="32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792302"/>
            <a:ext cx="8414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 dirty="0">
                <a:solidFill>
                  <a:srgbClr val="FFFFFF"/>
                </a:solidFill>
                <a:latin typeface="Calibri"/>
              </a:rPr>
              <a:t>The flywheel: FP operations fund infrastructure → EAF workforce scales capacity → MONK data compounds in value → repeat.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Drone Infrastructure Operator at the CURN Baltimore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Chesapeake UAS Route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4944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University of Maryland Regional Operations Center (UROC) -led Beyond Visual Line Of Site (BVLOS) drone corridors over Chesapeake Bay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94944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 Maryland Commerce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+ Navy + DHS + ARL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4944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over water = minimal crash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94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endpoint = KAI-Netics operating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20299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supply  •  Lab specimens  •  Pharmacy  •  Resiliency hubs  •  Gov't small 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6–12 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(Johns Hopkins, etc.)  •  Food desert last-mile  •  Port of Baltimore  •  Legal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22192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POST-108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41879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Eastern Shore  •  Organ transport  •  Full CURN carrier license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From Airspace to Doorstep: CURN → Pad → Last Mile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0720" y="10600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0720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600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libri"/>
              </a:rPr>
              <a:t>CURN Corridor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60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FAA-authorized BVLOS drone highways — Chesapeake Bay corridor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213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UMD UROC owns it: $1.3M state-funded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566601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KAI-</a:t>
            </a:r>
            <a:r>
              <a:rPr sz="900" b="0" i="0" dirty="0" err="1">
                <a:solidFill>
                  <a:srgbClr val="CADCFC"/>
                </a:solidFill>
                <a:latin typeface="Calibri"/>
              </a:rPr>
              <a:t>Netics</a:t>
            </a:r>
            <a:r>
              <a:rPr sz="900" b="0" i="0" dirty="0">
                <a:solidFill>
                  <a:srgbClr val="CADCFC"/>
                </a:solidFill>
                <a:latin typeface="Calibri"/>
              </a:rPr>
              <a:t>: First commercial 3PL at Baltimore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9543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MONK: Signs mission + validates corridor access before every flight</a:t>
            </a:r>
          </a:p>
        </p:txBody>
      </p:sp>
      <p:sp>
        <p:nvSpPr>
          <p:cNvPr id="13" name="Can 12"/>
          <p:cNvSpPr/>
          <p:nvPr/>
        </p:nvSpPr>
        <p:spPr>
          <a:xfrm>
            <a:off x="2213600" y="3035700"/>
            <a:ext cx="198933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42533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259653" y="106000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653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533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Calibri"/>
              </a:rPr>
              <a:t>DFR Pad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3493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Physical drone landing, launch &amp; charge station at customer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3493" y="1953945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The moat: Whoever installs the pad owns the logistics relationship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3493" y="2388165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Targets: UMMS Sparrows Point, UMMC downtown, resiliency hubs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3493" y="2795441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Funded by: FEMA, MEIA, MEA Resilient MD — built with OPM</a:t>
            </a:r>
          </a:p>
        </p:txBody>
      </p:sp>
      <p:sp>
        <p:nvSpPr>
          <p:cNvPr id="22" name="Can 21"/>
          <p:cNvSpPr/>
          <p:nvPr/>
        </p:nvSpPr>
        <p:spPr>
          <a:xfrm>
            <a:off x="4472533" y="3035700"/>
            <a:ext cx="198933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01466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18586" y="10600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8586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1466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CAKO 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426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FAA Part 107 certified Baltimore resident operating from DFR pad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06998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MONK authorizes: LAANC clearance + signed mission package before wheels-up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68922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EAF trains; FP hires via Talent Pipeline Agreement</a:t>
            </a:r>
          </a:p>
        </p:txBody>
      </p:sp>
      <p:sp>
        <p:nvSpPr>
          <p:cNvPr id="30" name="Can 29"/>
          <p:cNvSpPr/>
          <p:nvPr/>
        </p:nvSpPr>
        <p:spPr>
          <a:xfrm>
            <a:off x="6731466" y="3035700"/>
            <a:ext cx="198933" cy="228600"/>
          </a:xfrm>
          <a:prstGeom prst="can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60399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77519" y="1060000"/>
            <a:ext cx="365760" cy="3657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7519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0399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  <a:latin typeface="Calibri"/>
              </a:rPr>
              <a:t>Last-Mile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1359" y="1580000"/>
            <a:ext cx="188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Tier</a:t>
            </a:r>
            <a:r>
              <a:rPr sz="900" b="0" i="0" dirty="0">
                <a:solidFill>
                  <a:srgbClr val="0A2240"/>
                </a:solidFill>
                <a:latin typeface="Calibri"/>
              </a:rPr>
              <a:t> </a:t>
            </a:r>
            <a:r>
              <a:rPr sz="900" dirty="0">
                <a:solidFill>
                  <a:srgbClr val="CADEFC"/>
                </a:solidFill>
                <a:latin typeface="Calibri"/>
              </a:rPr>
              <a:t>1: UMMS hospitals (11), Hopkins labs, Baltimore resiliency hubs (7)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1359" y="2138261"/>
            <a:ext cx="1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CADEFC"/>
                </a:solidFill>
                <a:latin typeface="Calibri"/>
              </a:rPr>
              <a:t>Payloads: Surgical kits, specimens, Rx, emergency supply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1359" y="2566601"/>
            <a:ext cx="1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CADEFC"/>
                </a:solidFill>
                <a:latin typeface="Calibri"/>
              </a:rPr>
              <a:t>At scale: New trip categories emerge below Jevons 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3600" y="4793803"/>
            <a:ext cx="8776800" cy="2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4793803"/>
            <a:ext cx="841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 dirty="0">
                <a:solidFill>
                  <a:srgbClr val="FFFFFF"/>
                </a:solidFill>
                <a:latin typeface="Calibri"/>
              </a:rPr>
              <a:t>MONK signs every mission at Step 3. Every delivery generates telemetry that makes MONK smarter and the network cheaper to operate.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Story: Replacing Dirty Truck Trips with Electric Drones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Perryville → Sparrows Point (~50 mi)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run: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~80–100 lbs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(estimated)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lbs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+ labor + maintenance + insurance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931920" cy="256032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DRONE (KAI-Netics)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190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corridor — over water (Patapsco)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~0.04–0.11 lbs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871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(same frequency)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712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~9–26 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 (~0.1–0.3 kWh/delivery)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041648"/>
            <a:ext cx="475488" cy="4754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~19,974 lbs CO2e saved per delivery lane per year  =  ~9 metric tons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UMMS 11-hospital network: ~99 metric tons CO2e/year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EPA MOVES diesel factors + EPA eGrid MD grid emissions intensity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Customer: UMMS Sparrows Point 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LOC — opened 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523744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23744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UMMS hospitals served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MD hospital 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23744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188720"/>
            <a:ext cx="4041648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28032" y="123444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Part 107 POC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737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Sparrows Point LOC → UMMC Downtown (~8 mi, Patapsco corridor)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32704" y="2194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Sub-5lb surgical kits &amp; medical supplies (non-controlled)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32704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commercial; LAANC authorized; Remote ID compliant; drone rented for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31089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days; minimum 50 deliveries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32704" y="35661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completion rate; &lt;50% truck cost per delivery; pricing at cost-plus-expenses (~$2,500–$5,000 full pilot)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023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Vizzard, VP Supply Chain Management, UMMS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370832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02336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Timothy Amukele (Hopkins)  |  Outreach Initiated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medical delivery pioneer — KAI-Netics is engaging Dr. Amukele for research collaboration, POC validation, and UMMS/Hopkins network introductions.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Kevin Alexander Smith Wins This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#5250157 — commercially operational TODAY. No regulatory wait, no capital dependency. First revenue can start this month.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 Career Insider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knowledge of surgical kit delivery economics, fleet cost structures, and last-mile pain points. No competitor has this.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UROC/CURN internship. Opens every Maryland institutional door. SBIR affiliation. Academic credibility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438912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72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+ PMP Active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Federal/healthcare procurement signal. Enterprise-grade trust architecture (MONK). 33 years IT operational discipline.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0723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priority population. MBE certification in progress. Government set-aside eligible. Green collar workforce (EAF/CAKO).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0723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Ecosystem Access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36208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UROC internship — would place Kevin inside the organization building Maryland's commercial drone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Workforce: The EAF / CAKO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56032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Receives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Grants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CDBG + MEIA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32304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Drone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2304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 program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residents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Hires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Graduates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wages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Agmt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Generate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4848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AKMS AI training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authorization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MEIA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649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3346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jobs trained in Baltimore's most climate-vulnerable neighborhoods — Sandtown, Cherry Hill, Perkins Homes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673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" y="3749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1: 10–15 operators trained free-of-cost to FP; graduates earn market-rate professional wages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696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980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501c3 structure ensures workforce program is grant-fundable, community-rooted, and financially independent of FP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572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 company training minority Baltimore residents = MEIA's mission embodied in one program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Per-delivery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$8K–$15K/mo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109728" cy="4572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5488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(MBE)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GSA-rate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" y="3163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 program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$25K–$75K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licensing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(Yr 2+)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0" y="1536192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669280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1–2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1536192"/>
            <a:ext cx="14813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51776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51776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596896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669280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51776" y="2596896"/>
            <a:ext cx="14813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351776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51776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02336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Grant Pipeline (Non-Dilutive):   EARN Maryland ~$125K  |  CDBG TBD  |  SBIR Phase I (pending reauth)  |  MEA Resilient MD (ongoing)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submitted | EAF Form 1023 submitted | EARN Maryland application filed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18304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96128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application submitted (UMGC) | MBE Certification filed with MD GOMA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3856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BD outreach — UMMS (Pat Vizzard), Johns Hopkins, MedStar Franklin Square, Baltimore City resiliency hubs, MDSHA/bridge inspection targets, BGE/utility solar inspection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18304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1: Medical supply POC (UMMS Sparrows Point → UMMC downtown; at cost-plus-expenses) ★MEIA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2: Lab specimen/blood sample transport — Hopkins + UMMS labs outreach (Dr. Amukele, JHHS Supply Chain) ★MEIA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96128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3: Emergency supply — Baltimore Resiliency Hubs (Aubrey Germ, Office of Sustainability); grant-funded SLA ★MEIA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3856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Scope: Medical supply POC | Lab specimen transport | Pharmacy/Rx delivery | Bridge &amp; infrastructure inspection | Solar panel inspection | DFR SOP development | Emergency resiliency hub supply | Government/MBE small supply — first revenue flights begin April/May; scope spans all Part 107-eligible verticals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96128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begins | UMMS/Hopkins/MedStar POC LOIs in negotiation | Recurring Part 107 revenue ops underway | Techstars AI Health Demo Day (M&amp;T Bank Stadium) — network UMMS/Hopkins/MedStar | CAKO Cohort 1 recruitment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managed service SLA (UMMS or MedStar) | Tradepoint Atlantic inter-facility B2B outreach | $8K–$15K MRR target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Phase I application (UMGC affiliation) | NSF SBIR Phase I | Campus delivery pilot (UMGC) ★MEIA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33856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 graduates | DFR program package — Baltimore City PD, Anne Arundel ★MEIA | $175K cumulative revenue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18304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3 pitch | Part 108 BVLOS application filed | $248K Year 1 revenue | All 5 verticals operational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MONK: Mission Authorization Engine — MEIA Phase 2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60000"/>
            <a:ext cx="8778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28090"/>
                </a:solidFill>
                <a:latin typeface="Calibri"/>
              </a:rPr>
              <a:t>$25K–$30K MEIA vendor budget builds a working MVP. Patent-pending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3600" y="1420000"/>
            <a:ext cx="192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36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6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090"/>
                </a:solidFill>
                <a:latin typeface="Calibri"/>
              </a:rPr>
              <a:t>Mission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94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Operator submits mission request via MONK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27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Payload, route, operator credentials, and time window captured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688424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Request queued for authorization</a:t>
            </a:r>
          </a:p>
        </p:txBody>
      </p:sp>
      <p:sp>
        <p:nvSpPr>
          <p:cNvPr id="13" name="Can 12"/>
          <p:cNvSpPr/>
          <p:nvPr/>
        </p:nvSpPr>
        <p:spPr>
          <a:xfrm>
            <a:off x="2133600" y="2705700"/>
            <a:ext cx="305600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692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9200" y="1420000"/>
            <a:ext cx="1920000" cy="2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92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92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Calibri"/>
              </a:rPr>
              <a:t>Authorization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0160" y="194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Three-point authorization check runs simultaneously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0160" y="227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All checks must pass — any failure returns denial with reason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0160" y="260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No flight proceeds without a valid authorization token</a:t>
            </a:r>
          </a:p>
        </p:txBody>
      </p:sp>
      <p:sp>
        <p:nvSpPr>
          <p:cNvPr id="21" name="Can 20"/>
          <p:cNvSpPr/>
          <p:nvPr/>
        </p:nvSpPr>
        <p:spPr>
          <a:xfrm>
            <a:off x="4419200" y="2705700"/>
            <a:ext cx="305600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548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54800" y="1420000"/>
            <a:ext cx="1920000" cy="26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Mission Signing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5760" y="194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Authorized mission package cryptographically 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5760" y="227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Tamper-evident record created before wheels-up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5760" y="260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Auditable by FAA, UMMS, insurers at any time</a:t>
            </a:r>
          </a:p>
        </p:txBody>
      </p:sp>
      <p:sp>
        <p:nvSpPr>
          <p:cNvPr id="29" name="Can 28"/>
          <p:cNvSpPr/>
          <p:nvPr/>
        </p:nvSpPr>
        <p:spPr>
          <a:xfrm>
            <a:off x="6704800" y="2705700"/>
            <a:ext cx="305600" cy="228600"/>
          </a:xfrm>
          <a:prstGeom prst="can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404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40400" y="1420000"/>
            <a:ext cx="1920000" cy="26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4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Phase 2D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4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Compliance Write-Back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1360" y="1940000"/>
            <a:ext cx="1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Post-flight actuals appended to signed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1360" y="2270000"/>
            <a:ext cx="1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Complete lifecycle audit trail: pre-flight to delivery 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1360" y="2600000"/>
            <a:ext cx="1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Every flight makes MONK smarter and the network cheaper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600" y="4280000"/>
            <a:ext cx="87768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280000"/>
            <a:ext cx="841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 dirty="0">
                <a:solidFill>
                  <a:srgbClr val="FFFFFF"/>
                </a:solidFill>
                <a:latin typeface="Calibri"/>
              </a:rPr>
              <a:t>Built on the KAI-</a:t>
            </a:r>
            <a:r>
              <a:rPr sz="1100" b="1" i="1" dirty="0" err="1">
                <a:solidFill>
                  <a:srgbClr val="FFFFFF"/>
                </a:solidFill>
                <a:latin typeface="Calibri"/>
              </a:rPr>
              <a:t>Netics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 Core Engine already in production. </a:t>
            </a:r>
            <a:r>
              <a:rPr lang="en-US" sz="1100" b="1" i="1" dirty="0">
                <a:solidFill>
                  <a:srgbClr val="FFFFFF"/>
                </a:solidFill>
                <a:latin typeface="Calibri"/>
              </a:rPr>
              <a:t>As of the writing of this presentation n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o competitor has a hardware-anchored mission governance layer for commercial drone operations. MONK is being built before the mandate arrives.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MONK: Trusted Governance Layer for Autonomous Aviation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28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3600" y="128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4560" y="131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Autonomous Logistics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560" y="1560000"/>
            <a:ext cx="39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Delivery Drones (Medical, 3PL)  +  Inspection Drones (Infra, S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earch </a:t>
            </a:r>
            <a:r>
              <a:rPr sz="1000" b="0" i="0" dirty="0">
                <a:solidFill>
                  <a:srgbClr val="CADCFC"/>
                </a:solidFill>
                <a:latin typeface="Calibri"/>
              </a:rPr>
              <a:t>A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nd </a:t>
            </a:r>
            <a:r>
              <a:rPr sz="1000" b="0" i="0" dirty="0">
                <a:solidFill>
                  <a:srgbClr val="CADCFC"/>
                </a:solidFill>
                <a:latin typeface="Calibri"/>
              </a:rPr>
              <a:t>R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escue</a:t>
            </a:r>
            <a:r>
              <a:rPr sz="1000" b="0" i="0" dirty="0">
                <a:solidFill>
                  <a:srgbClr val="CADCFC"/>
                </a:solidFill>
                <a:latin typeface="Calibri"/>
              </a:rPr>
              <a:t>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33600" y="208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3600" y="209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Encrypted Telemetry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600" y="230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3600" y="2300000"/>
            <a:ext cx="4100000" cy="26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560" y="233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MONK Governance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560" y="2580000"/>
            <a:ext cx="39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◆ LAANC Authorization   ◆ Cryptographic Compliance   ◆ Telemetry Validation   ◆ 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Mission Authorization Signing</a:t>
            </a:r>
            <a:endParaRPr sz="10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2133600" y="3100000"/>
            <a:ext cx="200000" cy="200000"/>
          </a:xfrm>
          <a:prstGeom prst="down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3600" y="311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C39A"/>
                </a:solidFill>
                <a:latin typeface="Calibri"/>
              </a:rPr>
              <a:t>Signed Compliance 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600" y="332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3600" y="332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4560" y="335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BVLOS Corridor Network (CURN)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560" y="360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Flight Monitoring  •  Corridor Access Control  •  Geofence Enforcement  •  Anomaly Alerts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133600" y="412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63600" y="413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Authorized Flight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3600" y="434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3600" y="4340000"/>
            <a:ext cx="4100000" cy="26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4560" y="4370000"/>
            <a:ext cx="398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           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FAA / U</a:t>
            </a:r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nmanned 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T</a:t>
            </a:r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raffic 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M</a:t>
            </a:r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anagement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 Airspace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560" y="4620000"/>
            <a:ext cx="39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EFC"/>
                </a:solidFill>
                <a:latin typeface="Calibri"/>
              </a:rPr>
              <a:t>Safety • Regulatory Compliance • Traffic Coordination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5760" y="1280000"/>
            <a:ext cx="4494640" cy="361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65760" y="1280000"/>
            <a:ext cx="4494640" cy="2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720" y="131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Calibri"/>
              </a:rPr>
              <a:t>Why MONK is the Differentiator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720" y="158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pre-authorized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720" y="177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LAANC clearance embedded in mission before takeoff — not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720" y="204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cryptographically signed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720" y="223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Tamper-evident record auditable by UMMS, FAA, DHS, insurers at any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720" y="250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No competitor is building this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720" y="269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MONK is the trust infrastructure the entire CURN ecosystem will eventually require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720" y="296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MEIA Phase 2 prototype 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720" y="315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$30K MEIA vendor budget builds MONK MVP: LAANC + signing + audit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720" y="342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DHS approved tech list candidate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720" y="361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Positions KAI-Netics for Safer Skies Act C-UAS certification pathway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Accelerator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20624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904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Validation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of UMMS supply chain introductions and Maryland health system procurement network access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90288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736592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90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Assistance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36592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108 commercial carrier pathway and BVLOS corridor authorization for CURN Baltimore endpoint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420624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0624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EEIR program for supply chain expertise; MEIA investor network; Climate Technology Founders Fund preparation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90288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4736592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Navigation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36592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Maryland, CDBG, MEA Resilient MD applications for EAF/CAKO green collar workforce program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  |  kas@kevin-llc.com  |  443.257.6836  |  kevin-llc.com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2919</Words>
  <Application>Microsoft Office PowerPoint</Application>
  <PresentationFormat>On-screen Show (16:9)</PresentationFormat>
  <Paragraphs>342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KAI-Netics MEIA Phase 2 Commercialization Plan</dc:title>
  <dc:subject>PptxGenJS Presentation</dc:subject>
  <dc:creator>Kevin Alexander Smith</dc:creator>
  <cp:lastModifiedBy>Kevin Smith</cp:lastModifiedBy>
  <cp:revision>9</cp:revision>
  <dcterms:created xsi:type="dcterms:W3CDTF">2026-04-11T02:07:57Z</dcterms:created>
  <dcterms:modified xsi:type="dcterms:W3CDTF">2026-04-12T22:34:48Z</dcterms:modified>
</cp:coreProperties>
</file>