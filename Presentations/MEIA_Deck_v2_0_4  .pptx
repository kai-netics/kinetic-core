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6" r:id="rId4"/>
    <p:sldId id="267" r:id="rId5"/>
    <p:sldId id="269" r:id="rId6"/>
    <p:sldId id="258" r:id="rId7"/>
    <p:sldId id="270" r:id="rId8"/>
    <p:sldId id="259" r:id="rId9"/>
    <p:sldId id="260" r:id="rId10"/>
    <p:sldId id="261" r:id="rId11"/>
    <p:sldId id="262" r:id="rId12"/>
    <p:sldId id="263" r:id="rId13"/>
    <p:sldId id="264" r:id="rId14"/>
    <p:sldId id="268" r:id="rId15"/>
    <p:sldId id="271" r:id="rId16"/>
    <p:sldId id="265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DE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6" autoAdjust="0"/>
    <p:restoredTop sz="94610"/>
  </p:normalViewPr>
  <p:slideViewPr>
    <p:cSldViewPr snapToGrid="0" snapToObjects="1">
      <p:cViewPr>
        <p:scale>
          <a:sx n="84" d="100"/>
          <a:sy n="84" d="100"/>
        </p:scale>
        <p:origin x="1449" y="10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0193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KAI-Netics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65760" y="14813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2 Commercialization Plan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6858000" cy="658368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02920" y="2231136"/>
            <a:ext cx="6583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Infrastructure Operator: Unlocking Maryland's Medical &amp; Community Delivery Market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65760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Part 107 Certified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23744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523744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UMGC Current Student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81728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81728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MWVOB Minority-Owned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39712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839712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/ UROC Applicant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73075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Alexander Smith, Founder &amp; CEO  |  Kevin Alexander International LLC dba KAI-Netics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0050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kas@kevin-llc.com  |  443.257.6836  |  kevin-llc.com  |  April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71830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Submitted to: Maryland Energy Innovation Accelerator (MEIA)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Baltimore's Supply Chain Runs on Diesel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Medline's ~50-mile diesel truck runs from Perryville to UMMS Sparrows Point emit ~80–100 lbs CO2e per run, ~25,000 lbs annually. Every medical delivery is a truck trip.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33756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truck fleets — the distributor's competitive moat — are also their largest cost liability: fuel, labor, maintenance, insurance, and growing emissions compliance burden.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408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36208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proved the fleet-based model's vulnerability. UMMS built its $100M+ Sparrows Point LOC specifically to address pandemic supply chain failures.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379476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5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UMMS Sparrows Point LOC opened Q2 2025 — 415,000 sq ft serving 11 hospitals, 1.2M+ outpatients/year. It was built to solve supply chain resilience. Drone delivery is the next layer.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Drone Delivery Now: GHG Reduction + Supply Chain Resilience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Climate Mandate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Maryland's Climate Solutions Now Act (2022) set the most aggressive GHG targets in the US. Every diesel truck delivering medical supplies is a direct emissions liability — ~80–100 lbs CO2e per run. UMMS's new Sparrows Point LOC was built to Maryland's climate compliance standard. Drone delivery is the next emissions reduction layer.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33756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Proved the Fragility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of hospital leaders said COVID-19 exposed critical supply chain vulnerabilities (GHX). Fleet-based delivery froze: borders closed, drivers fell ill, hospitals traded supplies between ICU units. UMMS invested $32M in the Sparrows Point LOC specifically to address these pandemic-era failures. The LOC consolidates. Drones make it resilient.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216" y="1408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Opportunity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36208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medical drone market grows from $1.73B (2025) to $4.68B by 2032. FAA Part 107 enables commercial operations TODAY. CURN's Baltimore corridor provides the airspace. Techstars AI Health Baltimore — anchored by UMMS, Hopkins, MedStar, CareFirst, and UMB — Demo Day June 2026 at M&amp;T Bank Stadium. Baltimore's three largest health systems are actively seeking supply chain innovation partners right now.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379476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5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MEIA alignment: Clean energy technology + quantifiable GHG reduction + MWVOB operator + green collar workforce (Equity &amp; Autonomy Foundry/EAF; Certified Autonomous Kinetic Operator/CAKO) = the complete Maryland climate tech story.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The Infrastructure Thesis: Why KAI-Netics Unlocks a New Market</a:t>
            </a:r>
          </a:p>
        </p:txBody>
      </p:sp>
      <p:sp>
        <p:nvSpPr>
          <p:cNvPr id="4" name="TealBar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ubtitle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500" b="0" i="1" dirty="0">
                <a:solidFill>
                  <a:srgbClr val="028090"/>
                </a:solidFill>
                <a:latin typeface="Calibri" pitchFamily="34" charset="0"/>
              </a:rPr>
              <a:t>Jevons Paradox: when efficiency drives cost down dramatically, total demand expands. Infrastructure density is the trigger.</a:t>
            </a:r>
          </a:p>
        </p:txBody>
      </p:sp>
      <p:sp>
        <p:nvSpPr>
          <p:cNvPr id="6" name="Col1Bg"/>
          <p:cNvSpPr/>
          <p:nvPr/>
        </p:nvSpPr>
        <p:spPr>
          <a:xfrm>
            <a:off x="274638" y="1554480"/>
            <a:ext cx="243840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809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Col1Header"/>
          <p:cNvSpPr/>
          <p:nvPr/>
        </p:nvSpPr>
        <p:spPr>
          <a:xfrm>
            <a:off x="274638" y="1554480"/>
            <a:ext cx="24384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</a:rPr>
              <a:t>TODAY</a:t>
            </a:r>
          </a:p>
        </p:txBody>
      </p:sp>
      <p:sp>
        <p:nvSpPr>
          <p:cNvPr id="8" name="Col1Text"/>
          <p:cNvSpPr/>
          <p:nvPr/>
        </p:nvSpPr>
        <p:spPr>
          <a:xfrm>
            <a:off x="320040" y="1966320"/>
            <a:ext cx="2347596" cy="324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>
              <a:buNone/>
            </a:pPr>
            <a:r>
              <a:rPr lang="en-US" sz="1300" b="1" dirty="0">
                <a:solidFill>
                  <a:srgbClr val="028090"/>
                </a:solidFill>
                <a:latin typeface="Calibri"/>
              </a:rPr>
              <a:t>High cost-per-flight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Only critical specimens and urgent Rx justify economics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028090"/>
                </a:solidFill>
                <a:latin typeface="Calibri"/>
              </a:rPr>
              <a:t>Use cases are rationed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Competing only for existing truck trips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028090"/>
                </a:solidFill>
                <a:latin typeface="Calibri"/>
              </a:rPr>
              <a:t>Displacement market only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Competing for existing truck trips only</a:t>
            </a:r>
          </a:p>
        </p:txBody>
      </p:sp>
      <p:sp>
        <p:nvSpPr>
          <p:cNvPr id="9" name="Arrow1"/>
          <p:cNvSpPr/>
          <p:nvPr/>
        </p:nvSpPr>
        <p:spPr>
          <a:xfrm>
            <a:off x="2804238" y="3006600"/>
            <a:ext cx="548640" cy="274320"/>
          </a:xfrm>
          <a:prstGeom prst="rightArrow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Col2Bg"/>
          <p:cNvSpPr/>
          <p:nvPr/>
        </p:nvSpPr>
        <p:spPr>
          <a:xfrm>
            <a:off x="3352878" y="1554480"/>
            <a:ext cx="243840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Col2Header"/>
          <p:cNvSpPr/>
          <p:nvPr/>
        </p:nvSpPr>
        <p:spPr>
          <a:xfrm>
            <a:off x="3352878" y="1554480"/>
            <a:ext cx="243840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1E3A5F"/>
                </a:solidFill>
                <a:latin typeface="Calibri"/>
              </a:rPr>
              <a:t>KAI-NETICS BUILDS</a:t>
            </a:r>
          </a:p>
        </p:txBody>
      </p:sp>
      <p:sp>
        <p:nvSpPr>
          <p:cNvPr id="12" name="Col2Text"/>
          <p:cNvSpPr/>
          <p:nvPr/>
        </p:nvSpPr>
        <p:spPr>
          <a:xfrm>
            <a:off x="3398280" y="1966320"/>
            <a:ext cx="2347596" cy="324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>
              <a:buNone/>
            </a:pPr>
            <a:r>
              <a:rPr lang="en-US" sz="1300" b="1" dirty="0">
                <a:solidFill>
                  <a:srgbClr val="F5A623"/>
                </a:solidFill>
                <a:latin typeface="Calibri"/>
              </a:rPr>
              <a:t>Physical layer (Foundry Prime/FP)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DFR pads + CURN nodes own the landing zone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F5A623"/>
                </a:solidFill>
                <a:latin typeface="Calibri"/>
              </a:rPr>
              <a:t>Human layer (EAF)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CAKO operators = captive workforce supply chain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F5A623"/>
                </a:solidFill>
                <a:latin typeface="Calibri"/>
              </a:rPr>
              <a:t>Software layer (MONK)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AKMS AI drives cost-per-flight down with every delivery</a:t>
            </a:r>
          </a:p>
        </p:txBody>
      </p:sp>
      <p:sp>
        <p:nvSpPr>
          <p:cNvPr id="13" name="Arrow2"/>
          <p:cNvSpPr/>
          <p:nvPr/>
        </p:nvSpPr>
        <p:spPr>
          <a:xfrm>
            <a:off x="5882478" y="3006600"/>
            <a:ext cx="548640" cy="27432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Col3Bg"/>
          <p:cNvSpPr/>
          <p:nvPr/>
        </p:nvSpPr>
        <p:spPr>
          <a:xfrm>
            <a:off x="6431118" y="1554480"/>
            <a:ext cx="243840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C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Col3Header"/>
          <p:cNvSpPr/>
          <p:nvPr/>
        </p:nvSpPr>
        <p:spPr>
          <a:xfrm>
            <a:off x="6431118" y="1554480"/>
            <a:ext cx="2438400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1E3A5F"/>
                </a:solidFill>
                <a:latin typeface="Calibri"/>
              </a:rPr>
              <a:t>AT SCALE</a:t>
            </a:r>
          </a:p>
        </p:txBody>
      </p:sp>
      <p:sp>
        <p:nvSpPr>
          <p:cNvPr id="16" name="Col3Text"/>
          <p:cNvSpPr/>
          <p:nvPr/>
        </p:nvSpPr>
        <p:spPr>
          <a:xfrm>
            <a:off x="6476520" y="1966320"/>
            <a:ext cx="2347596" cy="324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>
              <a:buNone/>
            </a:pPr>
            <a:r>
              <a:rPr lang="en-US" sz="1300" b="1" dirty="0">
                <a:solidFill>
                  <a:srgbClr val="02C39A"/>
                </a:solidFill>
                <a:latin typeface="Calibri"/>
              </a:rPr>
              <a:t>New categories emerge: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Routine pharmacy courier runs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Campus internal supply runs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Non-critical specimen pickup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Municipal small supply (MBE)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Food desert last-mile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02C39A"/>
                </a:solidFill>
                <a:latin typeface="Calibri"/>
              </a:rPr>
              <a:t>Market expands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Demand that does not yet exist at scale</a:t>
            </a:r>
          </a:p>
        </p:txBody>
      </p:sp>
      <p:sp>
        <p:nvSpPr>
          <p:cNvPr id="17" name="BottomCallout"/>
          <p:cNvSpPr/>
          <p:nvPr/>
        </p:nvSpPr>
        <p:spPr>
          <a:xfrm>
            <a:off x="274638" y="5303160"/>
            <a:ext cx="8594880" cy="3657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wrap="square" lIns="182880" tIns="45720" rIns="182880" bIns="45720" rtlCol="0" anchor="ctr"/>
          <a:lstStyle/>
          <a:p>
            <a:pPr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/>
              </a:rPr>
              <a:t>KAI-Netics is not competing for existing drone delivery market share. It is building the infrastructure that creates the market.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0000"/>
            <a:ext cx="877824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Drone-as-Infrastructure (DaI): The Three-Layer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60000"/>
            <a:ext cx="8778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28090"/>
                </a:solidFill>
                <a:latin typeface="Calibri"/>
              </a:rPr>
              <a:t>No competitor owns all three layers. That structural advantage is the moat.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3600" y="1400000"/>
            <a:ext cx="2460000" cy="35600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3600" y="1400000"/>
            <a:ext cx="2460000" cy="32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3600" y="1440000"/>
            <a:ext cx="246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PHYSICAL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3600" y="1720000"/>
            <a:ext cx="24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8090"/>
                </a:solidFill>
                <a:latin typeface="Calibri"/>
              </a:rPr>
              <a:t>Foundry Prime (FP)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560" y="196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DFR Pads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560" y="215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Drone launch, land &amp; charge at every delivery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560" y="243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CURN Nodes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560" y="262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FAA-authorized BVLOS corridor endpoints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560" y="290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Flight 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560" y="309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Medical, inspection, DFR, C-UAS,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560" y="474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28090"/>
                </a:solidFill>
                <a:latin typeface="Calibri"/>
              </a:rPr>
              <a:t>= Tesla vehicle + Supercharger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92240" y="1400000"/>
            <a:ext cx="2460000" cy="356000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192240" y="1400000"/>
            <a:ext cx="2460000" cy="32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92240" y="1440000"/>
            <a:ext cx="246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  <a:latin typeface="Calibri"/>
              </a:rPr>
              <a:t>HUMAN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92240" y="1720000"/>
            <a:ext cx="24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  <a:latin typeface="Calibri"/>
              </a:rPr>
              <a:t>EAF (501c3)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53200" y="196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CAKO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53200" y="215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Baltimore residents trained as FAA Part 107 operators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53200" y="243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Grant-Funded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53200" y="262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EARN, FEMA SHSP, CDBG — zero cost to FP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53200" y="290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Talent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53200" y="309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CAKO graduates hired by FP at market-rate wages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53200" y="474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A623"/>
                </a:solidFill>
                <a:latin typeface="Calibri"/>
              </a:rPr>
              <a:t>= Tesla Gigafactory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0880" y="1400000"/>
            <a:ext cx="2460000" cy="35600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00880" y="1400000"/>
            <a:ext cx="2460000" cy="320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00880" y="1440000"/>
            <a:ext cx="246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  <a:latin typeface="Calibri"/>
              </a:rPr>
              <a:t>SOFTWARE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0880" y="1720000"/>
            <a:ext cx="24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  <a:latin typeface="Calibri"/>
              </a:rPr>
              <a:t>MONK LLC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1840" y="196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AKMS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1840" y="215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Agent dispatch; drives cost-per-flight down with every delivery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1840" y="243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MONK Trust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1840" y="262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Low Altitude Authorization &amp; Notification Capability (LAANC) + cryptographic signing + tamper-evident compliance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1840" y="290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IP Licensing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1840" y="309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Licensable to operators, municipalities, DHS approved tech 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1840" y="474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2C39A"/>
                </a:solidFill>
                <a:latin typeface="Calibri"/>
              </a:rPr>
              <a:t>= Tesla FSD + data licensing</a:t>
            </a:r>
          </a:p>
        </p:txBody>
      </p:sp>
      <p:sp>
        <p:nvSpPr>
          <p:cNvPr id="39" name="Can 38"/>
          <p:cNvSpPr/>
          <p:nvPr/>
        </p:nvSpPr>
        <p:spPr>
          <a:xfrm>
            <a:off x="2703600" y="3065700"/>
            <a:ext cx="365760" cy="228600"/>
          </a:xfrm>
          <a:prstGeom prst="can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Can 39"/>
          <p:cNvSpPr/>
          <p:nvPr/>
        </p:nvSpPr>
        <p:spPr>
          <a:xfrm>
            <a:off x="5712240" y="3065700"/>
            <a:ext cx="365760" cy="228600"/>
          </a:xfrm>
          <a:prstGeom prst="can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83600" y="4980000"/>
            <a:ext cx="8776800" cy="32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4980000"/>
            <a:ext cx="8414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FFFFFF"/>
                </a:solidFill>
                <a:latin typeface="Calibri"/>
              </a:rPr>
              <a:t>The flywheel: FP operations fund infrastructure → EAF workforce scales capacity → MONK data compounds in value → repeat.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Drone Infrastructure Operator at the CURN Baltimore Endpoint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347472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Chesapeake UAS Route Network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299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94944" y="1993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UMD UROC-led BVLOS drone corridors over Chesapeake Bay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94944" y="2450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$1.3M Maryland Commerce funded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94944" y="2907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+ Navy + DHS + ARL partnerships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4015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94944" y="3364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over water = minimal crash risk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8587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94944" y="3822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endpoint = KAI-Netics operating zone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63440" y="11887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Network Tiers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664208"/>
            <a:ext cx="4206240" cy="969264"/>
          </a:xfrm>
          <a:prstGeom prst="rect">
            <a:avLst/>
          </a:prstGeom>
          <a:solidFill>
            <a:srgbClr val="1E3A5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663440" y="1664208"/>
            <a:ext cx="128016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663440" y="16642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NOW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36592" y="2029968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supply  •  Lab specimens  •  Pharmacy  •  Resiliency hubs  •  Gov't small supply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743200"/>
            <a:ext cx="4206240" cy="969264"/>
          </a:xfrm>
          <a:prstGeom prst="rect">
            <a:avLst/>
          </a:prstGeom>
          <a:solidFill>
            <a:srgbClr val="1E3A5F"/>
          </a:solidFill>
          <a:ln w="254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663440" y="2743200"/>
            <a:ext cx="1280160" cy="3291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663440" y="27432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6–12 MO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36592" y="310896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delivery (UMGC)  •  Food desert last-mile  •  Port of Baltimore  •  Legal courier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822192"/>
            <a:ext cx="4206240" cy="969264"/>
          </a:xfrm>
          <a:prstGeom prst="rect">
            <a:avLst/>
          </a:prstGeom>
          <a:solidFill>
            <a:srgbClr val="1E3A5F"/>
          </a:solidFill>
          <a:ln w="254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663440" y="3822192"/>
            <a:ext cx="1280160" cy="32918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663440" y="38221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POST-108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36592" y="4187952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Eastern Shore  •  Organ transport  •  Full CURN carrier license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0000"/>
            <a:ext cx="877824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From Airspace to Doorstep: CURN → Pad → Last Mile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3600" y="1300000"/>
            <a:ext cx="2000000" cy="37000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0720" y="106000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0720" y="1060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600" y="1320000"/>
            <a:ext cx="2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8090"/>
                </a:solidFill>
                <a:latin typeface="Calibri"/>
              </a:rPr>
              <a:t>CURN Corridor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560" y="158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FAA-authorized BVLOS drone highways — Chesapeake Bay corridor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560" y="189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UMD UROC owns it: $1.3M state-funded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560" y="220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KAI-Netics: First commercial 3PL at Baltimore endpoint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560" y="251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MONK: Signs mission + validates corridor access before every flight</a:t>
            </a:r>
          </a:p>
        </p:txBody>
      </p:sp>
      <p:sp>
        <p:nvSpPr>
          <p:cNvPr id="13" name="Can 12"/>
          <p:cNvSpPr/>
          <p:nvPr/>
        </p:nvSpPr>
        <p:spPr>
          <a:xfrm>
            <a:off x="2213600" y="3035700"/>
            <a:ext cx="198933" cy="228600"/>
          </a:xfrm>
          <a:prstGeom prst="can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42533" y="1300000"/>
            <a:ext cx="2000000" cy="370000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259653" y="1060000"/>
            <a:ext cx="365760" cy="3657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59653" y="1060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2533" y="1320000"/>
            <a:ext cx="2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  <a:latin typeface="Calibri"/>
              </a:rPr>
              <a:t>DFR Pad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3493" y="158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Physical drone landing, launch &amp; charge station at customer 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3493" y="189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The moat: Whoever installs the pad owns the logistics relationship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03493" y="220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Targets: UMMS Sparrows Point, UMMC downtown, resiliency hubs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03493" y="251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Funded by: FEMA, MEIA, MEA Resilient MD — built with OPM</a:t>
            </a:r>
          </a:p>
        </p:txBody>
      </p:sp>
      <p:sp>
        <p:nvSpPr>
          <p:cNvPr id="22" name="Can 21"/>
          <p:cNvSpPr/>
          <p:nvPr/>
        </p:nvSpPr>
        <p:spPr>
          <a:xfrm>
            <a:off x="4472533" y="3035700"/>
            <a:ext cx="198933" cy="228600"/>
          </a:xfrm>
          <a:prstGeom prst="can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701466" y="1300000"/>
            <a:ext cx="2000000" cy="37000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518586" y="106000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18586" y="1060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1466" y="1320000"/>
            <a:ext cx="2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C39A"/>
                </a:solidFill>
                <a:latin typeface="Calibri"/>
              </a:rPr>
              <a:t>CAKO Operator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2426" y="158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FAA Part 107 certified Baltimore resident operating from DFR pad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2426" y="189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MONK authorizes: LAANC clearance + signed mission package before wheels-up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2426" y="2337338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EAF trains; FP hires via Talent Pipeline Agreement</a:t>
            </a:r>
          </a:p>
        </p:txBody>
      </p:sp>
      <p:sp>
        <p:nvSpPr>
          <p:cNvPr id="30" name="Can 29"/>
          <p:cNvSpPr/>
          <p:nvPr/>
        </p:nvSpPr>
        <p:spPr>
          <a:xfrm>
            <a:off x="6731466" y="3035700"/>
            <a:ext cx="198933" cy="228600"/>
          </a:xfrm>
          <a:prstGeom prst="can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960399" y="1300000"/>
            <a:ext cx="2000000" cy="3700000"/>
          </a:xfrm>
          <a:prstGeom prst="rect">
            <a:avLst/>
          </a:prstGeom>
          <a:solidFill>
            <a:srgbClr val="1E3A5F"/>
          </a:solidFill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777519" y="1060000"/>
            <a:ext cx="365760" cy="36576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7519" y="1060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3A5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0399" y="1320000"/>
            <a:ext cx="2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ADCFC"/>
                </a:solidFill>
                <a:latin typeface="Calibri"/>
              </a:rPr>
              <a:t>Last-Mile Delivery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1359" y="1580000"/>
            <a:ext cx="1880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8DEFC"/>
                </a:solidFill>
                <a:latin typeface="Calibri"/>
              </a:rPr>
              <a:t>Tier 1: UMMS hospitals (11), Hopkins labs, Baltimore resiliency hubs (7)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19440" y="2018311"/>
            <a:ext cx="18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dirty="0">
                <a:solidFill>
                  <a:srgbClr val="CADCFC"/>
                </a:solidFill>
                <a:latin typeface="Calibri"/>
              </a:rPr>
              <a:t>Payloads: Surgical kits, specimens, Rx, emergency supply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532" y="2355000"/>
            <a:ext cx="18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8DEFC"/>
                </a:solidFill>
                <a:latin typeface="Calibri"/>
              </a:rPr>
              <a:t>At scale: New trip categories emerge below Jevons Threshold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3600" y="5020000"/>
            <a:ext cx="8776800" cy="28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5020000"/>
            <a:ext cx="8414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FFFFFF"/>
                </a:solidFill>
                <a:latin typeface="Calibri"/>
              </a:rPr>
              <a:t>MONK signs every mission at Step 3. Every delivery generates telemetry that makes MONK smarter and the network cheaper to operate.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Carbon Story: Replacing Dirty Truck Trips with Electric Drones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3931920" cy="25603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931920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TRUCK (Current)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190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7190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Perryville → Sparrows Point (~50 mi)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CO2e per run: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1031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~80–100 lbs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4871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runs: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4871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 (estimated)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87121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CO2e: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28712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~20,000–25,000 lbs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2552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driver: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32552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+ labor + maintenance + insurance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15968" y="2286000"/>
            <a:ext cx="512064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315968" y="2286000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1188720"/>
            <a:ext cx="3931920" cy="2560320"/>
          </a:xfrm>
          <a:prstGeom prst="rect">
            <a:avLst/>
          </a:prstGeom>
          <a:solidFill>
            <a:srgbClr val="E8F8F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937760" y="1188720"/>
            <a:ext cx="3931920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937760" y="11887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DRONE (KAI-Netics)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17190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171907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corridor — over water (Patapsco)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21031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CO2e per delivery: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210312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~0.04–0.11 lbs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24871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deliveries: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487168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(same frequency)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28712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CO2e: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2871216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~9–26 lbs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74920" y="32552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source: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3255264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grid (~0.1–0.3 kWh/delivery)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913632"/>
            <a:ext cx="859536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4041648"/>
            <a:ext cx="475488" cy="47548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005840" y="40050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~19,974 lbs CO2e saved per delivery lane per year  =  ~9 metric tons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005840" y="43891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UMMS 11-hospital network: ~99 metric tons CO2e/year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217920" y="40050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EPA MOVES diesel factors + EPA eGrid MD grid emissions intensity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Customer: UMMS Sparrows Point LOC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415,000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782166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 ft LOC — opened Q2 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23744" y="1188720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523744" y="1298448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23744" y="1782166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UMMS hospitals served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450592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74320" y="2560320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" y="3044038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MD hospital care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23744" y="2450592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523744" y="2560320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1.2M+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23744" y="3044038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outpatients annually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28032" y="1188720"/>
            <a:ext cx="4041648" cy="347472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828032" y="1234440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Part 107 POC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19472" y="17373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919472" y="1737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32704" y="17373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Sparrows Point LOC → UMMC Downtown (~8 mi, Patapsco corridor)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19472" y="21945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919472" y="2194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32704" y="21945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Sub-5lb surgical kits &amp; medical supplies (non-controlled)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19472" y="26517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919472" y="26517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32704" y="26517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commercial; LAANC authorized; Remote ID compliant; drone rented for pilot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19472" y="31089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919472" y="3108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32704" y="31089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days; minimum 50 deliveries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19472" y="35661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919472" y="3566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632704" y="35661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 completion rate; &lt;50% truck cost per delivery; pricing at cost-plus-expenses (~$2,500–$5,000 full pilot)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19472" y="40233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919472" y="4023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632704" y="40233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Vizzard, VP Supply Chain Management, UMMS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913632"/>
            <a:ext cx="4370832" cy="896112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02336" y="39684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Timothy Amukele (Hopkins)  |  Outreach Initiated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02336" y="424281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medical delivery pioneer — KAI-Netics is engaging Dr. Amukele for research collaboration, POC validation, and UMMS/Hopkins network introductions.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Kevin Alexander Smith Wins This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3533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Part 107 Certified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883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#5250157 — commercially operational TODAY. No regulatory wait, no capital dependency. First revenue can start this month.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33756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3533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Medline Career Insider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83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knowledge of surgical kit delivery economics, fleet cost structures, and last-mile pain points. No competitor has this.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408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533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UMGC Current Student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36208" y="1883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for UROC/CURN internship. Opens every Maryland institutional door. SBIR affiliation. Academic credibility layer.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2852928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438912" y="3017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07238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9264" y="30175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CISSP + PMP Active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38912" y="354787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Federal/healthcare procurement signal. Enterprise-grade trust architecture (MONK). 33 years IT operational discipline.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172968" y="2852928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3337560" y="3017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568" y="3072384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67912" y="30175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MWVOB Minority-Owned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337560" y="354787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priority population. MBE certification in progress. Government set-aside eligible. Green collar workforce (EAF/CAKO).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71616" y="2852928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6236208" y="3017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216" y="3072384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66560" y="30175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Ecosystem Access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36208" y="354787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for UROC internship — would place Kevin inside the organization building Maryland's commercial drone infrastructure.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Collar Workforce: The EAF / CAKO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56032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Receives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Grants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6032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Maryland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CDBG + MEIA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12848" y="1810512"/>
            <a:ext cx="25603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212848" y="1810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32304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432304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Drone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Training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32304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12–16 week program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residents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0" y="1810512"/>
            <a:ext cx="25603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389120" y="1810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08576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608576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Hires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Graduates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08576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Market-rate wages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Pipeline Agmt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65392" y="1810512"/>
            <a:ext cx="25603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565392" y="1810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84848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784848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Generate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Data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784848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AKMS AI training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 authorization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290779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MEIA</a:t>
            </a:r>
            <a:endParaRPr lang="en-US" sz="14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364992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49808" y="33467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collar jobs trained in Baltimore's most climate-vulnerable neighborhoods — Sandtown, Cherry Hill, Perkins Homes</a:t>
            </a:r>
            <a:endParaRPr lang="en-US" sz="105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767328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49808" y="37490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Cohort 1: 10–15 operators trained free-of-cost to FP; graduates earn market-rate professional wages</a:t>
            </a:r>
            <a:endParaRPr lang="en-US" sz="105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169664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49808" y="415137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501c3 structure ensures workforce program is grant-fundable, community-rooted, and financially independent of FP</a:t>
            </a:r>
            <a:endParaRPr lang="en-US" sz="105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457200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49808" y="455371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MWVOB minority-owned company training minority Baltimore residents = MEIA's mission embodied in one program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Revenue Projections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1155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36192"/>
            <a:ext cx="5029200" cy="457200"/>
          </a:xfrm>
          <a:prstGeom prst="rect">
            <a:avLst/>
          </a:prstGeom>
          <a:solidFill>
            <a:srgbClr val="E8F8F7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74320" y="1536192"/>
            <a:ext cx="10972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75488" y="15727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Per-delivery fee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5727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$15–$75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06240" y="15727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1+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066544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74320" y="2066544"/>
            <a:ext cx="109728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75488" y="21031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 SLA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1031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$8K–$15K/mo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06240" y="2103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3+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596896"/>
            <a:ext cx="5029200" cy="457200"/>
          </a:xfrm>
          <a:prstGeom prst="rect">
            <a:avLst/>
          </a:prstGeom>
          <a:solidFill>
            <a:srgbClr val="E8F8F7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274320" y="2596896"/>
            <a:ext cx="109728" cy="45720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75488" y="26334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contract (MBE)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26334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GSA-rate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06240" y="26334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127248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74320" y="3127248"/>
            <a:ext cx="10972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75488" y="31638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DFR program package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0" y="316382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$25K–$75K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06240" y="31638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6+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5029200" cy="457200"/>
          </a:xfrm>
          <a:prstGeom prst="rect">
            <a:avLst/>
          </a:prstGeom>
          <a:solidFill>
            <a:srgbClr val="E8F8F7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274320" y="3657600"/>
            <a:ext cx="109728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75488" y="36941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 licensing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26080" y="36941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Per-unit (Yr 2+)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06240" y="36941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69280" y="11155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Milestones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69280" y="1536192"/>
            <a:ext cx="1481328" cy="8961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669280" y="1645920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$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669280" y="2029054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1–2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51776" y="1536192"/>
            <a:ext cx="1481328" cy="8961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7351776" y="1645920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351776" y="2029054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0" y="2596896"/>
            <a:ext cx="1481328" cy="8961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5669280" y="2706624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$175K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5669280" y="3089758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9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51776" y="2596896"/>
            <a:ext cx="1481328" cy="8961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7351776" y="2706624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$248K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7351776" y="3089758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12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402336" y="460857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Grant Pipeline (Non-Dilutive):   EARN Maryland ~$125K  |  CDBG TBD  |  SBIR Phase I (pending reauth)  |  MEA Resilient MD (ongoing)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Commercialization Milestones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18872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56032" y="1188720"/>
            <a:ext cx="8229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56032" y="1188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" y="123444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2 submitted | EAF Form 1023 submitted | EARN Maryland application filed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18304" y="118872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718304" y="1188720"/>
            <a:ext cx="82296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718304" y="1188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596128" y="123444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UROC internship application submitted (UMGC) | MBE Certification filed with MD GOMA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847088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256032" y="1847088"/>
            <a:ext cx="8229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56032" y="184708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33856" y="1892808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BD outreach — UMMS (Pat Vizzard), Johns Hopkins, MedStar Franklin Square, Baltimore City resiliency hubs, MDSHA/bridge inspection targets, BGE/utility solar inspection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18304" y="1847088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718304" y="1847088"/>
            <a:ext cx="8229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718304" y="184708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596128" y="1892808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Vertical 1: Medical supply POC (UMMS Sparrows Point → UMMC downtown; at cost-plus-expenses) ★MEIA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2505456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56032" y="2505456"/>
            <a:ext cx="8229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56032" y="250545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33856" y="2551176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Vertical 2: Lab specimen/blood sample transport — Hopkins + UMMS labs outreach (Dr. Amukele, JHHS Supply Chain) ★MEIA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18304" y="2505456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718304" y="2505456"/>
            <a:ext cx="82296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718304" y="250545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596128" y="2551176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Vertical 3: Emergency supply — Baltimore Resiliency Hubs (Aubrey Germ, Office of Sustainability); grant-funded SLA ★MEIA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" y="3163824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256032" y="3163824"/>
            <a:ext cx="8229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256032" y="316382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33856" y="3209544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Scope: Medical supply POC | Lab specimen transport | Pharmacy/Rx delivery | Bridge &amp; infrastructure inspection | Solar panel inspection | DFR SOP development | Emergency resiliency hub supply | Government/MBE small supply — first revenue flights begin April/May; scope spans all Part 107-eligible verticals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18304" y="3163824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4718304" y="3163824"/>
            <a:ext cx="82296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718304" y="316382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Jun–Jul 2026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596128" y="3209544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UROC internship begins | UMMS/Hopkins/MedStar POC LOIs in negotiation | Recurring Part 107 revenue ops underway | Techstars AI Health Demo Day (M&amp;T Bank Stadium) — network UMMS/Hopkins/MedStar | CAKO Cohort 1 recruitment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" y="3822192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256032" y="3822192"/>
            <a:ext cx="8229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256032" y="38221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Aug–Sep 2026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33856" y="386791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managed service SLA (UMMS or MedStar) | Tradepoint Atlantic inter-facility B2B outreach | $8K–$15K MRR target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18304" y="3822192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4718304" y="3822192"/>
            <a:ext cx="82296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4718304" y="38221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2026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596128" y="386791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SBIR Phase I application (UMGC affiliation) | NSF SBIR Phase I | Campus delivery pilot (UMGC) ★MEIA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56032" y="448056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256032" y="4480560"/>
            <a:ext cx="8229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256032" y="44805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2027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133856" y="452628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Cohort 1 graduates | DFR program package — Baltimore City PD, Anne Arundel ★MEIA | $175K cumulative revenue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18304" y="448056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4718304" y="4480560"/>
            <a:ext cx="8229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4718304" y="44805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2027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596128" y="452628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3 pitch | Part 108 BVLOS application filed | $248K Year 1 revenue | All 5 verticals operational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>MONK Prototype: MEIA Phase 2 Build Plan</a:t>
            </a:r>
          </a:p>
        </p:txBody>
      </p:sp>
      <p:sp>
        <p:nvSpPr>
          <p:cNvPr id="4" name="TealBar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ub"/>
          <p:cNvSpPr/>
          <p:nvPr/>
        </p:nvSpPr>
        <p:spPr>
          <a:xfrm>
            <a:off x="365760" y="1097280"/>
            <a:ext cx="841248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500" b="0" i="1" dirty="0">
                <a:solidFill>
                  <a:srgbClr val="028090"/>
                </a:solidFill>
                <a:latin typeface="Calibri"/>
              </a:rPr>
              <a:t>Automated LAANC authorization + cryptographic mission signing + tamper-evident compliance records. $25K–$30K MEIA vendor budget.</a:t>
            </a:r>
          </a:p>
        </p:txBody>
      </p:sp>
      <p:sp>
        <p:nvSpPr>
          <p:cNvPr id="6" name="C1bg"/>
          <p:cNvSpPr/>
          <p:nvPr/>
        </p:nvSpPr>
        <p:spPr>
          <a:xfrm>
            <a:off x="183600" y="1554480"/>
            <a:ext cx="192024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809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C1hdr"/>
          <p:cNvSpPr/>
          <p:nvPr/>
        </p:nvSpPr>
        <p:spPr>
          <a:xfrm>
            <a:off x="183600" y="1554480"/>
            <a:ext cx="192024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1. INTAKE</a:t>
            </a:r>
          </a:p>
        </p:txBody>
      </p:sp>
      <p:sp>
        <p:nvSpPr>
          <p:cNvPr id="8" name="C1txt"/>
          <p:cNvSpPr/>
          <p:nvPr/>
        </p:nvSpPr>
        <p:spPr>
          <a:xfrm>
            <a:off x="229000" y="1966320"/>
            <a:ext cx="1829440" cy="324576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>
              <a:buNone/>
            </a:pPr>
            <a:r>
              <a:rPr lang="en-US" sz="1200" b="1" dirty="0">
                <a:solidFill>
                  <a:srgbClr val="028090"/>
                </a:solidFill>
                <a:latin typeface="Calibri"/>
              </a:rPr>
              <a:t>Mission request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Origin pad, destination, payload, operator cert, time window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200" b="1" dirty="0">
                <a:solidFill>
                  <a:srgbClr val="028090"/>
                </a:solidFill>
                <a:latin typeface="Calibri"/>
              </a:rPr>
              <a:t>Sources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Operator | AKMS agent | Hospital dispatch</a:t>
            </a:r>
          </a:p>
        </p:txBody>
      </p:sp>
      <p:sp>
        <p:nvSpPr>
          <p:cNvPr id="9" name="Arr1"/>
          <p:cNvSpPr/>
          <p:nvPr/>
        </p:nvSpPr>
        <p:spPr>
          <a:xfrm>
            <a:off x="2194840" y="3052800"/>
            <a:ext cx="365760" cy="228600"/>
          </a:xfrm>
          <a:prstGeom prst="rightArrow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C2bg"/>
          <p:cNvSpPr/>
          <p:nvPr/>
        </p:nvSpPr>
        <p:spPr>
          <a:xfrm>
            <a:off x="2651600" y="1554480"/>
            <a:ext cx="192024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C2hdr"/>
          <p:cNvSpPr/>
          <p:nvPr/>
        </p:nvSpPr>
        <p:spPr>
          <a:xfrm>
            <a:off x="2651600" y="1554480"/>
            <a:ext cx="192024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/>
              </a:rPr>
              <a:t>2. AUTHORIZE</a:t>
            </a:r>
          </a:p>
        </p:txBody>
      </p:sp>
      <p:sp>
        <p:nvSpPr>
          <p:cNvPr id="12" name="C2txt"/>
          <p:cNvSpPr/>
          <p:nvPr/>
        </p:nvSpPr>
        <p:spPr>
          <a:xfrm>
            <a:off x="2697000" y="1966320"/>
            <a:ext cx="1829440" cy="324576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>
              <a:buNone/>
            </a:pPr>
            <a:r>
              <a:rPr lang="en-US" sz="1200" b="1" dirty="0">
                <a:solidFill>
                  <a:srgbClr val="F5A623"/>
                </a:solidFill>
                <a:latin typeface="Calibri"/>
              </a:rPr>
              <a:t>3 simultaneous checks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• LAANC USS API (Aloft) — airspace clearance token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• CURN corridor status check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• Part 107 credential validation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100" b="0" i="1" dirty="0">
                <a:solidFill>
                  <a:srgbClr val="CADCFC"/>
                </a:solidFill>
                <a:latin typeface="Calibri"/>
              </a:rPr>
              <a:t>All 3 must pass. Any failure = deny with reason code.</a:t>
            </a:r>
          </a:p>
        </p:txBody>
      </p:sp>
      <p:sp>
        <p:nvSpPr>
          <p:cNvPr id="13" name="Arr2"/>
          <p:cNvSpPr/>
          <p:nvPr/>
        </p:nvSpPr>
        <p:spPr>
          <a:xfrm>
            <a:off x="4662840" y="3052800"/>
            <a:ext cx="365760" cy="22860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C3bg"/>
          <p:cNvSpPr/>
          <p:nvPr/>
        </p:nvSpPr>
        <p:spPr>
          <a:xfrm>
            <a:off x="5119600" y="1554480"/>
            <a:ext cx="192024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C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C3hdr"/>
          <p:cNvSpPr/>
          <p:nvPr/>
        </p:nvSpPr>
        <p:spPr>
          <a:xfrm>
            <a:off x="5119600" y="1554480"/>
            <a:ext cx="1920240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/>
              </a:rPr>
              <a:t>3. SIGN</a:t>
            </a:r>
          </a:p>
        </p:txBody>
      </p:sp>
      <p:sp>
        <p:nvSpPr>
          <p:cNvPr id="16" name="C3txt"/>
          <p:cNvSpPr/>
          <p:nvPr/>
        </p:nvSpPr>
        <p:spPr>
          <a:xfrm>
            <a:off x="5165000" y="1966320"/>
            <a:ext cx="1829440" cy="324576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>
              <a:buNone/>
            </a:pPr>
            <a:r>
              <a:rPr lang="en-US" sz="1200" b="1" dirty="0">
                <a:solidFill>
                  <a:srgbClr val="02C39A"/>
                </a:solidFill>
                <a:latin typeface="Calibri"/>
              </a:rPr>
              <a:t>Cryptographic package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LAANC token + corridor confirm + Part 107 cert + payload + route + MONK signature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200" b="1" dirty="0">
                <a:solidFill>
                  <a:srgbClr val="02C39A"/>
                </a:solidFill>
                <a:latin typeface="Calibri"/>
              </a:rPr>
              <a:t>HMAC-SHA256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Tamper-evident. Auditable by UMMS, FAA, insurers.</a:t>
            </a:r>
          </a:p>
        </p:txBody>
      </p:sp>
      <p:sp>
        <p:nvSpPr>
          <p:cNvPr id="17" name="Arr3"/>
          <p:cNvSpPr/>
          <p:nvPr/>
        </p:nvSpPr>
        <p:spPr>
          <a:xfrm>
            <a:off x="7130840" y="3052800"/>
            <a:ext cx="365760" cy="228600"/>
          </a:xfrm>
          <a:prstGeom prst="rightArrow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C4bg"/>
          <p:cNvSpPr/>
          <p:nvPr/>
        </p:nvSpPr>
        <p:spPr>
          <a:xfrm>
            <a:off x="7587600" y="1554480"/>
            <a:ext cx="137244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CADCF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C4hdr"/>
          <p:cNvSpPr/>
          <p:nvPr/>
        </p:nvSpPr>
        <p:spPr>
          <a:xfrm>
            <a:off x="7587600" y="1554480"/>
            <a:ext cx="1372440" cy="3657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/>
              </a:rPr>
              <a:t>4. WRITE-BACK</a:t>
            </a:r>
          </a:p>
        </p:txBody>
      </p:sp>
      <p:sp>
        <p:nvSpPr>
          <p:cNvPr id="20" name="C4txt"/>
          <p:cNvSpPr/>
          <p:nvPr/>
        </p:nvSpPr>
        <p:spPr>
          <a:xfrm>
            <a:off x="7633000" y="1966320"/>
            <a:ext cx="1281640" cy="324576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>
              <a:buNone/>
            </a:pPr>
            <a:r>
              <a:rPr lang="en-US" sz="1200" b="1" dirty="0">
                <a:solidFill>
                  <a:srgbClr val="CADCFC"/>
                </a:solidFill>
                <a:latin typeface="Calibri"/>
              </a:rPr>
              <a:t>Post-flight actuals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GPS track + delivery confirm + energy use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Appended to signed record → complete lifecycle audit trail</a:t>
            </a:r>
          </a:p>
        </p:txBody>
      </p:sp>
      <p:sp>
        <p:nvSpPr>
          <p:cNvPr id="21" name="Bottom"/>
          <p:cNvSpPr/>
          <p:nvPr/>
        </p:nvSpPr>
        <p:spPr>
          <a:xfrm>
            <a:off x="183600" y="5303160"/>
            <a:ext cx="8776800" cy="3657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wrap="square" lIns="182880" tIns="45720" rIns="182880" bIns="45720" rtlCol="0" anchor="ctr"/>
          <a:lstStyle/>
          <a:p>
            <a:pPr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/>
              </a:rPr>
              <a:t>Built on the KAI-Netics Core Engine already in production. Every UMMS POC flight produces a MONK-signed compliance record. No competitor is building this trust layer.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0000"/>
            <a:ext cx="877824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MONK: Trusted Governance Layer for Autonomous Aviation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3600" y="1280000"/>
            <a:ext cx="4100000" cy="780000"/>
          </a:xfrm>
          <a:prstGeom prst="rect">
            <a:avLst/>
          </a:prstGeom>
          <a:solidFill>
            <a:srgbClr val="1E3A5F"/>
          </a:solidFill>
          <a:ln w="150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3600" y="1280000"/>
            <a:ext cx="4100000" cy="26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4560" y="1310000"/>
            <a:ext cx="39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Autonomous Logistics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560" y="1560000"/>
            <a:ext cx="398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Delivery Drones (Medical, 3PL)  +  Inspection Drones (Infra, SAR)</a:t>
            </a:r>
          </a:p>
        </p:txBody>
      </p:sp>
      <p:sp>
        <p:nvSpPr>
          <p:cNvPr id="9" name="Down Arrow 8"/>
          <p:cNvSpPr/>
          <p:nvPr/>
        </p:nvSpPr>
        <p:spPr>
          <a:xfrm>
            <a:off x="2133600" y="2080000"/>
            <a:ext cx="200000" cy="200000"/>
          </a:xfrm>
          <a:prstGeom prst="downArrow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63600" y="2090000"/>
            <a:ext cx="1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28090"/>
                </a:solidFill>
                <a:latin typeface="Calibri"/>
              </a:rPr>
              <a:t>Encrypted Telemetry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3600" y="2300000"/>
            <a:ext cx="4100000" cy="780000"/>
          </a:xfrm>
          <a:prstGeom prst="rect">
            <a:avLst/>
          </a:prstGeom>
          <a:solidFill>
            <a:srgbClr val="1E3A5F"/>
          </a:solidFill>
          <a:ln w="150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3600" y="2300000"/>
            <a:ext cx="4100000" cy="260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4560" y="2330000"/>
            <a:ext cx="39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MONK Governance Payload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560" y="2580000"/>
            <a:ext cx="398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◆ LAANC Authorization   ◆ Cryptographic Compliance   ◆ Telemetry Validation   ◆ MONK-Key Signing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133600" y="3100000"/>
            <a:ext cx="200000" cy="200000"/>
          </a:xfrm>
          <a:prstGeom prst="downArrow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63600" y="3110000"/>
            <a:ext cx="1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2C39A"/>
                </a:solidFill>
                <a:latin typeface="Calibri"/>
              </a:rPr>
              <a:t>Signed Compliance Token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3600" y="3320000"/>
            <a:ext cx="4100000" cy="780000"/>
          </a:xfrm>
          <a:prstGeom prst="rect">
            <a:avLst/>
          </a:prstGeom>
          <a:solidFill>
            <a:srgbClr val="1E3A5F"/>
          </a:solidFill>
          <a:ln w="150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83600" y="3320000"/>
            <a:ext cx="4100000" cy="26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4560" y="3350000"/>
            <a:ext cx="39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BVLOS Corridor Network (CURN)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4560" y="3600000"/>
            <a:ext cx="398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Flight Monitoring  •  Corridor Access Control  •  Geofence Enforcement  •  Anomaly Alerts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133600" y="4120000"/>
            <a:ext cx="200000" cy="200000"/>
          </a:xfrm>
          <a:prstGeom prst="downArrow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63600" y="4130000"/>
            <a:ext cx="1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28090"/>
                </a:solidFill>
                <a:latin typeface="Calibri"/>
              </a:rPr>
              <a:t>Authorized Flight Path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3600" y="4340000"/>
            <a:ext cx="4100000" cy="780000"/>
          </a:xfrm>
          <a:prstGeom prst="rect">
            <a:avLst/>
          </a:prstGeom>
          <a:solidFill>
            <a:srgbClr val="1E3A5F"/>
          </a:solidFill>
          <a:ln w="150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83600" y="4340000"/>
            <a:ext cx="4100000" cy="26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4560" y="4370000"/>
            <a:ext cx="39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  <a:latin typeface="Calibri"/>
              </a:rPr>
              <a:t>FAA / UTM Airspace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560" y="4620000"/>
            <a:ext cx="398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2240"/>
                </a:solidFill>
                <a:latin typeface="Calibri"/>
              </a:rPr>
              <a:t>Safety • Regulatory Compliance • Traffic Coordination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5760" y="1280000"/>
            <a:ext cx="4494640" cy="361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465760" y="1280000"/>
            <a:ext cx="4494640" cy="26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720" y="131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  <a:latin typeface="Calibri"/>
              </a:rPr>
              <a:t>Why MONK is the Differentiator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720" y="158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Every flight is pre-authorized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720" y="1770000"/>
            <a:ext cx="4374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LAANC clearance embedded in mission before takeoff — not after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720" y="204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Every flight is cryptographically signed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720" y="2230000"/>
            <a:ext cx="4374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Tamper-evident record auditable by UMMS, FAA, DHS, insurers at any 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720" y="250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No competitor is building this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720" y="2690000"/>
            <a:ext cx="4374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MONK is the trust infrastructure the entire CURN ecosystem will eventually require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720" y="296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MEIA Phase 2 prototype target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720" y="3150000"/>
            <a:ext cx="4374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$30K MEIA vendor budget builds MONK MVP: LAANC + signing + audit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720" y="342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DHS approved tech list candidate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720" y="3610000"/>
            <a:ext cx="4374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Positions KAI-Netics for Safer Skies Act C-UAS certification pathway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498848"/>
            <a:ext cx="9144000" cy="64008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2 Accelerator Support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20624" y="142646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49047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40817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Validation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0624" y="18288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Facilitation of UMMS supply chain introductions and Maryland health system procurement network access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90288" y="1298448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736592" y="142646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49047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0368" y="140817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Assistance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36592" y="18288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Part 108 commercial carrier pathway and BVLOS corridor authorization for CURN Baltimore endpoint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74320" y="2596896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420624" y="272491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27889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" y="270662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20624" y="312724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EEIR program for supply chain expertise; MEIA investor network; Climate Technology Founders Fund preparation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590288" y="2596896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4736592" y="272491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78892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30368" y="270662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Navigation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736592" y="312724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Maryland, CDBG, MEA Resilient MD applications for EAF/CAKO green collar workforce program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365760" y="455371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Alexander Smith  |  kas@kevin-llc.com  |  443.257.6836  |  kevin-llc.com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2570</Words>
  <Application>Microsoft Office PowerPoint</Application>
  <PresentationFormat>On-screen Show (16:9)</PresentationFormat>
  <Paragraphs>338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KAI-Netics MEIA Phase 2 Commercialization Plan</dc:title>
  <dc:subject>PptxGenJS Presentation</dc:subject>
  <dc:creator>Kevin Alexander Smith</dc:creator>
  <cp:lastModifiedBy>Kevin Smith</cp:lastModifiedBy>
  <cp:revision>2</cp:revision>
  <dcterms:created xsi:type="dcterms:W3CDTF">2026-04-11T02:07:57Z</dcterms:created>
  <dcterms:modified xsi:type="dcterms:W3CDTF">2026-04-12T19:49:52Z</dcterms:modified>
</cp:coreProperties>
</file>