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66" r:id="rId4"/>
    <p:sldId id="259" r:id="rId5"/>
    <p:sldId id="268" r:id="rId6"/>
    <p:sldId id="269" r:id="rId7"/>
    <p:sldId id="267" r:id="rId8"/>
    <p:sldId id="262" r:id="rId9"/>
    <p:sldId id="260" r:id="rId10"/>
    <p:sldId id="276" r:id="rId11"/>
    <p:sldId id="261" r:id="rId12"/>
    <p:sldId id="273" r:id="rId13"/>
    <p:sldId id="263" r:id="rId14"/>
    <p:sldId id="274" r:id="rId15"/>
    <p:sldId id="272" r:id="rId16"/>
    <p:sldId id="278" r:id="rId17"/>
    <p:sldId id="265" r:id="rId18"/>
    <p:sldId id="277" r:id="rId19"/>
    <p:sldId id="258" r:id="rId20"/>
    <p:sldId id="270" r:id="rId21"/>
    <p:sldId id="275" r:id="rId22"/>
    <p:sldId id="264" r:id="rId23"/>
    <p:sldId id="271"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DE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5" autoAdjust="0"/>
    <p:restoredTop sz="80157" autoAdjust="0"/>
  </p:normalViewPr>
  <p:slideViewPr>
    <p:cSldViewPr snapToGrid="0" snapToObjects="1">
      <p:cViewPr varScale="1">
        <p:scale>
          <a:sx n="116" d="100"/>
          <a:sy n="116" d="100"/>
        </p:scale>
        <p:origin x="438" y="57"/>
      </p:cViewPr>
      <p:guideLst/>
    </p:cSldViewPr>
  </p:slideViewPr>
  <p:notesTextViewPr>
    <p:cViewPr>
      <p:scale>
        <a:sx n="1" d="1"/>
        <a:sy n="1" d="1"/>
      </p:scale>
      <p:origin x="0" y="0"/>
    </p:cViewPr>
  </p:notesTextViewPr>
  <p:notesViewPr>
    <p:cSldViewPr snapToGrid="0" snapToObjects="1">
      <p:cViewPr varScale="1">
        <p:scale>
          <a:sx n="83" d="100"/>
          <a:sy n="83" d="100"/>
        </p:scale>
        <p:origin x="3405"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55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468284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75756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UMMS built the Sparrows Point LOC as a deliberate consolidation strategy — centralizing supply receiving across all 11 hospital sites into a single location with one dock, one inventory system, and one logistics team managing inbound flow. That solved the fragmentation problem.</a:t>
            </a:r>
          </a:p>
          <a:p>
            <a:r>
              <a:rPr lang="en-US" dirty="0"/>
              <a:t>But consolidation created a new vulnerability. When you concentrate everything into one node, that node becomes a single point of failure. COVID proved this exactly — when ground transport was disrupted, the entire system froze because every delivery ran through the same bottlenecks.</a:t>
            </a:r>
          </a:p>
          <a:p>
            <a:r>
              <a:rPr lang="en-US" dirty="0"/>
              <a:t>Drones solve that specific problem. A drone doesn't need roads, doesn't need a driver, and operates on a completely separate infrastructure layer from the truck fleet. The LOC keeps doing what it was built to do — consolidate receiving. KAI-</a:t>
            </a:r>
            <a:r>
              <a:rPr lang="en-US" dirty="0" err="1"/>
              <a:t>Netics</a:t>
            </a:r>
            <a:r>
              <a:rPr lang="en-US" dirty="0"/>
              <a:t> adds a resilient last-mile distribution layer underneath it that can't be taken out by the same events that ground trucks.</a:t>
            </a:r>
          </a:p>
          <a:p>
            <a:r>
              <a:rPr lang="en-US" dirty="0"/>
              <a:t>The pitch is not "change how you receive supply." The pitch is "protect what you already built."</a:t>
            </a:r>
          </a:p>
          <a:p>
            <a:r>
              <a:rPr lang="en-US" dirty="0"/>
              <a:t>When a hospital supply chain VP asks "what happens when your system goes down?" — the answer is: our system is what you call when your system goes down.</a:t>
            </a:r>
          </a:p>
          <a:p>
            <a:endParaRPr lang="en-US" dirty="0"/>
          </a:p>
        </p:txBody>
      </p:sp>
    </p:spTree>
    <p:extLst>
      <p:ext uri="{BB962C8B-B14F-4D97-AF65-F5344CB8AC3E}">
        <p14:creationId xmlns:p14="http://schemas.microsoft.com/office/powerpoint/2010/main" val="2913726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3585705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txBody>
          <a:bodyPr/>
          <a:lstStyle/>
          <a:p>
            <a:endParaRPr/>
          </a:p>
        </p:txBody>
      </p:sp>
      <p:sp>
        <p:nvSpPr>
          <p:cNvPr id="3" name="Shape 1"/>
          <p:cNvSpPr/>
          <p:nvPr/>
        </p:nvSpPr>
        <p:spPr>
          <a:xfrm>
            <a:off x="0" y="4663440"/>
            <a:ext cx="9144000" cy="480060"/>
          </a:xfrm>
          <a:prstGeom prst="rect">
            <a:avLst/>
          </a:prstGeom>
          <a:solidFill>
            <a:srgbClr val="015F6B"/>
          </a:solidFill>
          <a:ln w="12700">
            <a:solidFill>
              <a:srgbClr val="015F6B"/>
            </a:solidFill>
            <a:prstDash val="solid"/>
          </a:ln>
        </p:spPr>
        <p:txBody>
          <a:bodyPr/>
          <a:lstStyle/>
          <a:p>
            <a:endParaRPr/>
          </a:p>
        </p:txBody>
      </p:sp>
      <p:sp>
        <p:nvSpPr>
          <p:cNvPr id="4" name="Text 2"/>
          <p:cNvSpPr/>
          <p:nvPr/>
        </p:nvSpPr>
        <p:spPr>
          <a:xfrm>
            <a:off x="365760" y="640080"/>
            <a:ext cx="8412480" cy="914400"/>
          </a:xfrm>
          <a:prstGeom prst="rect">
            <a:avLst/>
          </a:prstGeom>
          <a:noFill/>
          <a:ln/>
        </p:spPr>
        <p:txBody>
          <a:bodyPr wrap="square" rtlCol="0" anchor="ctr"/>
          <a:lstStyle/>
          <a:p>
            <a:pPr marL="0" indent="0">
              <a:buNone/>
            </a:pPr>
            <a:r>
              <a:rPr lang="en-US" sz="5400" b="1" kern="0" spc="200" dirty="0">
                <a:solidFill>
                  <a:srgbClr val="FFFFFF"/>
                </a:solidFill>
                <a:latin typeface="Calibri" pitchFamily="34" charset="0"/>
                <a:ea typeface="Calibri" pitchFamily="34" charset="-122"/>
                <a:cs typeface="Calibri" pitchFamily="34" charset="-120"/>
              </a:rPr>
              <a:t>KAI-Netics</a:t>
            </a:r>
            <a:endParaRPr lang="en-US" sz="5400" dirty="0"/>
          </a:p>
        </p:txBody>
      </p:sp>
      <p:sp>
        <p:nvSpPr>
          <p:cNvPr id="5" name="Text 3"/>
          <p:cNvSpPr/>
          <p:nvPr/>
        </p:nvSpPr>
        <p:spPr>
          <a:xfrm>
            <a:off x="365760" y="1481328"/>
            <a:ext cx="8412480" cy="548640"/>
          </a:xfrm>
          <a:prstGeom prst="rect">
            <a:avLst/>
          </a:prstGeom>
          <a:noFill/>
          <a:ln/>
        </p:spPr>
        <p:txBody>
          <a:bodyPr wrap="square" rtlCol="0" anchor="ctr"/>
          <a:lstStyle/>
          <a:p>
            <a:pPr marL="0" indent="0">
              <a:buNone/>
            </a:pPr>
            <a:endParaRPr lang="en-US" sz="2200" dirty="0"/>
          </a:p>
        </p:txBody>
      </p:sp>
      <p:sp>
        <p:nvSpPr>
          <p:cNvPr id="6" name="Shape 4"/>
          <p:cNvSpPr/>
          <p:nvPr/>
        </p:nvSpPr>
        <p:spPr>
          <a:xfrm>
            <a:off x="365760" y="2194560"/>
            <a:ext cx="6858000" cy="658368"/>
          </a:xfrm>
          <a:prstGeom prst="rect">
            <a:avLst/>
          </a:prstGeom>
          <a:solidFill>
            <a:srgbClr val="028090">
              <a:alpha val="80000"/>
            </a:srgbClr>
          </a:solidFill>
          <a:ln w="12700">
            <a:solidFill>
              <a:srgbClr val="00A896"/>
            </a:solidFill>
            <a:prstDash val="solid"/>
          </a:ln>
        </p:spPr>
        <p:txBody>
          <a:bodyPr/>
          <a:lstStyle/>
          <a:p>
            <a:endParaRPr/>
          </a:p>
        </p:txBody>
      </p:sp>
      <p:sp>
        <p:nvSpPr>
          <p:cNvPr id="7" name="Text 5"/>
          <p:cNvSpPr/>
          <p:nvPr/>
        </p:nvSpPr>
        <p:spPr>
          <a:xfrm>
            <a:off x="502920" y="2231136"/>
            <a:ext cx="6583680" cy="585216"/>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Drone Infrastructure Operator: Unlocking Maryland's Medical &amp; Community Delivery Market</a:t>
            </a:r>
            <a:endParaRPr lang="en-US" sz="1300" dirty="0"/>
          </a:p>
        </p:txBody>
      </p:sp>
      <p:sp>
        <p:nvSpPr>
          <p:cNvPr id="8" name="Shape 6"/>
          <p:cNvSpPr/>
          <p:nvPr/>
        </p:nvSpPr>
        <p:spPr>
          <a:xfrm>
            <a:off x="365760" y="3090672"/>
            <a:ext cx="2011680" cy="329184"/>
          </a:xfrm>
          <a:prstGeom prst="roundRect">
            <a:avLst>
              <a:gd name="adj" fmla="val 13889"/>
            </a:avLst>
          </a:prstGeom>
          <a:solidFill>
            <a:srgbClr val="00A896">
              <a:alpha val="70000"/>
            </a:srgbClr>
          </a:solidFill>
          <a:ln w="12700">
            <a:solidFill>
              <a:srgbClr val="00A896"/>
            </a:solidFill>
            <a:prstDash val="solid"/>
          </a:ln>
        </p:spPr>
        <p:txBody>
          <a:bodyPr/>
          <a:lstStyle/>
          <a:p>
            <a:endParaRPr/>
          </a:p>
        </p:txBody>
      </p:sp>
      <p:sp>
        <p:nvSpPr>
          <p:cNvPr id="9" name="Text 7"/>
          <p:cNvSpPr/>
          <p:nvPr/>
        </p:nvSpPr>
        <p:spPr>
          <a:xfrm>
            <a:off x="365760" y="3090672"/>
            <a:ext cx="2011680"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FAA Part 107 Certified</a:t>
            </a:r>
            <a:endParaRPr lang="en-US" sz="950" dirty="0"/>
          </a:p>
        </p:txBody>
      </p:sp>
      <p:sp>
        <p:nvSpPr>
          <p:cNvPr id="10" name="Shape 8"/>
          <p:cNvSpPr/>
          <p:nvPr/>
        </p:nvSpPr>
        <p:spPr>
          <a:xfrm>
            <a:off x="2523744" y="3090672"/>
            <a:ext cx="2011680" cy="329184"/>
          </a:xfrm>
          <a:prstGeom prst="roundRect">
            <a:avLst>
              <a:gd name="adj" fmla="val 13889"/>
            </a:avLst>
          </a:prstGeom>
          <a:solidFill>
            <a:srgbClr val="00A896">
              <a:alpha val="70000"/>
            </a:srgbClr>
          </a:solidFill>
          <a:ln w="12700">
            <a:solidFill>
              <a:srgbClr val="00A896"/>
            </a:solidFill>
            <a:prstDash val="solid"/>
          </a:ln>
        </p:spPr>
        <p:txBody>
          <a:bodyPr/>
          <a:lstStyle/>
          <a:p>
            <a:endParaRPr/>
          </a:p>
        </p:txBody>
      </p:sp>
      <p:sp>
        <p:nvSpPr>
          <p:cNvPr id="11" name="Text 9"/>
          <p:cNvSpPr/>
          <p:nvPr/>
        </p:nvSpPr>
        <p:spPr>
          <a:xfrm>
            <a:off x="2523744" y="3090672"/>
            <a:ext cx="2011680"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UMGC Current Student</a:t>
            </a:r>
            <a:endParaRPr lang="en-US" sz="950" dirty="0"/>
          </a:p>
        </p:txBody>
      </p:sp>
      <p:sp>
        <p:nvSpPr>
          <p:cNvPr id="12" name="Shape 10"/>
          <p:cNvSpPr/>
          <p:nvPr/>
        </p:nvSpPr>
        <p:spPr>
          <a:xfrm>
            <a:off x="4681728" y="3090672"/>
            <a:ext cx="2011680" cy="329184"/>
          </a:xfrm>
          <a:prstGeom prst="roundRect">
            <a:avLst>
              <a:gd name="adj" fmla="val 13889"/>
            </a:avLst>
          </a:prstGeom>
          <a:solidFill>
            <a:srgbClr val="00A896">
              <a:alpha val="70000"/>
            </a:srgbClr>
          </a:solidFill>
          <a:ln w="12700">
            <a:solidFill>
              <a:srgbClr val="00A896"/>
            </a:solidFill>
            <a:prstDash val="solid"/>
          </a:ln>
        </p:spPr>
        <p:txBody>
          <a:bodyPr/>
          <a:lstStyle/>
          <a:p>
            <a:endParaRPr/>
          </a:p>
        </p:txBody>
      </p:sp>
      <p:sp>
        <p:nvSpPr>
          <p:cNvPr id="13" name="Text 11"/>
          <p:cNvSpPr/>
          <p:nvPr/>
        </p:nvSpPr>
        <p:spPr>
          <a:xfrm>
            <a:off x="4681728" y="3090672"/>
            <a:ext cx="2011680"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MWVOB Minority-Owned</a:t>
            </a:r>
            <a:endParaRPr lang="en-US" sz="950" dirty="0"/>
          </a:p>
        </p:txBody>
      </p:sp>
      <p:sp>
        <p:nvSpPr>
          <p:cNvPr id="14" name="Shape 12"/>
          <p:cNvSpPr/>
          <p:nvPr/>
        </p:nvSpPr>
        <p:spPr>
          <a:xfrm>
            <a:off x="6839712" y="3090672"/>
            <a:ext cx="2011680" cy="329184"/>
          </a:xfrm>
          <a:prstGeom prst="roundRect">
            <a:avLst>
              <a:gd name="adj" fmla="val 13889"/>
            </a:avLst>
          </a:prstGeom>
          <a:solidFill>
            <a:srgbClr val="00A896">
              <a:alpha val="70000"/>
            </a:srgbClr>
          </a:solidFill>
          <a:ln w="12700">
            <a:solidFill>
              <a:srgbClr val="00A896"/>
            </a:solidFill>
            <a:prstDash val="solid"/>
          </a:ln>
        </p:spPr>
        <p:txBody>
          <a:bodyPr/>
          <a:lstStyle/>
          <a:p>
            <a:endParaRPr/>
          </a:p>
        </p:txBody>
      </p:sp>
      <p:sp>
        <p:nvSpPr>
          <p:cNvPr id="15" name="Text 13"/>
          <p:cNvSpPr/>
          <p:nvPr/>
        </p:nvSpPr>
        <p:spPr>
          <a:xfrm>
            <a:off x="6839712" y="3090672"/>
            <a:ext cx="2011680"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CURN / UROC Applicant</a:t>
            </a:r>
            <a:endParaRPr lang="en-US" sz="950" dirty="0"/>
          </a:p>
        </p:txBody>
      </p:sp>
      <p:sp>
        <p:nvSpPr>
          <p:cNvPr id="16" name="Text 14"/>
          <p:cNvSpPr/>
          <p:nvPr/>
        </p:nvSpPr>
        <p:spPr>
          <a:xfrm>
            <a:off x="365760" y="3730752"/>
            <a:ext cx="8412480" cy="292608"/>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Kevin Alexander Smith, Founder &amp; CEO  |  Kevin Alexander International LLC dba KAI-Netics</a:t>
            </a:r>
            <a:endParaRPr lang="en-US" sz="1100" dirty="0"/>
          </a:p>
        </p:txBody>
      </p:sp>
      <p:sp>
        <p:nvSpPr>
          <p:cNvPr id="17" name="Text 15"/>
          <p:cNvSpPr/>
          <p:nvPr/>
        </p:nvSpPr>
        <p:spPr>
          <a:xfrm>
            <a:off x="365760" y="4005072"/>
            <a:ext cx="8412480" cy="256032"/>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kas@kevin-llc.com  |  443.257.6836  |  kevin-llc.com  |  April 2026</a:t>
            </a:r>
            <a:endParaRPr lang="en-US" sz="1000" dirty="0"/>
          </a:p>
        </p:txBody>
      </p:sp>
      <p:sp>
        <p:nvSpPr>
          <p:cNvPr id="18" name="Text 16"/>
          <p:cNvSpPr/>
          <p:nvPr/>
        </p:nvSpPr>
        <p:spPr>
          <a:xfrm>
            <a:off x="365760" y="4718304"/>
            <a:ext cx="8412480" cy="25603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CONFIDENTIAL — Submitted to: Maryland Energy Innovation Accelerator (MEIA)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Problem: Baltimore's Supply Chain Runs on Diesel</a:t>
            </a:r>
            <a:endParaRPr lang="en-US" sz="2800" dirty="0"/>
          </a:p>
        </p:txBody>
      </p:sp>
      <p:sp>
        <p:nvSpPr>
          <p:cNvPr id="4" name="Shape 2"/>
          <p:cNvSpPr/>
          <p:nvPr/>
        </p:nvSpPr>
        <p:spPr>
          <a:xfrm>
            <a:off x="274320" y="1188720"/>
            <a:ext cx="2651760" cy="2468880"/>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5" name="Shape 3"/>
          <p:cNvSpPr/>
          <p:nvPr/>
        </p:nvSpPr>
        <p:spPr>
          <a:xfrm>
            <a:off x="438912" y="1353312"/>
            <a:ext cx="457200" cy="457200"/>
          </a:xfrm>
          <a:prstGeom prst="ellipse">
            <a:avLst/>
          </a:prstGeom>
          <a:solidFill>
            <a:srgbClr val="028090"/>
          </a:solidFill>
          <a:ln w="12700">
            <a:solidFill>
              <a:srgbClr val="028090"/>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502920" y="1408176"/>
            <a:ext cx="329184" cy="329184"/>
          </a:xfrm>
          <a:prstGeom prst="rect">
            <a:avLst/>
          </a:prstGeom>
        </p:spPr>
      </p:pic>
      <p:sp>
        <p:nvSpPr>
          <p:cNvPr id="7" name="Text 4"/>
          <p:cNvSpPr/>
          <p:nvPr/>
        </p:nvSpPr>
        <p:spPr>
          <a:xfrm>
            <a:off x="969264" y="1353312"/>
            <a:ext cx="1828800"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Dirty</a:t>
            </a:r>
            <a:endParaRPr lang="en-US" sz="1200" dirty="0"/>
          </a:p>
        </p:txBody>
      </p:sp>
      <p:sp>
        <p:nvSpPr>
          <p:cNvPr id="8" name="Text 5"/>
          <p:cNvSpPr/>
          <p:nvPr/>
        </p:nvSpPr>
        <p:spPr>
          <a:xfrm>
            <a:off x="438912" y="1883664"/>
            <a:ext cx="2322576" cy="1645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Medline's ~50-mile diesel truck runs from Perryville to UMMS Sparrows Point emit ~80–100 lbs CO2e per run, ~25,000 lbs annually. Every medical delivery is a truck trip.</a:t>
            </a:r>
            <a:endParaRPr lang="en-US" sz="1000" dirty="0"/>
          </a:p>
        </p:txBody>
      </p:sp>
      <p:sp>
        <p:nvSpPr>
          <p:cNvPr id="9" name="Shape 6"/>
          <p:cNvSpPr/>
          <p:nvPr/>
        </p:nvSpPr>
        <p:spPr>
          <a:xfrm>
            <a:off x="3172968" y="1188720"/>
            <a:ext cx="2651760" cy="2468880"/>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10" name="Shape 7"/>
          <p:cNvSpPr/>
          <p:nvPr/>
        </p:nvSpPr>
        <p:spPr>
          <a:xfrm>
            <a:off x="3337560" y="1353312"/>
            <a:ext cx="457200" cy="457200"/>
          </a:xfrm>
          <a:prstGeom prst="ellipse">
            <a:avLst/>
          </a:prstGeom>
          <a:solidFill>
            <a:srgbClr val="028090"/>
          </a:solidFill>
          <a:ln w="12700">
            <a:solidFill>
              <a:srgbClr val="028090"/>
            </a:solidFill>
            <a:prstDash val="solid"/>
          </a:ln>
        </p:spPr>
        <p:txBody>
          <a:bodyPr/>
          <a:lstStyle/>
          <a:p>
            <a:endParaRPr/>
          </a:p>
        </p:txBody>
      </p:sp>
      <p:pic>
        <p:nvPicPr>
          <p:cNvPr id="11" name="Image 1" descr="preencoded.png"/>
          <p:cNvPicPr>
            <a:picLocks noChangeAspect="1"/>
          </p:cNvPicPr>
          <p:nvPr/>
        </p:nvPicPr>
        <p:blipFill>
          <a:blip r:embed="rId4"/>
          <a:stretch>
            <a:fillRect/>
          </a:stretch>
        </p:blipFill>
        <p:spPr>
          <a:xfrm>
            <a:off x="3401568" y="1408176"/>
            <a:ext cx="329184" cy="329184"/>
          </a:xfrm>
          <a:prstGeom prst="rect">
            <a:avLst/>
          </a:prstGeom>
        </p:spPr>
      </p:pic>
      <p:sp>
        <p:nvSpPr>
          <p:cNvPr id="12" name="Text 8"/>
          <p:cNvSpPr/>
          <p:nvPr/>
        </p:nvSpPr>
        <p:spPr>
          <a:xfrm>
            <a:off x="3867912" y="1353312"/>
            <a:ext cx="1828800"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Expensive</a:t>
            </a:r>
            <a:endParaRPr lang="en-US" sz="1200" dirty="0"/>
          </a:p>
        </p:txBody>
      </p:sp>
      <p:sp>
        <p:nvSpPr>
          <p:cNvPr id="13" name="Text 9"/>
          <p:cNvSpPr/>
          <p:nvPr/>
        </p:nvSpPr>
        <p:spPr>
          <a:xfrm>
            <a:off x="3337560" y="1883664"/>
            <a:ext cx="2322576" cy="1645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Owned truck fleets — the distributor's competitive moat — are also their largest cost liability: fuel, labor, maintenance, insurance, and growing emissions compliance burden.</a:t>
            </a:r>
            <a:endParaRPr lang="en-US" sz="1000" dirty="0"/>
          </a:p>
        </p:txBody>
      </p:sp>
      <p:sp>
        <p:nvSpPr>
          <p:cNvPr id="14" name="Shape 10"/>
          <p:cNvSpPr/>
          <p:nvPr/>
        </p:nvSpPr>
        <p:spPr>
          <a:xfrm>
            <a:off x="6071616" y="1188720"/>
            <a:ext cx="2651760" cy="2468880"/>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15" name="Shape 11"/>
          <p:cNvSpPr/>
          <p:nvPr/>
        </p:nvSpPr>
        <p:spPr>
          <a:xfrm>
            <a:off x="6236208" y="1353312"/>
            <a:ext cx="457200" cy="457200"/>
          </a:xfrm>
          <a:prstGeom prst="ellipse">
            <a:avLst/>
          </a:prstGeom>
          <a:solidFill>
            <a:srgbClr val="028090"/>
          </a:solidFill>
          <a:ln w="12700">
            <a:solidFill>
              <a:srgbClr val="028090"/>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6300216" y="1408176"/>
            <a:ext cx="329184" cy="329184"/>
          </a:xfrm>
          <a:prstGeom prst="rect">
            <a:avLst/>
          </a:prstGeom>
        </p:spPr>
      </p:pic>
      <p:sp>
        <p:nvSpPr>
          <p:cNvPr id="17" name="Text 12"/>
          <p:cNvSpPr/>
          <p:nvPr/>
        </p:nvSpPr>
        <p:spPr>
          <a:xfrm>
            <a:off x="6766560" y="1353312"/>
            <a:ext cx="1828800"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Fragile</a:t>
            </a:r>
            <a:endParaRPr lang="en-US" sz="1200" dirty="0"/>
          </a:p>
        </p:txBody>
      </p:sp>
      <p:sp>
        <p:nvSpPr>
          <p:cNvPr id="18" name="Text 13"/>
          <p:cNvSpPr/>
          <p:nvPr/>
        </p:nvSpPr>
        <p:spPr>
          <a:xfrm>
            <a:off x="6236208" y="1883664"/>
            <a:ext cx="2322576" cy="1645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COVID-19 proved the fleet-based model's vulnerability. UMMS built its $100M+ Sparrows Point Logistics Operations Center (LOC) specifically to address pandemic supply chain failures.</a:t>
            </a:r>
            <a:endParaRPr lang="en-US" sz="1000" dirty="0"/>
          </a:p>
        </p:txBody>
      </p:sp>
      <p:sp>
        <p:nvSpPr>
          <p:cNvPr id="19" name="Shape 14"/>
          <p:cNvSpPr/>
          <p:nvPr/>
        </p:nvSpPr>
        <p:spPr>
          <a:xfrm>
            <a:off x="274320" y="3794760"/>
            <a:ext cx="8595360" cy="1005840"/>
          </a:xfrm>
          <a:prstGeom prst="rect">
            <a:avLst/>
          </a:prstGeom>
          <a:solidFill>
            <a:srgbClr val="FEF3C7"/>
          </a:solidFill>
          <a:ln w="12700">
            <a:solidFill>
              <a:srgbClr val="F59E0B"/>
            </a:solidFill>
            <a:prstDash val="solid"/>
          </a:ln>
        </p:spPr>
        <p:txBody>
          <a:bodyPr/>
          <a:lstStyle/>
          <a:p>
            <a:endParaRPr/>
          </a:p>
        </p:txBody>
      </p:sp>
      <p:sp>
        <p:nvSpPr>
          <p:cNvPr id="20" name="Text 15"/>
          <p:cNvSpPr/>
          <p:nvPr/>
        </p:nvSpPr>
        <p:spPr>
          <a:xfrm>
            <a:off x="457200" y="3840480"/>
            <a:ext cx="8229600" cy="91440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The UMMS Sparrows Point LOC opened Q2 2025 — 415,000 sq ft serving 11 hospitals, 1.2M+ outpatients/year. It was built to solve supply chain resilience. Drone delivery is the next layer.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Why Drone Delivery Now: Green House Gas (GHG) Reduction + Supply Chain Resilience</a:t>
            </a:r>
            <a:endParaRPr lang="en-US" sz="2800" dirty="0"/>
          </a:p>
        </p:txBody>
      </p:sp>
      <p:sp>
        <p:nvSpPr>
          <p:cNvPr id="4" name="Shape 2"/>
          <p:cNvSpPr/>
          <p:nvPr/>
        </p:nvSpPr>
        <p:spPr>
          <a:xfrm>
            <a:off x="274320" y="1188720"/>
            <a:ext cx="2651760" cy="2468880"/>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5" name="Shape 3"/>
          <p:cNvSpPr/>
          <p:nvPr/>
        </p:nvSpPr>
        <p:spPr>
          <a:xfrm>
            <a:off x="438912" y="1353312"/>
            <a:ext cx="457200" cy="457200"/>
          </a:xfrm>
          <a:prstGeom prst="ellipse">
            <a:avLst/>
          </a:prstGeom>
          <a:solidFill>
            <a:srgbClr val="028090"/>
          </a:solidFill>
          <a:ln w="12700">
            <a:solidFill>
              <a:srgbClr val="028090"/>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502920" y="1408176"/>
            <a:ext cx="329184" cy="329184"/>
          </a:xfrm>
          <a:prstGeom prst="rect">
            <a:avLst/>
          </a:prstGeom>
        </p:spPr>
      </p:pic>
      <p:sp>
        <p:nvSpPr>
          <p:cNvPr id="7" name="Text 4"/>
          <p:cNvSpPr/>
          <p:nvPr/>
        </p:nvSpPr>
        <p:spPr>
          <a:xfrm>
            <a:off x="969264" y="1353312"/>
            <a:ext cx="1828800"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The Climate Mandate</a:t>
            </a:r>
            <a:endParaRPr lang="en-US" sz="1200" dirty="0"/>
          </a:p>
        </p:txBody>
      </p:sp>
      <p:sp>
        <p:nvSpPr>
          <p:cNvPr id="8" name="Text 5"/>
          <p:cNvSpPr/>
          <p:nvPr/>
        </p:nvSpPr>
        <p:spPr>
          <a:xfrm>
            <a:off x="438912" y="1883664"/>
            <a:ext cx="2322576" cy="1645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Maryland's Climate Solutions Now Act (2022) set the most aggressive GHG targets in the US. Every diesel truck delivering medical supplies is a direct emissions liability — ~80–100 lbs CO2e per run. UMMS's new Sparrows Point LOC was built to Maryland's climate compliance standard*. Drone delivery is the next emissions reduction layer.</a:t>
            </a:r>
            <a:endParaRPr lang="en-US" sz="1000" dirty="0"/>
          </a:p>
        </p:txBody>
      </p:sp>
      <p:sp>
        <p:nvSpPr>
          <p:cNvPr id="9" name="Shape 6"/>
          <p:cNvSpPr/>
          <p:nvPr/>
        </p:nvSpPr>
        <p:spPr>
          <a:xfrm>
            <a:off x="3172968" y="1188720"/>
            <a:ext cx="2651760" cy="2468880"/>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10" name="Shape 7"/>
          <p:cNvSpPr/>
          <p:nvPr/>
        </p:nvSpPr>
        <p:spPr>
          <a:xfrm>
            <a:off x="3337560" y="1353312"/>
            <a:ext cx="457200" cy="457200"/>
          </a:xfrm>
          <a:prstGeom prst="ellipse">
            <a:avLst/>
          </a:prstGeom>
          <a:solidFill>
            <a:srgbClr val="028090"/>
          </a:solidFill>
          <a:ln w="12700">
            <a:solidFill>
              <a:srgbClr val="028090"/>
            </a:solidFill>
            <a:prstDash val="solid"/>
          </a:ln>
        </p:spPr>
        <p:txBody>
          <a:bodyPr/>
          <a:lstStyle/>
          <a:p>
            <a:endParaRPr/>
          </a:p>
        </p:txBody>
      </p:sp>
      <p:pic>
        <p:nvPicPr>
          <p:cNvPr id="11" name="Image 1" descr="preencoded.png"/>
          <p:cNvPicPr>
            <a:picLocks noChangeAspect="1"/>
          </p:cNvPicPr>
          <p:nvPr/>
        </p:nvPicPr>
        <p:blipFill>
          <a:blip r:embed="rId4"/>
          <a:stretch>
            <a:fillRect/>
          </a:stretch>
        </p:blipFill>
        <p:spPr>
          <a:xfrm>
            <a:off x="3401568" y="1408176"/>
            <a:ext cx="329184" cy="329184"/>
          </a:xfrm>
          <a:prstGeom prst="rect">
            <a:avLst/>
          </a:prstGeom>
        </p:spPr>
      </p:pic>
      <p:sp>
        <p:nvSpPr>
          <p:cNvPr id="12" name="Text 8"/>
          <p:cNvSpPr/>
          <p:nvPr/>
        </p:nvSpPr>
        <p:spPr>
          <a:xfrm>
            <a:off x="3867912" y="1353312"/>
            <a:ext cx="1828800"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COVID Proved the Fragility</a:t>
            </a:r>
            <a:endParaRPr lang="en-US" sz="1200" dirty="0"/>
          </a:p>
        </p:txBody>
      </p:sp>
      <p:sp>
        <p:nvSpPr>
          <p:cNvPr id="13" name="Text 9"/>
          <p:cNvSpPr/>
          <p:nvPr/>
        </p:nvSpPr>
        <p:spPr>
          <a:xfrm>
            <a:off x="3337560" y="1883664"/>
            <a:ext cx="2322576" cy="1645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“98% of hospital leaders said COVID-19 exposed critical supply chain vulnerabilities” – </a:t>
            </a:r>
            <a:r>
              <a:rPr lang="en-US" sz="1000" b="1" dirty="0">
                <a:solidFill>
                  <a:srgbClr val="334155"/>
                </a:solidFill>
                <a:latin typeface="Calibri" pitchFamily="34" charset="0"/>
                <a:ea typeface="Calibri" pitchFamily="34" charset="-122"/>
                <a:cs typeface="Calibri" pitchFamily="34" charset="-120"/>
              </a:rPr>
              <a:t>Global Healthcare Exchange</a:t>
            </a:r>
            <a:r>
              <a:rPr lang="en-US" sz="1000" dirty="0">
                <a:solidFill>
                  <a:srgbClr val="334155"/>
                </a:solidFill>
                <a:latin typeface="Calibri" pitchFamily="34" charset="0"/>
                <a:ea typeface="Calibri" pitchFamily="34" charset="-122"/>
                <a:cs typeface="Calibri" pitchFamily="34" charset="-120"/>
              </a:rPr>
              <a:t>. Fleet-based delivery froze: borders closed, drivers fell ill, hospitals traded supplies between ICU units. UMMS invested $32M in the Sparrows Point LOC specifically to address these pandemic-era failures. The LOC consolidates. Drones make it resilient.</a:t>
            </a:r>
            <a:endParaRPr lang="en-US" sz="1000" dirty="0"/>
          </a:p>
        </p:txBody>
      </p:sp>
      <p:sp>
        <p:nvSpPr>
          <p:cNvPr id="14" name="Shape 10"/>
          <p:cNvSpPr/>
          <p:nvPr/>
        </p:nvSpPr>
        <p:spPr>
          <a:xfrm>
            <a:off x="6071616" y="1188720"/>
            <a:ext cx="2651760" cy="2468880"/>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15" name="Shape 11"/>
          <p:cNvSpPr/>
          <p:nvPr/>
        </p:nvSpPr>
        <p:spPr>
          <a:xfrm>
            <a:off x="6236208" y="1353312"/>
            <a:ext cx="457200" cy="457200"/>
          </a:xfrm>
          <a:prstGeom prst="ellipse">
            <a:avLst/>
          </a:prstGeom>
          <a:solidFill>
            <a:srgbClr val="028090"/>
          </a:solidFill>
          <a:ln w="12700">
            <a:solidFill>
              <a:srgbClr val="028090"/>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6300216" y="1408176"/>
            <a:ext cx="329184" cy="329184"/>
          </a:xfrm>
          <a:prstGeom prst="rect">
            <a:avLst/>
          </a:prstGeom>
        </p:spPr>
      </p:pic>
      <p:sp>
        <p:nvSpPr>
          <p:cNvPr id="17" name="Text 12"/>
          <p:cNvSpPr/>
          <p:nvPr/>
        </p:nvSpPr>
        <p:spPr>
          <a:xfrm>
            <a:off x="6766560" y="1353312"/>
            <a:ext cx="1828800"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The 2026 Opportunity</a:t>
            </a:r>
            <a:endParaRPr lang="en-US" sz="1200" dirty="0"/>
          </a:p>
        </p:txBody>
      </p:sp>
      <p:sp>
        <p:nvSpPr>
          <p:cNvPr id="18" name="Text 13"/>
          <p:cNvSpPr/>
          <p:nvPr/>
        </p:nvSpPr>
        <p:spPr>
          <a:xfrm>
            <a:off x="6236208" y="1883664"/>
            <a:ext cx="2322576" cy="16459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The medical drone market grows from $1.73B (2025) to $4.68B by 2032. FAA Part 107 enables commercial operations TODAY. Chesapeake Unmanned Aerial Systems Route Network (CURN)'s Baltimore corridor provides the airspace. Techstars AI Health Baltimore — anchored by UMMS, Hopkins, MedStar, CareFirst, and UMB — Demo Day June 2026 at M&amp;T Bank Stadium. Baltimore's three largest health systems are actively seeking supply chain innovation partners right now.</a:t>
            </a:r>
            <a:endParaRPr lang="en-US" sz="1000" dirty="0"/>
          </a:p>
        </p:txBody>
      </p:sp>
      <p:sp>
        <p:nvSpPr>
          <p:cNvPr id="19" name="Shape 14"/>
          <p:cNvSpPr/>
          <p:nvPr/>
        </p:nvSpPr>
        <p:spPr>
          <a:xfrm>
            <a:off x="274320" y="3794760"/>
            <a:ext cx="8595360" cy="1005840"/>
          </a:xfrm>
          <a:prstGeom prst="rect">
            <a:avLst/>
          </a:prstGeom>
          <a:solidFill>
            <a:srgbClr val="FEF3C7"/>
          </a:solidFill>
          <a:ln w="12700">
            <a:solidFill>
              <a:srgbClr val="F59E0B"/>
            </a:solidFill>
            <a:prstDash val="solid"/>
          </a:ln>
        </p:spPr>
        <p:txBody>
          <a:bodyPr/>
          <a:lstStyle/>
          <a:p>
            <a:endParaRPr/>
          </a:p>
        </p:txBody>
      </p:sp>
      <p:sp>
        <p:nvSpPr>
          <p:cNvPr id="20" name="Text 15"/>
          <p:cNvSpPr/>
          <p:nvPr/>
        </p:nvSpPr>
        <p:spPr>
          <a:xfrm>
            <a:off x="457200" y="3840480"/>
            <a:ext cx="8229600" cy="91440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MEIA alignment: Clean energy technology + quantifiable GHG reduction + MWVOB operator + green collar workforce (Equity &amp; Autonomy Foundry/EAF; Certified Autonomous Kinetic Operator/CAKO) = the complete Maryland climate tech story.</a:t>
            </a:r>
            <a:endParaRPr lang="en-US" sz="1200" dirty="0"/>
          </a:p>
        </p:txBody>
      </p:sp>
      <p:sp>
        <p:nvSpPr>
          <p:cNvPr id="22" name="TextBox 21">
            <a:extLst>
              <a:ext uri="{FF2B5EF4-FFF2-40B4-BE49-F238E27FC236}">
                <a16:creationId xmlns:a16="http://schemas.microsoft.com/office/drawing/2014/main" id="{C924B86D-28E4-F7FF-8D68-EA411CAF9AAF}"/>
              </a:ext>
            </a:extLst>
          </p:cNvPr>
          <p:cNvSpPr txBox="1"/>
          <p:nvPr/>
        </p:nvSpPr>
        <p:spPr>
          <a:xfrm>
            <a:off x="1179268" y="4800600"/>
            <a:ext cx="6785465" cy="338554"/>
          </a:xfrm>
          <a:prstGeom prst="rect">
            <a:avLst/>
          </a:prstGeom>
          <a:solidFill>
            <a:schemeClr val="accent2">
              <a:lumMod val="20000"/>
              <a:lumOff val="80000"/>
            </a:schemeClr>
          </a:solidFill>
        </p:spPr>
        <p:txBody>
          <a:bodyPr wrap="square">
            <a:spAutoFit/>
          </a:bodyPr>
          <a:lstStyle/>
          <a:p>
            <a:r>
              <a:rPr lang="en-US" sz="800" i="1" dirty="0"/>
              <a:t>*The University of Maryland Medical System’s (UMMS) new 400,000-square-foot Logistics Operations Center (LOC) at Sparrows Point complies with Maryland’s climate standards by being an all-electric, solar-ready facility with high-efficiency insulation and heat-recovery technology.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Carbon Story: Replacing Dirty Truck Trips with Electric Drones</a:t>
            </a:r>
            <a:endParaRPr lang="en-US" sz="2800" dirty="0"/>
          </a:p>
        </p:txBody>
      </p:sp>
      <p:sp>
        <p:nvSpPr>
          <p:cNvPr id="4" name="Shape 2"/>
          <p:cNvSpPr/>
          <p:nvPr/>
        </p:nvSpPr>
        <p:spPr>
          <a:xfrm>
            <a:off x="274320" y="1188720"/>
            <a:ext cx="3931920" cy="2560320"/>
          </a:xfrm>
          <a:prstGeom prst="rect">
            <a:avLst/>
          </a:prstGeom>
          <a:solidFill>
            <a:srgbClr val="FEF2F2"/>
          </a:solidFill>
          <a:ln w="12700">
            <a:solidFill>
              <a:srgbClr val="DC2626"/>
            </a:solidFill>
            <a:prstDash val="solid"/>
          </a:ln>
          <a:effectLst>
            <a:outerShdw blurRad="101600" dist="38100" dir="8100000" algn="bl" rotWithShape="0">
              <a:srgbClr val="000000">
                <a:alpha val="12000"/>
              </a:srgbClr>
            </a:outerShdw>
          </a:effectLst>
        </p:spPr>
        <p:txBody>
          <a:bodyPr/>
          <a:lstStyle/>
          <a:p>
            <a:endParaRPr/>
          </a:p>
        </p:txBody>
      </p:sp>
      <p:sp>
        <p:nvSpPr>
          <p:cNvPr id="5" name="Shape 3"/>
          <p:cNvSpPr/>
          <p:nvPr/>
        </p:nvSpPr>
        <p:spPr>
          <a:xfrm>
            <a:off x="274320" y="1188720"/>
            <a:ext cx="3931920" cy="420624"/>
          </a:xfrm>
          <a:prstGeom prst="rect">
            <a:avLst/>
          </a:prstGeom>
          <a:solidFill>
            <a:srgbClr val="DC2626"/>
          </a:solidFill>
          <a:ln w="12700">
            <a:solidFill>
              <a:srgbClr val="DC2626"/>
            </a:solidFill>
            <a:prstDash val="solid"/>
          </a:ln>
        </p:spPr>
        <p:txBody>
          <a:bodyPr/>
          <a:lstStyle/>
          <a:p>
            <a:endParaRPr/>
          </a:p>
        </p:txBody>
      </p:sp>
      <p:sp>
        <p:nvSpPr>
          <p:cNvPr id="6" name="Text 4"/>
          <p:cNvSpPr/>
          <p:nvPr/>
        </p:nvSpPr>
        <p:spPr>
          <a:xfrm>
            <a:off x="274320" y="1188720"/>
            <a:ext cx="3931920" cy="42062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DIESEL TRUCK (Current)</a:t>
            </a:r>
            <a:endParaRPr lang="en-US" sz="1300" dirty="0"/>
          </a:p>
        </p:txBody>
      </p:sp>
      <p:sp>
        <p:nvSpPr>
          <p:cNvPr id="7" name="Text 5"/>
          <p:cNvSpPr/>
          <p:nvPr/>
        </p:nvSpPr>
        <p:spPr>
          <a:xfrm>
            <a:off x="411480" y="1719072"/>
            <a:ext cx="128016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Route:</a:t>
            </a:r>
            <a:endParaRPr lang="en-US" sz="1000" dirty="0"/>
          </a:p>
        </p:txBody>
      </p:sp>
      <p:sp>
        <p:nvSpPr>
          <p:cNvPr id="8" name="Text 6"/>
          <p:cNvSpPr/>
          <p:nvPr/>
        </p:nvSpPr>
        <p:spPr>
          <a:xfrm>
            <a:off x="1737360" y="1719072"/>
            <a:ext cx="228600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Perryville → Sparrows Point (~50 mi)</a:t>
            </a:r>
            <a:endParaRPr lang="en-US" sz="1000" dirty="0"/>
          </a:p>
        </p:txBody>
      </p:sp>
      <p:sp>
        <p:nvSpPr>
          <p:cNvPr id="9" name="Text 7"/>
          <p:cNvSpPr/>
          <p:nvPr/>
        </p:nvSpPr>
        <p:spPr>
          <a:xfrm>
            <a:off x="411480" y="2103120"/>
            <a:ext cx="128016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CO2e per run:</a:t>
            </a:r>
            <a:endParaRPr lang="en-US" sz="1000" dirty="0"/>
          </a:p>
        </p:txBody>
      </p:sp>
      <p:sp>
        <p:nvSpPr>
          <p:cNvPr id="10" name="Text 8"/>
          <p:cNvSpPr/>
          <p:nvPr/>
        </p:nvSpPr>
        <p:spPr>
          <a:xfrm>
            <a:off x="1737360" y="2103120"/>
            <a:ext cx="228600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~80–100 lbs</a:t>
            </a:r>
            <a:endParaRPr lang="en-US" sz="1000" dirty="0"/>
          </a:p>
        </p:txBody>
      </p:sp>
      <p:sp>
        <p:nvSpPr>
          <p:cNvPr id="11" name="Text 9"/>
          <p:cNvSpPr/>
          <p:nvPr/>
        </p:nvSpPr>
        <p:spPr>
          <a:xfrm>
            <a:off x="411480" y="2487168"/>
            <a:ext cx="128016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Annual runs:</a:t>
            </a:r>
            <a:endParaRPr lang="en-US" sz="1000" dirty="0"/>
          </a:p>
        </p:txBody>
      </p:sp>
      <p:sp>
        <p:nvSpPr>
          <p:cNvPr id="12" name="Text 10"/>
          <p:cNvSpPr/>
          <p:nvPr/>
        </p:nvSpPr>
        <p:spPr>
          <a:xfrm>
            <a:off x="1737360" y="2487168"/>
            <a:ext cx="228600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~250 (estimated)</a:t>
            </a:r>
            <a:endParaRPr lang="en-US" sz="1000" dirty="0"/>
          </a:p>
        </p:txBody>
      </p:sp>
      <p:sp>
        <p:nvSpPr>
          <p:cNvPr id="13" name="Text 11"/>
          <p:cNvSpPr/>
          <p:nvPr/>
        </p:nvSpPr>
        <p:spPr>
          <a:xfrm>
            <a:off x="411480" y="2871216"/>
            <a:ext cx="128016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Annual CO2e:</a:t>
            </a:r>
            <a:endParaRPr lang="en-US" sz="1000" dirty="0"/>
          </a:p>
        </p:txBody>
      </p:sp>
      <p:sp>
        <p:nvSpPr>
          <p:cNvPr id="14" name="Text 12"/>
          <p:cNvSpPr/>
          <p:nvPr/>
        </p:nvSpPr>
        <p:spPr>
          <a:xfrm>
            <a:off x="1737360" y="2871216"/>
            <a:ext cx="228600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~20,000–25,000 lbs</a:t>
            </a:r>
            <a:endParaRPr lang="en-US" sz="1000" dirty="0"/>
          </a:p>
        </p:txBody>
      </p:sp>
      <p:sp>
        <p:nvSpPr>
          <p:cNvPr id="15" name="Text 13"/>
          <p:cNvSpPr/>
          <p:nvPr/>
        </p:nvSpPr>
        <p:spPr>
          <a:xfrm>
            <a:off x="411480" y="3255264"/>
            <a:ext cx="128016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Cost driver:</a:t>
            </a:r>
            <a:endParaRPr lang="en-US" sz="1000" dirty="0"/>
          </a:p>
        </p:txBody>
      </p:sp>
      <p:sp>
        <p:nvSpPr>
          <p:cNvPr id="16" name="Text 14"/>
          <p:cNvSpPr/>
          <p:nvPr/>
        </p:nvSpPr>
        <p:spPr>
          <a:xfrm>
            <a:off x="1737360" y="3255264"/>
            <a:ext cx="2286000"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Fuel + labor + maintenance + insurance</a:t>
            </a:r>
            <a:endParaRPr lang="en-US" sz="1000" dirty="0"/>
          </a:p>
        </p:txBody>
      </p:sp>
      <p:sp>
        <p:nvSpPr>
          <p:cNvPr id="17" name="Shape 15"/>
          <p:cNvSpPr/>
          <p:nvPr/>
        </p:nvSpPr>
        <p:spPr>
          <a:xfrm>
            <a:off x="4315968" y="2286000"/>
            <a:ext cx="512064" cy="274320"/>
          </a:xfrm>
          <a:prstGeom prst="rect">
            <a:avLst/>
          </a:prstGeom>
          <a:solidFill>
            <a:srgbClr val="028090"/>
          </a:solidFill>
          <a:ln w="12700">
            <a:solidFill>
              <a:srgbClr val="028090"/>
            </a:solidFill>
            <a:prstDash val="solid"/>
          </a:ln>
        </p:spPr>
        <p:txBody>
          <a:bodyPr/>
          <a:lstStyle/>
          <a:p>
            <a:endParaRPr/>
          </a:p>
        </p:txBody>
      </p:sp>
      <p:sp>
        <p:nvSpPr>
          <p:cNvPr id="18" name="Text 16"/>
          <p:cNvSpPr/>
          <p:nvPr/>
        </p:nvSpPr>
        <p:spPr>
          <a:xfrm>
            <a:off x="4315968" y="2286000"/>
            <a:ext cx="512064"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VS</a:t>
            </a:r>
            <a:endParaRPr lang="en-US" sz="1000" dirty="0"/>
          </a:p>
        </p:txBody>
      </p:sp>
      <p:sp>
        <p:nvSpPr>
          <p:cNvPr id="19" name="Shape 17"/>
          <p:cNvSpPr/>
          <p:nvPr/>
        </p:nvSpPr>
        <p:spPr>
          <a:xfrm>
            <a:off x="4937760" y="1188720"/>
            <a:ext cx="3931920" cy="2560320"/>
          </a:xfrm>
          <a:prstGeom prst="rect">
            <a:avLst/>
          </a:prstGeom>
          <a:solidFill>
            <a:srgbClr val="E8F8F7"/>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20" name="Shape 18"/>
          <p:cNvSpPr/>
          <p:nvPr/>
        </p:nvSpPr>
        <p:spPr>
          <a:xfrm>
            <a:off x="4937760" y="1188720"/>
            <a:ext cx="3931920" cy="420624"/>
          </a:xfrm>
          <a:prstGeom prst="rect">
            <a:avLst/>
          </a:prstGeom>
          <a:solidFill>
            <a:srgbClr val="028090"/>
          </a:solidFill>
          <a:ln w="12700">
            <a:solidFill>
              <a:srgbClr val="028090"/>
            </a:solidFill>
            <a:prstDash val="solid"/>
          </a:ln>
        </p:spPr>
        <p:txBody>
          <a:bodyPr/>
          <a:lstStyle/>
          <a:p>
            <a:endParaRPr/>
          </a:p>
        </p:txBody>
      </p:sp>
      <p:sp>
        <p:nvSpPr>
          <p:cNvPr id="21" name="Text 19"/>
          <p:cNvSpPr/>
          <p:nvPr/>
        </p:nvSpPr>
        <p:spPr>
          <a:xfrm>
            <a:off x="4937760" y="1188720"/>
            <a:ext cx="3931920" cy="42062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CURN DRONE (KAI-Netics)</a:t>
            </a:r>
            <a:endParaRPr lang="en-US" sz="1300" dirty="0"/>
          </a:p>
        </p:txBody>
      </p:sp>
      <p:sp>
        <p:nvSpPr>
          <p:cNvPr id="22" name="Text 20"/>
          <p:cNvSpPr/>
          <p:nvPr/>
        </p:nvSpPr>
        <p:spPr>
          <a:xfrm>
            <a:off x="5074920" y="1719072"/>
            <a:ext cx="137160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Route:</a:t>
            </a:r>
            <a:endParaRPr lang="en-US" sz="1000" dirty="0"/>
          </a:p>
        </p:txBody>
      </p:sp>
      <p:sp>
        <p:nvSpPr>
          <p:cNvPr id="23" name="Text 21"/>
          <p:cNvSpPr/>
          <p:nvPr/>
        </p:nvSpPr>
        <p:spPr>
          <a:xfrm>
            <a:off x="6492240" y="1719072"/>
            <a:ext cx="2249424"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CURN corridor — over water (Patapsco)</a:t>
            </a:r>
            <a:endParaRPr lang="en-US" sz="1000" dirty="0"/>
          </a:p>
        </p:txBody>
      </p:sp>
      <p:sp>
        <p:nvSpPr>
          <p:cNvPr id="24" name="Text 22"/>
          <p:cNvSpPr/>
          <p:nvPr/>
        </p:nvSpPr>
        <p:spPr>
          <a:xfrm>
            <a:off x="5074920" y="2103120"/>
            <a:ext cx="137160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CO2e per delivery:</a:t>
            </a:r>
            <a:endParaRPr lang="en-US" sz="1000" dirty="0"/>
          </a:p>
        </p:txBody>
      </p:sp>
      <p:sp>
        <p:nvSpPr>
          <p:cNvPr id="25" name="Text 23"/>
          <p:cNvSpPr/>
          <p:nvPr/>
        </p:nvSpPr>
        <p:spPr>
          <a:xfrm>
            <a:off x="6492240" y="2103120"/>
            <a:ext cx="2249424"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~0.04–0.11 lbs</a:t>
            </a:r>
            <a:endParaRPr lang="en-US" sz="1000" dirty="0"/>
          </a:p>
        </p:txBody>
      </p:sp>
      <p:sp>
        <p:nvSpPr>
          <p:cNvPr id="26" name="Text 24"/>
          <p:cNvSpPr/>
          <p:nvPr/>
        </p:nvSpPr>
        <p:spPr>
          <a:xfrm>
            <a:off x="5074920" y="2487168"/>
            <a:ext cx="137160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Annual deliveries:</a:t>
            </a:r>
            <a:endParaRPr lang="en-US" sz="1000" dirty="0"/>
          </a:p>
        </p:txBody>
      </p:sp>
      <p:sp>
        <p:nvSpPr>
          <p:cNvPr id="27" name="Text 25"/>
          <p:cNvSpPr/>
          <p:nvPr/>
        </p:nvSpPr>
        <p:spPr>
          <a:xfrm>
            <a:off x="6492240" y="2487168"/>
            <a:ext cx="2249424"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250 (same frequency)</a:t>
            </a:r>
            <a:endParaRPr lang="en-US" sz="1000" dirty="0"/>
          </a:p>
        </p:txBody>
      </p:sp>
      <p:sp>
        <p:nvSpPr>
          <p:cNvPr id="28" name="Text 26"/>
          <p:cNvSpPr/>
          <p:nvPr/>
        </p:nvSpPr>
        <p:spPr>
          <a:xfrm>
            <a:off x="5074920" y="2871216"/>
            <a:ext cx="137160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Annual CO2e:</a:t>
            </a:r>
            <a:endParaRPr lang="en-US" sz="1000" dirty="0"/>
          </a:p>
        </p:txBody>
      </p:sp>
      <p:sp>
        <p:nvSpPr>
          <p:cNvPr id="29" name="Text 27"/>
          <p:cNvSpPr/>
          <p:nvPr/>
        </p:nvSpPr>
        <p:spPr>
          <a:xfrm>
            <a:off x="6492240" y="2871216"/>
            <a:ext cx="2249424"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~9–26 lbs</a:t>
            </a:r>
            <a:endParaRPr lang="en-US" sz="1000" dirty="0"/>
          </a:p>
        </p:txBody>
      </p:sp>
      <p:sp>
        <p:nvSpPr>
          <p:cNvPr id="30" name="Text 28"/>
          <p:cNvSpPr/>
          <p:nvPr/>
        </p:nvSpPr>
        <p:spPr>
          <a:xfrm>
            <a:off x="5074920" y="3255264"/>
            <a:ext cx="1371600" cy="329184"/>
          </a:xfrm>
          <a:prstGeom prst="rect">
            <a:avLst/>
          </a:prstGeom>
          <a:noFill/>
          <a:ln/>
        </p:spPr>
        <p:txBody>
          <a:bodyPr wrap="square" lIns="0" tIns="0" rIns="0" bIns="0"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Energy source:</a:t>
            </a:r>
            <a:endParaRPr lang="en-US" sz="1000" dirty="0"/>
          </a:p>
        </p:txBody>
      </p:sp>
      <p:sp>
        <p:nvSpPr>
          <p:cNvPr id="31" name="Text 29"/>
          <p:cNvSpPr/>
          <p:nvPr/>
        </p:nvSpPr>
        <p:spPr>
          <a:xfrm>
            <a:off x="6492240" y="3255264"/>
            <a:ext cx="2249424" cy="32918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Electric grid (~0.1–0.3 kWh/delivery)</a:t>
            </a:r>
            <a:endParaRPr lang="en-US" sz="1000" dirty="0"/>
          </a:p>
        </p:txBody>
      </p:sp>
      <p:sp>
        <p:nvSpPr>
          <p:cNvPr id="32" name="Shape 30"/>
          <p:cNvSpPr/>
          <p:nvPr/>
        </p:nvSpPr>
        <p:spPr>
          <a:xfrm>
            <a:off x="274320" y="3913632"/>
            <a:ext cx="8595360" cy="914400"/>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pic>
        <p:nvPicPr>
          <p:cNvPr id="33" name="Image 0" descr="preencoded.png"/>
          <p:cNvPicPr>
            <a:picLocks noChangeAspect="1"/>
          </p:cNvPicPr>
          <p:nvPr/>
        </p:nvPicPr>
        <p:blipFill>
          <a:blip r:embed="rId3"/>
          <a:stretch>
            <a:fillRect/>
          </a:stretch>
        </p:blipFill>
        <p:spPr>
          <a:xfrm>
            <a:off x="420624" y="4041648"/>
            <a:ext cx="475488" cy="475488"/>
          </a:xfrm>
          <a:prstGeom prst="rect">
            <a:avLst/>
          </a:prstGeom>
        </p:spPr>
      </p:pic>
      <p:sp>
        <p:nvSpPr>
          <p:cNvPr id="34" name="Text 31"/>
          <p:cNvSpPr/>
          <p:nvPr/>
        </p:nvSpPr>
        <p:spPr>
          <a:xfrm>
            <a:off x="1005840" y="4005072"/>
            <a:ext cx="512064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~19,974 lbs CO2e saved per delivery lane per year  =  ~9 metric tons</a:t>
            </a:r>
            <a:endParaRPr lang="en-US" sz="1600" dirty="0"/>
          </a:p>
        </p:txBody>
      </p:sp>
      <p:sp>
        <p:nvSpPr>
          <p:cNvPr id="35" name="Text 32"/>
          <p:cNvSpPr/>
          <p:nvPr/>
        </p:nvSpPr>
        <p:spPr>
          <a:xfrm>
            <a:off x="1005840" y="4389120"/>
            <a:ext cx="5120640" cy="292608"/>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Scale to UMMS 11-hospital network: ~99 metric tons CO2e/year</a:t>
            </a:r>
            <a:endParaRPr lang="en-US" sz="1100" dirty="0"/>
          </a:p>
        </p:txBody>
      </p:sp>
      <p:sp>
        <p:nvSpPr>
          <p:cNvPr id="36" name="Text 33"/>
          <p:cNvSpPr/>
          <p:nvPr/>
        </p:nvSpPr>
        <p:spPr>
          <a:xfrm>
            <a:off x="6217920" y="4005072"/>
            <a:ext cx="2560320" cy="64008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Based on EPA MOVES diesel factors + EPA eGrid MD grid emissions intensity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000"/>
            <a:ext cx="8778240" cy="760000"/>
          </a:xfrm>
          <a:prstGeom prst="rect">
            <a:avLst/>
          </a:prstGeom>
          <a:noFill/>
        </p:spPr>
        <p:txBody>
          <a:bodyPr wrap="square">
            <a:spAutoFit/>
          </a:bodyPr>
          <a:lstStyle/>
          <a:p>
            <a:pPr algn="l"/>
            <a:r>
              <a:rPr sz="2200" b="1" i="0">
                <a:solidFill>
                  <a:srgbClr val="FFFFFF"/>
                </a:solidFill>
                <a:latin typeface="Calibri"/>
              </a:rPr>
              <a:t>MONK: Mission Authorization Engine </a:t>
            </a:r>
          </a:p>
        </p:txBody>
      </p:sp>
      <p:sp>
        <p:nvSpPr>
          <p:cNvPr id="5" name="TextBox 4"/>
          <p:cNvSpPr txBox="1"/>
          <p:nvPr/>
        </p:nvSpPr>
        <p:spPr>
          <a:xfrm>
            <a:off x="365760" y="1060000"/>
            <a:ext cx="8778240" cy="260000"/>
          </a:xfrm>
          <a:prstGeom prst="rect">
            <a:avLst/>
          </a:prstGeom>
          <a:noFill/>
        </p:spPr>
        <p:txBody>
          <a:bodyPr wrap="square">
            <a:spAutoFit/>
          </a:bodyPr>
          <a:lstStyle/>
          <a:p>
            <a:pPr algn="ctr"/>
            <a:r>
              <a:rPr sz="1200" b="0" i="1">
                <a:solidFill>
                  <a:srgbClr val="028090"/>
                </a:solidFill>
                <a:latin typeface="Calibri"/>
              </a:rPr>
              <a:t>Patent-pending architecture.</a:t>
            </a:r>
          </a:p>
        </p:txBody>
      </p:sp>
      <p:sp>
        <p:nvSpPr>
          <p:cNvPr id="6" name="Rectangle 5"/>
          <p:cNvSpPr/>
          <p:nvPr/>
        </p:nvSpPr>
        <p:spPr>
          <a:xfrm>
            <a:off x="183600" y="1420000"/>
            <a:ext cx="1920000" cy="2800000"/>
          </a:xfrm>
          <a:prstGeom prst="rect">
            <a:avLst/>
          </a:prstGeom>
          <a:solidFill>
            <a:srgbClr val="1E3A5F"/>
          </a:solidFill>
          <a:ln w="1905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3600" y="1420000"/>
            <a:ext cx="1920000" cy="26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3600" y="1450000"/>
            <a:ext cx="1920000" cy="200000"/>
          </a:xfrm>
          <a:prstGeom prst="rect">
            <a:avLst/>
          </a:prstGeom>
          <a:noFill/>
        </p:spPr>
        <p:txBody>
          <a:bodyPr wrap="square">
            <a:spAutoFit/>
          </a:bodyPr>
          <a:lstStyle/>
          <a:p>
            <a:pPr algn="ctr"/>
            <a:r>
              <a:rPr sz="1100" b="1" i="0">
                <a:solidFill>
                  <a:srgbClr val="FFFFFF"/>
                </a:solidFill>
                <a:latin typeface="Calibri"/>
              </a:rPr>
              <a:t>Phase 2A</a:t>
            </a:r>
          </a:p>
        </p:txBody>
      </p:sp>
      <p:sp>
        <p:nvSpPr>
          <p:cNvPr id="9" name="TextBox 8"/>
          <p:cNvSpPr txBox="1"/>
          <p:nvPr/>
        </p:nvSpPr>
        <p:spPr>
          <a:xfrm>
            <a:off x="183600" y="1690000"/>
            <a:ext cx="1920000" cy="220000"/>
          </a:xfrm>
          <a:prstGeom prst="rect">
            <a:avLst/>
          </a:prstGeom>
          <a:noFill/>
        </p:spPr>
        <p:txBody>
          <a:bodyPr wrap="square">
            <a:spAutoFit/>
          </a:bodyPr>
          <a:lstStyle/>
          <a:p>
            <a:pPr algn="ctr"/>
            <a:r>
              <a:rPr sz="1300" b="1" i="0">
                <a:solidFill>
                  <a:srgbClr val="028090"/>
                </a:solidFill>
                <a:latin typeface="Calibri"/>
              </a:rPr>
              <a:t>Mission Intake</a:t>
            </a:r>
          </a:p>
        </p:txBody>
      </p:sp>
      <p:sp>
        <p:nvSpPr>
          <p:cNvPr id="10" name="TextBox 9"/>
          <p:cNvSpPr txBox="1"/>
          <p:nvPr/>
        </p:nvSpPr>
        <p:spPr>
          <a:xfrm>
            <a:off x="244560" y="1940000"/>
            <a:ext cx="1800000" cy="340000"/>
          </a:xfrm>
          <a:prstGeom prst="rect">
            <a:avLst/>
          </a:prstGeom>
          <a:noFill/>
        </p:spPr>
        <p:txBody>
          <a:bodyPr wrap="square">
            <a:spAutoFit/>
          </a:bodyPr>
          <a:lstStyle/>
          <a:p>
            <a:pPr algn="l"/>
            <a:r>
              <a:rPr sz="900" b="0" i="0">
                <a:solidFill>
                  <a:srgbClr val="CADCFC"/>
                </a:solidFill>
                <a:latin typeface="Calibri"/>
              </a:rPr>
              <a:t>Operator submits mission request via MONK interface</a:t>
            </a:r>
          </a:p>
        </p:txBody>
      </p:sp>
      <p:sp>
        <p:nvSpPr>
          <p:cNvPr id="11" name="TextBox 10"/>
          <p:cNvSpPr txBox="1"/>
          <p:nvPr/>
        </p:nvSpPr>
        <p:spPr>
          <a:xfrm>
            <a:off x="244560" y="2270000"/>
            <a:ext cx="1800000" cy="340000"/>
          </a:xfrm>
          <a:prstGeom prst="rect">
            <a:avLst/>
          </a:prstGeom>
          <a:noFill/>
        </p:spPr>
        <p:txBody>
          <a:bodyPr wrap="square">
            <a:spAutoFit/>
          </a:bodyPr>
          <a:lstStyle/>
          <a:p>
            <a:pPr algn="l"/>
            <a:r>
              <a:rPr sz="900" b="0" i="0">
                <a:solidFill>
                  <a:srgbClr val="CADCFC"/>
                </a:solidFill>
                <a:latin typeface="Calibri"/>
              </a:rPr>
              <a:t>Payload, route, operator credentials, and time window captured</a:t>
            </a:r>
          </a:p>
        </p:txBody>
      </p:sp>
      <p:sp>
        <p:nvSpPr>
          <p:cNvPr id="12" name="TextBox 11"/>
          <p:cNvSpPr txBox="1"/>
          <p:nvPr/>
        </p:nvSpPr>
        <p:spPr>
          <a:xfrm>
            <a:off x="244560" y="2688424"/>
            <a:ext cx="1800000" cy="340000"/>
          </a:xfrm>
          <a:prstGeom prst="rect">
            <a:avLst/>
          </a:prstGeom>
          <a:noFill/>
        </p:spPr>
        <p:txBody>
          <a:bodyPr wrap="square">
            <a:spAutoFit/>
          </a:bodyPr>
          <a:lstStyle/>
          <a:p>
            <a:pPr algn="l"/>
            <a:r>
              <a:rPr sz="900" b="0" i="0" dirty="0">
                <a:solidFill>
                  <a:srgbClr val="CADCFC"/>
                </a:solidFill>
                <a:latin typeface="Calibri"/>
              </a:rPr>
              <a:t>Request queued for authorization</a:t>
            </a:r>
          </a:p>
        </p:txBody>
      </p:sp>
      <p:sp>
        <p:nvSpPr>
          <p:cNvPr id="13" name="Can 12"/>
          <p:cNvSpPr/>
          <p:nvPr/>
        </p:nvSpPr>
        <p:spPr>
          <a:xfrm>
            <a:off x="2133600" y="2705700"/>
            <a:ext cx="305600" cy="228600"/>
          </a:xfrm>
          <a:prstGeom prst="can">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469200" y="1420000"/>
            <a:ext cx="1920000" cy="2800000"/>
          </a:xfrm>
          <a:prstGeom prst="rect">
            <a:avLst/>
          </a:prstGeom>
          <a:solidFill>
            <a:srgbClr val="1E3A5F"/>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69200" y="1420000"/>
            <a:ext cx="1920000" cy="26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69200" y="1450000"/>
            <a:ext cx="1920000" cy="200000"/>
          </a:xfrm>
          <a:prstGeom prst="rect">
            <a:avLst/>
          </a:prstGeom>
          <a:noFill/>
        </p:spPr>
        <p:txBody>
          <a:bodyPr wrap="square">
            <a:spAutoFit/>
          </a:bodyPr>
          <a:lstStyle/>
          <a:p>
            <a:pPr algn="ctr"/>
            <a:r>
              <a:rPr sz="1100" b="1" i="0">
                <a:solidFill>
                  <a:srgbClr val="FFFFFF"/>
                </a:solidFill>
                <a:latin typeface="Calibri"/>
              </a:rPr>
              <a:t>Phase 2B</a:t>
            </a:r>
          </a:p>
        </p:txBody>
      </p:sp>
      <p:sp>
        <p:nvSpPr>
          <p:cNvPr id="17" name="TextBox 16"/>
          <p:cNvSpPr txBox="1"/>
          <p:nvPr/>
        </p:nvSpPr>
        <p:spPr>
          <a:xfrm>
            <a:off x="2469200" y="1690000"/>
            <a:ext cx="1920000" cy="220000"/>
          </a:xfrm>
          <a:prstGeom prst="rect">
            <a:avLst/>
          </a:prstGeom>
          <a:noFill/>
        </p:spPr>
        <p:txBody>
          <a:bodyPr wrap="square">
            <a:spAutoFit/>
          </a:bodyPr>
          <a:lstStyle/>
          <a:p>
            <a:pPr algn="ctr"/>
            <a:r>
              <a:rPr sz="1300" b="1" i="0">
                <a:solidFill>
                  <a:srgbClr val="F5A623"/>
                </a:solidFill>
                <a:latin typeface="Calibri"/>
              </a:rPr>
              <a:t>Authorization Engine</a:t>
            </a:r>
          </a:p>
        </p:txBody>
      </p:sp>
      <p:sp>
        <p:nvSpPr>
          <p:cNvPr id="18" name="TextBox 17"/>
          <p:cNvSpPr txBox="1"/>
          <p:nvPr/>
        </p:nvSpPr>
        <p:spPr>
          <a:xfrm>
            <a:off x="2530160" y="1940000"/>
            <a:ext cx="1800000" cy="340000"/>
          </a:xfrm>
          <a:prstGeom prst="rect">
            <a:avLst/>
          </a:prstGeom>
          <a:noFill/>
        </p:spPr>
        <p:txBody>
          <a:bodyPr wrap="square">
            <a:spAutoFit/>
          </a:bodyPr>
          <a:lstStyle/>
          <a:p>
            <a:pPr algn="l"/>
            <a:r>
              <a:rPr sz="900" b="0" i="0">
                <a:solidFill>
                  <a:srgbClr val="CADCFC"/>
                </a:solidFill>
                <a:latin typeface="Calibri"/>
              </a:rPr>
              <a:t>Three-point authorization check runs simultaneously</a:t>
            </a:r>
          </a:p>
        </p:txBody>
      </p:sp>
      <p:sp>
        <p:nvSpPr>
          <p:cNvPr id="19" name="TextBox 18"/>
          <p:cNvSpPr txBox="1"/>
          <p:nvPr/>
        </p:nvSpPr>
        <p:spPr>
          <a:xfrm>
            <a:off x="2530160" y="2270000"/>
            <a:ext cx="1800000" cy="340000"/>
          </a:xfrm>
          <a:prstGeom prst="rect">
            <a:avLst/>
          </a:prstGeom>
          <a:noFill/>
        </p:spPr>
        <p:txBody>
          <a:bodyPr wrap="square">
            <a:spAutoFit/>
          </a:bodyPr>
          <a:lstStyle/>
          <a:p>
            <a:pPr algn="l"/>
            <a:r>
              <a:rPr sz="900" b="0" i="0">
                <a:solidFill>
                  <a:srgbClr val="CADCFC"/>
                </a:solidFill>
                <a:latin typeface="Calibri"/>
              </a:rPr>
              <a:t>All checks must pass — any failure returns denial with reason</a:t>
            </a:r>
          </a:p>
        </p:txBody>
      </p:sp>
      <p:sp>
        <p:nvSpPr>
          <p:cNvPr id="20" name="TextBox 19"/>
          <p:cNvSpPr txBox="1"/>
          <p:nvPr/>
        </p:nvSpPr>
        <p:spPr>
          <a:xfrm>
            <a:off x="2530160" y="2600000"/>
            <a:ext cx="1800000" cy="340000"/>
          </a:xfrm>
          <a:prstGeom prst="rect">
            <a:avLst/>
          </a:prstGeom>
          <a:noFill/>
        </p:spPr>
        <p:txBody>
          <a:bodyPr wrap="square">
            <a:spAutoFit/>
          </a:bodyPr>
          <a:lstStyle/>
          <a:p>
            <a:pPr algn="l"/>
            <a:r>
              <a:rPr sz="900" b="0" i="0">
                <a:solidFill>
                  <a:srgbClr val="CADCFC"/>
                </a:solidFill>
                <a:latin typeface="Calibri"/>
              </a:rPr>
              <a:t>No flight proceeds without a valid authorization token</a:t>
            </a:r>
          </a:p>
        </p:txBody>
      </p:sp>
      <p:sp>
        <p:nvSpPr>
          <p:cNvPr id="21" name="Can 20"/>
          <p:cNvSpPr/>
          <p:nvPr/>
        </p:nvSpPr>
        <p:spPr>
          <a:xfrm>
            <a:off x="4419200" y="2705700"/>
            <a:ext cx="305600" cy="228600"/>
          </a:xfrm>
          <a:prstGeom prst="can">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54800" y="1420000"/>
            <a:ext cx="1920000" cy="2800000"/>
          </a:xfrm>
          <a:prstGeom prst="rect">
            <a:avLst/>
          </a:prstGeom>
          <a:solidFill>
            <a:srgbClr val="1E3A5F"/>
          </a:solidFill>
          <a:ln w="19050">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54800" y="1420000"/>
            <a:ext cx="1920000" cy="26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00" y="1450000"/>
            <a:ext cx="1920000" cy="200000"/>
          </a:xfrm>
          <a:prstGeom prst="rect">
            <a:avLst/>
          </a:prstGeom>
          <a:noFill/>
        </p:spPr>
        <p:txBody>
          <a:bodyPr wrap="square">
            <a:spAutoFit/>
          </a:bodyPr>
          <a:lstStyle/>
          <a:p>
            <a:pPr algn="ctr"/>
            <a:r>
              <a:rPr sz="1100" b="1" i="0">
                <a:solidFill>
                  <a:srgbClr val="FFFFFF"/>
                </a:solidFill>
                <a:latin typeface="Calibri"/>
              </a:rPr>
              <a:t>Phase 2C</a:t>
            </a:r>
          </a:p>
        </p:txBody>
      </p:sp>
      <p:sp>
        <p:nvSpPr>
          <p:cNvPr id="25" name="TextBox 24"/>
          <p:cNvSpPr txBox="1"/>
          <p:nvPr/>
        </p:nvSpPr>
        <p:spPr>
          <a:xfrm>
            <a:off x="4754800" y="1690000"/>
            <a:ext cx="1920000" cy="220000"/>
          </a:xfrm>
          <a:prstGeom prst="rect">
            <a:avLst/>
          </a:prstGeom>
          <a:noFill/>
        </p:spPr>
        <p:txBody>
          <a:bodyPr wrap="square">
            <a:spAutoFit/>
          </a:bodyPr>
          <a:lstStyle/>
          <a:p>
            <a:pPr algn="ctr"/>
            <a:r>
              <a:rPr sz="1300" b="1" i="0">
                <a:solidFill>
                  <a:srgbClr val="02C39A"/>
                </a:solidFill>
                <a:latin typeface="Calibri"/>
              </a:rPr>
              <a:t>Mission Signing</a:t>
            </a:r>
          </a:p>
        </p:txBody>
      </p:sp>
      <p:sp>
        <p:nvSpPr>
          <p:cNvPr id="26" name="TextBox 25"/>
          <p:cNvSpPr txBox="1"/>
          <p:nvPr/>
        </p:nvSpPr>
        <p:spPr>
          <a:xfrm>
            <a:off x="4815760" y="1940000"/>
            <a:ext cx="1800000" cy="340000"/>
          </a:xfrm>
          <a:prstGeom prst="rect">
            <a:avLst/>
          </a:prstGeom>
          <a:noFill/>
        </p:spPr>
        <p:txBody>
          <a:bodyPr wrap="square">
            <a:spAutoFit/>
          </a:bodyPr>
          <a:lstStyle/>
          <a:p>
            <a:pPr algn="l"/>
            <a:r>
              <a:rPr sz="900" b="0" i="0">
                <a:solidFill>
                  <a:srgbClr val="CADCFC"/>
                </a:solidFill>
                <a:latin typeface="Calibri"/>
              </a:rPr>
              <a:t>Authorized mission package cryptographically signed</a:t>
            </a:r>
          </a:p>
        </p:txBody>
      </p:sp>
      <p:sp>
        <p:nvSpPr>
          <p:cNvPr id="27" name="TextBox 26"/>
          <p:cNvSpPr txBox="1"/>
          <p:nvPr/>
        </p:nvSpPr>
        <p:spPr>
          <a:xfrm>
            <a:off x="4815760" y="2270000"/>
            <a:ext cx="1800000" cy="340000"/>
          </a:xfrm>
          <a:prstGeom prst="rect">
            <a:avLst/>
          </a:prstGeom>
          <a:noFill/>
        </p:spPr>
        <p:txBody>
          <a:bodyPr wrap="square">
            <a:spAutoFit/>
          </a:bodyPr>
          <a:lstStyle/>
          <a:p>
            <a:pPr algn="l"/>
            <a:r>
              <a:rPr sz="900" b="0" i="0">
                <a:solidFill>
                  <a:srgbClr val="CADCFC"/>
                </a:solidFill>
                <a:latin typeface="Calibri"/>
              </a:rPr>
              <a:t>Tamper-evident record created before wheels-up</a:t>
            </a:r>
          </a:p>
        </p:txBody>
      </p:sp>
      <p:sp>
        <p:nvSpPr>
          <p:cNvPr id="28" name="TextBox 27"/>
          <p:cNvSpPr txBox="1"/>
          <p:nvPr/>
        </p:nvSpPr>
        <p:spPr>
          <a:xfrm>
            <a:off x="4815760" y="2600000"/>
            <a:ext cx="1800000" cy="340000"/>
          </a:xfrm>
          <a:prstGeom prst="rect">
            <a:avLst/>
          </a:prstGeom>
          <a:noFill/>
        </p:spPr>
        <p:txBody>
          <a:bodyPr wrap="square">
            <a:spAutoFit/>
          </a:bodyPr>
          <a:lstStyle/>
          <a:p>
            <a:pPr algn="l"/>
            <a:r>
              <a:rPr sz="900" b="0" i="0">
                <a:solidFill>
                  <a:srgbClr val="CADCFC"/>
                </a:solidFill>
                <a:latin typeface="Calibri"/>
              </a:rPr>
              <a:t>Auditable by FAA, UMMS, insurers at any time</a:t>
            </a:r>
          </a:p>
        </p:txBody>
      </p:sp>
      <p:sp>
        <p:nvSpPr>
          <p:cNvPr id="29" name="Can 28"/>
          <p:cNvSpPr/>
          <p:nvPr/>
        </p:nvSpPr>
        <p:spPr>
          <a:xfrm>
            <a:off x="6704800" y="2705700"/>
            <a:ext cx="305600" cy="228600"/>
          </a:xfrm>
          <a:prstGeom prst="can">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40400" y="1420000"/>
            <a:ext cx="1920000" cy="2800000"/>
          </a:xfrm>
          <a:prstGeom prst="rect">
            <a:avLst/>
          </a:prstGeom>
          <a:solidFill>
            <a:srgbClr val="1E3A5F"/>
          </a:solidFill>
          <a:ln w="1905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040400" y="1420000"/>
            <a:ext cx="1920000" cy="260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40400" y="1450000"/>
            <a:ext cx="1920000" cy="200000"/>
          </a:xfrm>
          <a:prstGeom prst="rect">
            <a:avLst/>
          </a:prstGeom>
          <a:noFill/>
        </p:spPr>
        <p:txBody>
          <a:bodyPr wrap="square">
            <a:spAutoFit/>
          </a:bodyPr>
          <a:lstStyle/>
          <a:p>
            <a:pPr algn="ctr"/>
            <a:r>
              <a:rPr sz="1100" b="1" i="0">
                <a:solidFill>
                  <a:srgbClr val="1E3A5F"/>
                </a:solidFill>
                <a:latin typeface="Calibri"/>
              </a:rPr>
              <a:t>Phase 2D</a:t>
            </a:r>
          </a:p>
        </p:txBody>
      </p:sp>
      <p:sp>
        <p:nvSpPr>
          <p:cNvPr id="33" name="TextBox 32"/>
          <p:cNvSpPr txBox="1"/>
          <p:nvPr/>
        </p:nvSpPr>
        <p:spPr>
          <a:xfrm>
            <a:off x="7040400" y="1690000"/>
            <a:ext cx="1920000" cy="220000"/>
          </a:xfrm>
          <a:prstGeom prst="rect">
            <a:avLst/>
          </a:prstGeom>
          <a:noFill/>
        </p:spPr>
        <p:txBody>
          <a:bodyPr wrap="square">
            <a:spAutoFit/>
          </a:bodyPr>
          <a:lstStyle/>
          <a:p>
            <a:pPr algn="ctr"/>
            <a:r>
              <a:rPr sz="1300" b="1" i="0">
                <a:solidFill>
                  <a:srgbClr val="CADCFC"/>
                </a:solidFill>
                <a:latin typeface="Calibri"/>
              </a:rPr>
              <a:t>Compliance Write-Back</a:t>
            </a:r>
          </a:p>
        </p:txBody>
      </p:sp>
      <p:sp>
        <p:nvSpPr>
          <p:cNvPr id="34" name="TextBox 33"/>
          <p:cNvSpPr txBox="1"/>
          <p:nvPr/>
        </p:nvSpPr>
        <p:spPr>
          <a:xfrm>
            <a:off x="7101360" y="1940000"/>
            <a:ext cx="1800000" cy="369332"/>
          </a:xfrm>
          <a:prstGeom prst="rect">
            <a:avLst/>
          </a:prstGeom>
          <a:noFill/>
        </p:spPr>
        <p:txBody>
          <a:bodyPr wrap="square">
            <a:spAutoFit/>
          </a:bodyPr>
          <a:lstStyle/>
          <a:p>
            <a:pPr algn="l"/>
            <a:r>
              <a:rPr sz="900" b="0" i="0" dirty="0">
                <a:solidFill>
                  <a:srgbClr val="CADEFC"/>
                </a:solidFill>
                <a:latin typeface="Calibri"/>
              </a:rPr>
              <a:t>Post-flight actuals appended to signed record</a:t>
            </a:r>
          </a:p>
        </p:txBody>
      </p:sp>
      <p:sp>
        <p:nvSpPr>
          <p:cNvPr id="35" name="TextBox 34"/>
          <p:cNvSpPr txBox="1"/>
          <p:nvPr/>
        </p:nvSpPr>
        <p:spPr>
          <a:xfrm>
            <a:off x="7101360" y="2270000"/>
            <a:ext cx="1800000" cy="369332"/>
          </a:xfrm>
          <a:prstGeom prst="rect">
            <a:avLst/>
          </a:prstGeom>
          <a:noFill/>
        </p:spPr>
        <p:txBody>
          <a:bodyPr wrap="square">
            <a:spAutoFit/>
          </a:bodyPr>
          <a:lstStyle/>
          <a:p>
            <a:pPr algn="l"/>
            <a:r>
              <a:rPr sz="900" b="0" i="0" dirty="0">
                <a:solidFill>
                  <a:srgbClr val="CADEFC"/>
                </a:solidFill>
                <a:latin typeface="Calibri"/>
              </a:rPr>
              <a:t>Complete lifecycle audit trail: pre-flight to delivery confirm</a:t>
            </a:r>
          </a:p>
        </p:txBody>
      </p:sp>
      <p:sp>
        <p:nvSpPr>
          <p:cNvPr id="36" name="TextBox 35"/>
          <p:cNvSpPr txBox="1"/>
          <p:nvPr/>
        </p:nvSpPr>
        <p:spPr>
          <a:xfrm>
            <a:off x="7101360" y="2600000"/>
            <a:ext cx="1800000" cy="369332"/>
          </a:xfrm>
          <a:prstGeom prst="rect">
            <a:avLst/>
          </a:prstGeom>
          <a:noFill/>
        </p:spPr>
        <p:txBody>
          <a:bodyPr wrap="square">
            <a:spAutoFit/>
          </a:bodyPr>
          <a:lstStyle/>
          <a:p>
            <a:pPr algn="l"/>
            <a:r>
              <a:rPr sz="900" b="0" i="0" dirty="0">
                <a:solidFill>
                  <a:srgbClr val="CADEFC"/>
                </a:solidFill>
                <a:latin typeface="Calibri"/>
              </a:rPr>
              <a:t>Every flight makes MONK smarter and the network cheaper</a:t>
            </a:r>
          </a:p>
        </p:txBody>
      </p:sp>
      <p:sp>
        <p:nvSpPr>
          <p:cNvPr id="37" name="Rectangle 36"/>
          <p:cNvSpPr/>
          <p:nvPr/>
        </p:nvSpPr>
        <p:spPr>
          <a:xfrm>
            <a:off x="183600" y="4280000"/>
            <a:ext cx="8776800" cy="5486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4280000"/>
            <a:ext cx="8414000" cy="430887"/>
          </a:xfrm>
          <a:prstGeom prst="rect">
            <a:avLst/>
          </a:prstGeom>
          <a:noFill/>
        </p:spPr>
        <p:txBody>
          <a:bodyPr wrap="square">
            <a:spAutoFit/>
          </a:bodyPr>
          <a:lstStyle/>
          <a:p>
            <a:pPr algn="ctr"/>
            <a:r>
              <a:rPr sz="1100" b="1" i="1" dirty="0">
                <a:solidFill>
                  <a:srgbClr val="FFFFFF"/>
                </a:solidFill>
                <a:latin typeface="Calibri"/>
              </a:rPr>
              <a:t>Built on the KAI-</a:t>
            </a:r>
            <a:r>
              <a:rPr sz="1100" b="1" i="1" dirty="0" err="1">
                <a:solidFill>
                  <a:srgbClr val="FFFFFF"/>
                </a:solidFill>
                <a:latin typeface="Calibri"/>
              </a:rPr>
              <a:t>Netics</a:t>
            </a:r>
            <a:r>
              <a:rPr sz="1100" b="1" i="1" dirty="0">
                <a:solidFill>
                  <a:srgbClr val="FFFFFF"/>
                </a:solidFill>
                <a:latin typeface="Calibri"/>
              </a:rPr>
              <a:t> Core Engine already in production. </a:t>
            </a:r>
            <a:r>
              <a:rPr lang="en-US" sz="1100" b="1" i="1" dirty="0">
                <a:solidFill>
                  <a:srgbClr val="FFFFFF"/>
                </a:solidFill>
                <a:latin typeface="Calibri"/>
              </a:rPr>
              <a:t>As of the writing of this presentation n</a:t>
            </a:r>
            <a:r>
              <a:rPr sz="1100" b="1" i="1" dirty="0">
                <a:solidFill>
                  <a:srgbClr val="FFFFFF"/>
                </a:solidFill>
                <a:latin typeface="Calibri"/>
              </a:rPr>
              <a:t>o competitor has a hardware-anchored mission governance layer for commercial drone operations. MONK is being built before the mandate arrives.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000"/>
            <a:ext cx="8778240" cy="760000"/>
          </a:xfrm>
          <a:prstGeom prst="rect">
            <a:avLst/>
          </a:prstGeom>
          <a:noFill/>
        </p:spPr>
        <p:txBody>
          <a:bodyPr wrap="square">
            <a:spAutoFit/>
          </a:bodyPr>
          <a:lstStyle/>
          <a:p>
            <a:pPr algn="l"/>
            <a:r>
              <a:rPr sz="2200" b="1" i="0">
                <a:solidFill>
                  <a:srgbClr val="FFFFFF"/>
                </a:solidFill>
                <a:latin typeface="Calibri"/>
              </a:rPr>
              <a:t>Drone-as-Infrastructure (DaI): The Three-Layer Platform</a:t>
            </a:r>
          </a:p>
        </p:txBody>
      </p:sp>
      <p:sp>
        <p:nvSpPr>
          <p:cNvPr id="5" name="TextBox 4"/>
          <p:cNvSpPr txBox="1"/>
          <p:nvPr/>
        </p:nvSpPr>
        <p:spPr>
          <a:xfrm>
            <a:off x="365760" y="1060000"/>
            <a:ext cx="8778240" cy="260000"/>
          </a:xfrm>
          <a:prstGeom prst="rect">
            <a:avLst/>
          </a:prstGeom>
          <a:noFill/>
        </p:spPr>
        <p:txBody>
          <a:bodyPr wrap="square">
            <a:spAutoFit/>
          </a:bodyPr>
          <a:lstStyle/>
          <a:p>
            <a:pPr algn="ctr"/>
            <a:r>
              <a:rPr sz="1200" b="0" i="1">
                <a:solidFill>
                  <a:srgbClr val="028090"/>
                </a:solidFill>
                <a:latin typeface="Calibri"/>
              </a:rPr>
              <a:t>No competitor owns all three layers. That structural advantage is the moat.</a:t>
            </a:r>
          </a:p>
        </p:txBody>
      </p:sp>
      <p:sp>
        <p:nvSpPr>
          <p:cNvPr id="6" name="Rectangle 5"/>
          <p:cNvSpPr/>
          <p:nvPr/>
        </p:nvSpPr>
        <p:spPr>
          <a:xfrm>
            <a:off x="183600" y="1400000"/>
            <a:ext cx="2460000" cy="3374131"/>
          </a:xfrm>
          <a:prstGeom prst="rect">
            <a:avLst/>
          </a:prstGeom>
          <a:solidFill>
            <a:srgbClr val="1E3A5F"/>
          </a:solidFill>
          <a:ln w="1905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3600" y="1400000"/>
            <a:ext cx="2460000" cy="32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3600" y="1440000"/>
            <a:ext cx="2460000" cy="240000"/>
          </a:xfrm>
          <a:prstGeom prst="rect">
            <a:avLst/>
          </a:prstGeom>
          <a:noFill/>
        </p:spPr>
        <p:txBody>
          <a:bodyPr wrap="square">
            <a:spAutoFit/>
          </a:bodyPr>
          <a:lstStyle/>
          <a:p>
            <a:pPr algn="ctr"/>
            <a:r>
              <a:rPr sz="1300" b="1" i="0">
                <a:solidFill>
                  <a:srgbClr val="FFFFFF"/>
                </a:solidFill>
                <a:latin typeface="Calibri"/>
              </a:rPr>
              <a:t>PHYSICAL LAYER</a:t>
            </a:r>
          </a:p>
        </p:txBody>
      </p:sp>
      <p:sp>
        <p:nvSpPr>
          <p:cNvPr id="9" name="TextBox 8"/>
          <p:cNvSpPr txBox="1"/>
          <p:nvPr/>
        </p:nvSpPr>
        <p:spPr>
          <a:xfrm>
            <a:off x="183600" y="1720000"/>
            <a:ext cx="2460000" cy="261610"/>
          </a:xfrm>
          <a:prstGeom prst="rect">
            <a:avLst/>
          </a:prstGeom>
          <a:noFill/>
        </p:spPr>
        <p:txBody>
          <a:bodyPr wrap="square">
            <a:spAutoFit/>
          </a:bodyPr>
          <a:lstStyle/>
          <a:p>
            <a:pPr algn="ctr"/>
            <a:r>
              <a:rPr lang="en-US" sz="1100" b="1" dirty="0">
                <a:solidFill>
                  <a:srgbClr val="028090"/>
                </a:solidFill>
                <a:latin typeface="Calibri"/>
              </a:rPr>
              <a:t>KAI-</a:t>
            </a:r>
            <a:r>
              <a:rPr lang="en-US" sz="1100" b="1" dirty="0" err="1">
                <a:solidFill>
                  <a:srgbClr val="028090"/>
                </a:solidFill>
                <a:latin typeface="Calibri"/>
              </a:rPr>
              <a:t>Netics</a:t>
            </a:r>
            <a:r>
              <a:rPr lang="en-US" sz="1100" b="1" dirty="0">
                <a:solidFill>
                  <a:srgbClr val="028090"/>
                </a:solidFill>
                <a:latin typeface="Calibri"/>
              </a:rPr>
              <a:t> </a:t>
            </a:r>
            <a:r>
              <a:rPr sz="1100" b="1" i="0" dirty="0">
                <a:solidFill>
                  <a:srgbClr val="028090"/>
                </a:solidFill>
                <a:latin typeface="Calibri"/>
              </a:rPr>
              <a:t>(FP)</a:t>
            </a:r>
          </a:p>
        </p:txBody>
      </p:sp>
      <p:sp>
        <p:nvSpPr>
          <p:cNvPr id="10" name="TextBox 9"/>
          <p:cNvSpPr txBox="1"/>
          <p:nvPr/>
        </p:nvSpPr>
        <p:spPr>
          <a:xfrm>
            <a:off x="244560" y="1960000"/>
            <a:ext cx="2340000" cy="200000"/>
          </a:xfrm>
          <a:prstGeom prst="rect">
            <a:avLst/>
          </a:prstGeom>
          <a:noFill/>
        </p:spPr>
        <p:txBody>
          <a:bodyPr wrap="square">
            <a:spAutoFit/>
          </a:bodyPr>
          <a:lstStyle/>
          <a:p>
            <a:pPr algn="l"/>
            <a:r>
              <a:rPr sz="1100" b="1" i="0">
                <a:solidFill>
                  <a:srgbClr val="CADCFC"/>
                </a:solidFill>
                <a:latin typeface="Calibri"/>
              </a:rPr>
              <a:t>DFR Pads</a:t>
            </a:r>
          </a:p>
        </p:txBody>
      </p:sp>
      <p:sp>
        <p:nvSpPr>
          <p:cNvPr id="11" name="TextBox 10"/>
          <p:cNvSpPr txBox="1"/>
          <p:nvPr/>
        </p:nvSpPr>
        <p:spPr>
          <a:xfrm>
            <a:off x="244560" y="2150000"/>
            <a:ext cx="2340000" cy="646331"/>
          </a:xfrm>
          <a:prstGeom prst="rect">
            <a:avLst/>
          </a:prstGeom>
          <a:noFill/>
        </p:spPr>
        <p:txBody>
          <a:bodyPr wrap="square">
            <a:spAutoFit/>
          </a:bodyPr>
          <a:lstStyle/>
          <a:p>
            <a:pPr algn="l"/>
            <a:r>
              <a:rPr sz="900" b="0" i="0" dirty="0">
                <a:solidFill>
                  <a:srgbClr val="CADCFC"/>
                </a:solidFill>
                <a:latin typeface="Calibri"/>
              </a:rPr>
              <a:t>Drone launch, land &amp; charge at every delivery node</a:t>
            </a:r>
            <a:endParaRPr lang="en-US" sz="900" b="0" i="0" dirty="0">
              <a:solidFill>
                <a:srgbClr val="CADCFC"/>
              </a:solidFill>
              <a:latin typeface="Calibri"/>
            </a:endParaRPr>
          </a:p>
          <a:p>
            <a:pPr algn="l"/>
            <a:endParaRPr lang="en-US" sz="900" dirty="0">
              <a:solidFill>
                <a:srgbClr val="CADCFC"/>
              </a:solidFill>
              <a:latin typeface="Calibri"/>
            </a:endParaRPr>
          </a:p>
          <a:p>
            <a:pPr algn="l"/>
            <a:endParaRPr sz="900" b="0" i="0" dirty="0">
              <a:solidFill>
                <a:srgbClr val="CADCFC"/>
              </a:solidFill>
              <a:latin typeface="Calibri"/>
            </a:endParaRPr>
          </a:p>
        </p:txBody>
      </p:sp>
      <p:sp>
        <p:nvSpPr>
          <p:cNvPr id="12" name="TextBox 11"/>
          <p:cNvSpPr txBox="1"/>
          <p:nvPr/>
        </p:nvSpPr>
        <p:spPr>
          <a:xfrm>
            <a:off x="244560" y="2503842"/>
            <a:ext cx="2340000" cy="200000"/>
          </a:xfrm>
          <a:prstGeom prst="rect">
            <a:avLst/>
          </a:prstGeom>
          <a:noFill/>
        </p:spPr>
        <p:txBody>
          <a:bodyPr wrap="square">
            <a:spAutoFit/>
          </a:bodyPr>
          <a:lstStyle/>
          <a:p>
            <a:pPr algn="l"/>
            <a:r>
              <a:rPr sz="1100" b="1" i="0" dirty="0">
                <a:solidFill>
                  <a:srgbClr val="CADCFC"/>
                </a:solidFill>
                <a:latin typeface="Calibri"/>
              </a:rPr>
              <a:t>CURN Nodes</a:t>
            </a:r>
          </a:p>
        </p:txBody>
      </p:sp>
      <p:sp>
        <p:nvSpPr>
          <p:cNvPr id="13" name="TextBox 12"/>
          <p:cNvSpPr txBox="1"/>
          <p:nvPr/>
        </p:nvSpPr>
        <p:spPr>
          <a:xfrm>
            <a:off x="244560" y="2711564"/>
            <a:ext cx="2340000" cy="270000"/>
          </a:xfrm>
          <a:prstGeom prst="rect">
            <a:avLst/>
          </a:prstGeom>
          <a:noFill/>
        </p:spPr>
        <p:txBody>
          <a:bodyPr wrap="square">
            <a:spAutoFit/>
          </a:bodyPr>
          <a:lstStyle/>
          <a:p>
            <a:pPr algn="l"/>
            <a:r>
              <a:rPr sz="900" b="0" i="0" dirty="0">
                <a:solidFill>
                  <a:srgbClr val="CADCFC"/>
                </a:solidFill>
                <a:latin typeface="Calibri"/>
              </a:rPr>
              <a:t>FAA-authorized BVLOS corridor endpoints</a:t>
            </a:r>
          </a:p>
        </p:txBody>
      </p:sp>
      <p:sp>
        <p:nvSpPr>
          <p:cNvPr id="14" name="TextBox 13"/>
          <p:cNvSpPr txBox="1"/>
          <p:nvPr/>
        </p:nvSpPr>
        <p:spPr>
          <a:xfrm>
            <a:off x="240720" y="2990731"/>
            <a:ext cx="2340000" cy="200000"/>
          </a:xfrm>
          <a:prstGeom prst="rect">
            <a:avLst/>
          </a:prstGeom>
          <a:noFill/>
        </p:spPr>
        <p:txBody>
          <a:bodyPr wrap="square">
            <a:spAutoFit/>
          </a:bodyPr>
          <a:lstStyle/>
          <a:p>
            <a:pPr algn="l"/>
            <a:r>
              <a:rPr sz="1100" b="1" i="0" dirty="0">
                <a:solidFill>
                  <a:srgbClr val="CADCFC"/>
                </a:solidFill>
                <a:latin typeface="Calibri"/>
              </a:rPr>
              <a:t>Flight Ops</a:t>
            </a:r>
          </a:p>
        </p:txBody>
      </p:sp>
      <p:sp>
        <p:nvSpPr>
          <p:cNvPr id="15" name="TextBox 14"/>
          <p:cNvSpPr txBox="1"/>
          <p:nvPr/>
        </p:nvSpPr>
        <p:spPr>
          <a:xfrm>
            <a:off x="244560" y="3184335"/>
            <a:ext cx="2340000" cy="270000"/>
          </a:xfrm>
          <a:prstGeom prst="rect">
            <a:avLst/>
          </a:prstGeom>
          <a:noFill/>
        </p:spPr>
        <p:txBody>
          <a:bodyPr wrap="square">
            <a:spAutoFit/>
          </a:bodyPr>
          <a:lstStyle/>
          <a:p>
            <a:pPr algn="l"/>
            <a:r>
              <a:rPr sz="900" b="0" i="0" dirty="0">
                <a:solidFill>
                  <a:srgbClr val="CADCFC"/>
                </a:solidFill>
                <a:latin typeface="Calibri"/>
              </a:rPr>
              <a:t>Medical, inspection, DFR, C-UAS, shows</a:t>
            </a:r>
          </a:p>
        </p:txBody>
      </p:sp>
      <p:sp>
        <p:nvSpPr>
          <p:cNvPr id="16" name="TextBox 15"/>
          <p:cNvSpPr txBox="1"/>
          <p:nvPr/>
        </p:nvSpPr>
        <p:spPr>
          <a:xfrm>
            <a:off x="244560" y="4494552"/>
            <a:ext cx="2340000" cy="230832"/>
          </a:xfrm>
          <a:prstGeom prst="rect">
            <a:avLst/>
          </a:prstGeom>
          <a:noFill/>
        </p:spPr>
        <p:txBody>
          <a:bodyPr wrap="square">
            <a:spAutoFit/>
          </a:bodyPr>
          <a:lstStyle/>
          <a:p>
            <a:pPr algn="l"/>
            <a:r>
              <a:rPr sz="900" b="0" i="1" dirty="0">
                <a:solidFill>
                  <a:srgbClr val="028090"/>
                </a:solidFill>
                <a:latin typeface="Calibri"/>
              </a:rPr>
              <a:t>= Tesla</a:t>
            </a:r>
            <a:r>
              <a:rPr lang="en-US" sz="900" b="0" i="1" dirty="0">
                <a:solidFill>
                  <a:srgbClr val="028090"/>
                </a:solidFill>
                <a:latin typeface="Calibri"/>
              </a:rPr>
              <a:t> (TSLA)</a:t>
            </a:r>
            <a:r>
              <a:rPr sz="900" b="0" i="1" dirty="0">
                <a:solidFill>
                  <a:srgbClr val="028090"/>
                </a:solidFill>
                <a:latin typeface="Calibri"/>
              </a:rPr>
              <a:t> vehicle + Supercharger</a:t>
            </a:r>
          </a:p>
        </p:txBody>
      </p:sp>
      <p:sp>
        <p:nvSpPr>
          <p:cNvPr id="17" name="Rectangle 16"/>
          <p:cNvSpPr/>
          <p:nvPr/>
        </p:nvSpPr>
        <p:spPr>
          <a:xfrm>
            <a:off x="3192240" y="1400000"/>
            <a:ext cx="2460000" cy="3374131"/>
          </a:xfrm>
          <a:prstGeom prst="rect">
            <a:avLst/>
          </a:prstGeom>
          <a:solidFill>
            <a:srgbClr val="1E3A5F"/>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ectangle 17"/>
          <p:cNvSpPr/>
          <p:nvPr/>
        </p:nvSpPr>
        <p:spPr>
          <a:xfrm>
            <a:off x="3192240" y="1400000"/>
            <a:ext cx="2460000" cy="32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92240" y="1440000"/>
            <a:ext cx="2460000" cy="240000"/>
          </a:xfrm>
          <a:prstGeom prst="rect">
            <a:avLst/>
          </a:prstGeom>
          <a:noFill/>
        </p:spPr>
        <p:txBody>
          <a:bodyPr wrap="square">
            <a:spAutoFit/>
          </a:bodyPr>
          <a:lstStyle/>
          <a:p>
            <a:pPr algn="ctr"/>
            <a:r>
              <a:rPr sz="1300" b="1" i="0">
                <a:solidFill>
                  <a:srgbClr val="1E3A5F"/>
                </a:solidFill>
                <a:latin typeface="Calibri"/>
              </a:rPr>
              <a:t>HUMAN LAYER</a:t>
            </a:r>
          </a:p>
        </p:txBody>
      </p:sp>
      <p:sp>
        <p:nvSpPr>
          <p:cNvPr id="20" name="TextBox 19"/>
          <p:cNvSpPr txBox="1"/>
          <p:nvPr/>
        </p:nvSpPr>
        <p:spPr>
          <a:xfrm>
            <a:off x="3192240" y="1720000"/>
            <a:ext cx="2460000" cy="261610"/>
          </a:xfrm>
          <a:prstGeom prst="rect">
            <a:avLst/>
          </a:prstGeom>
          <a:noFill/>
        </p:spPr>
        <p:txBody>
          <a:bodyPr wrap="square">
            <a:spAutoFit/>
          </a:bodyPr>
          <a:lstStyle/>
          <a:p>
            <a:pPr algn="ctr"/>
            <a:r>
              <a:rPr sz="1100" b="1" i="0" dirty="0">
                <a:solidFill>
                  <a:srgbClr val="F5A623"/>
                </a:solidFill>
                <a:latin typeface="Calibri"/>
              </a:rPr>
              <a:t>E</a:t>
            </a:r>
            <a:r>
              <a:rPr lang="en-US" sz="1100" b="1" i="0" dirty="0">
                <a:solidFill>
                  <a:srgbClr val="F5A623"/>
                </a:solidFill>
                <a:latin typeface="Calibri"/>
              </a:rPr>
              <a:t>quity &amp; </a:t>
            </a:r>
            <a:r>
              <a:rPr sz="1100" b="1" i="0" dirty="0">
                <a:solidFill>
                  <a:srgbClr val="F5A623"/>
                </a:solidFill>
                <a:latin typeface="Calibri"/>
              </a:rPr>
              <a:t>A</a:t>
            </a:r>
            <a:r>
              <a:rPr lang="en-US" sz="1100" b="1" i="0" dirty="0">
                <a:solidFill>
                  <a:srgbClr val="F5A623"/>
                </a:solidFill>
                <a:latin typeface="Calibri"/>
              </a:rPr>
              <a:t>utonomy </a:t>
            </a:r>
            <a:r>
              <a:rPr sz="1100" b="1" i="0" dirty="0">
                <a:solidFill>
                  <a:srgbClr val="F5A623"/>
                </a:solidFill>
                <a:latin typeface="Calibri"/>
              </a:rPr>
              <a:t>F</a:t>
            </a:r>
            <a:r>
              <a:rPr lang="en-US" sz="1100" b="1" i="0" dirty="0">
                <a:solidFill>
                  <a:srgbClr val="F5A623"/>
                </a:solidFill>
                <a:latin typeface="Calibri"/>
              </a:rPr>
              <a:t>oundry</a:t>
            </a:r>
            <a:r>
              <a:rPr sz="1100" b="1" i="0" dirty="0">
                <a:solidFill>
                  <a:srgbClr val="F5A623"/>
                </a:solidFill>
                <a:latin typeface="Calibri"/>
              </a:rPr>
              <a:t> (501c3)</a:t>
            </a:r>
          </a:p>
        </p:txBody>
      </p:sp>
      <p:sp>
        <p:nvSpPr>
          <p:cNvPr id="21" name="TextBox 20"/>
          <p:cNvSpPr txBox="1"/>
          <p:nvPr/>
        </p:nvSpPr>
        <p:spPr>
          <a:xfrm>
            <a:off x="3253200" y="1960000"/>
            <a:ext cx="2340000" cy="200000"/>
          </a:xfrm>
          <a:prstGeom prst="rect">
            <a:avLst/>
          </a:prstGeom>
          <a:noFill/>
        </p:spPr>
        <p:txBody>
          <a:bodyPr wrap="square">
            <a:spAutoFit/>
          </a:bodyPr>
          <a:lstStyle/>
          <a:p>
            <a:pPr algn="l"/>
            <a:r>
              <a:rPr sz="1100" b="1" i="0">
                <a:solidFill>
                  <a:srgbClr val="CADCFC"/>
                </a:solidFill>
                <a:latin typeface="Calibri"/>
              </a:rPr>
              <a:t>CAKO Pipeline</a:t>
            </a:r>
          </a:p>
        </p:txBody>
      </p:sp>
      <p:sp>
        <p:nvSpPr>
          <p:cNvPr id="22" name="TextBox 21"/>
          <p:cNvSpPr txBox="1"/>
          <p:nvPr/>
        </p:nvSpPr>
        <p:spPr>
          <a:xfrm>
            <a:off x="3253200" y="2150000"/>
            <a:ext cx="2340000" cy="270000"/>
          </a:xfrm>
          <a:prstGeom prst="rect">
            <a:avLst/>
          </a:prstGeom>
          <a:noFill/>
        </p:spPr>
        <p:txBody>
          <a:bodyPr wrap="square">
            <a:spAutoFit/>
          </a:bodyPr>
          <a:lstStyle/>
          <a:p>
            <a:pPr algn="l"/>
            <a:r>
              <a:rPr sz="900" b="0" i="0">
                <a:solidFill>
                  <a:srgbClr val="CADCFC"/>
                </a:solidFill>
                <a:latin typeface="Calibri"/>
              </a:rPr>
              <a:t>Baltimore residents trained as FAA Part 107 operators</a:t>
            </a:r>
          </a:p>
        </p:txBody>
      </p:sp>
      <p:sp>
        <p:nvSpPr>
          <p:cNvPr id="23" name="TextBox 22"/>
          <p:cNvSpPr txBox="1"/>
          <p:nvPr/>
        </p:nvSpPr>
        <p:spPr>
          <a:xfrm>
            <a:off x="3252240" y="2536209"/>
            <a:ext cx="2340000" cy="200000"/>
          </a:xfrm>
          <a:prstGeom prst="rect">
            <a:avLst/>
          </a:prstGeom>
          <a:noFill/>
        </p:spPr>
        <p:txBody>
          <a:bodyPr wrap="square">
            <a:spAutoFit/>
          </a:bodyPr>
          <a:lstStyle/>
          <a:p>
            <a:pPr algn="l"/>
            <a:r>
              <a:rPr sz="1100" b="1" i="0" dirty="0">
                <a:solidFill>
                  <a:srgbClr val="CADCFC"/>
                </a:solidFill>
                <a:latin typeface="Calibri"/>
              </a:rPr>
              <a:t>Grant-Funded</a:t>
            </a:r>
          </a:p>
        </p:txBody>
      </p:sp>
      <p:sp>
        <p:nvSpPr>
          <p:cNvPr id="24" name="TextBox 23"/>
          <p:cNvSpPr txBox="1"/>
          <p:nvPr/>
        </p:nvSpPr>
        <p:spPr>
          <a:xfrm>
            <a:off x="3253200" y="2743604"/>
            <a:ext cx="2340000" cy="270000"/>
          </a:xfrm>
          <a:prstGeom prst="rect">
            <a:avLst/>
          </a:prstGeom>
          <a:noFill/>
        </p:spPr>
        <p:txBody>
          <a:bodyPr wrap="square">
            <a:spAutoFit/>
          </a:bodyPr>
          <a:lstStyle/>
          <a:p>
            <a:pPr algn="l"/>
            <a:r>
              <a:rPr sz="900" b="0" i="0" dirty="0">
                <a:solidFill>
                  <a:srgbClr val="CADCFC"/>
                </a:solidFill>
                <a:latin typeface="Calibri"/>
              </a:rPr>
              <a:t>EARN, FEMA SHSP, CDBG — zero cost to FP</a:t>
            </a:r>
          </a:p>
        </p:txBody>
      </p:sp>
      <p:sp>
        <p:nvSpPr>
          <p:cNvPr id="25" name="TextBox 24"/>
          <p:cNvSpPr txBox="1"/>
          <p:nvPr/>
        </p:nvSpPr>
        <p:spPr>
          <a:xfrm>
            <a:off x="3253200" y="2986973"/>
            <a:ext cx="2340000" cy="200000"/>
          </a:xfrm>
          <a:prstGeom prst="rect">
            <a:avLst/>
          </a:prstGeom>
          <a:noFill/>
        </p:spPr>
        <p:txBody>
          <a:bodyPr wrap="square">
            <a:spAutoFit/>
          </a:bodyPr>
          <a:lstStyle/>
          <a:p>
            <a:pPr algn="l"/>
            <a:r>
              <a:rPr sz="1100" b="1" i="0" dirty="0">
                <a:solidFill>
                  <a:srgbClr val="CADCFC"/>
                </a:solidFill>
                <a:latin typeface="Calibri"/>
              </a:rPr>
              <a:t>Talent Pipeline</a:t>
            </a:r>
          </a:p>
        </p:txBody>
      </p:sp>
      <p:sp>
        <p:nvSpPr>
          <p:cNvPr id="26" name="TextBox 25"/>
          <p:cNvSpPr txBox="1"/>
          <p:nvPr/>
        </p:nvSpPr>
        <p:spPr>
          <a:xfrm>
            <a:off x="3253200" y="3166266"/>
            <a:ext cx="2340000" cy="270000"/>
          </a:xfrm>
          <a:prstGeom prst="rect">
            <a:avLst/>
          </a:prstGeom>
          <a:noFill/>
        </p:spPr>
        <p:txBody>
          <a:bodyPr wrap="square">
            <a:spAutoFit/>
          </a:bodyPr>
          <a:lstStyle/>
          <a:p>
            <a:pPr algn="l"/>
            <a:r>
              <a:rPr sz="900" b="0" i="0" dirty="0">
                <a:solidFill>
                  <a:srgbClr val="CADCFC"/>
                </a:solidFill>
                <a:latin typeface="Calibri"/>
              </a:rPr>
              <a:t>CAKO graduates hired by FP at market-rate wages</a:t>
            </a:r>
          </a:p>
        </p:txBody>
      </p:sp>
      <p:sp>
        <p:nvSpPr>
          <p:cNvPr id="27" name="TextBox 26"/>
          <p:cNvSpPr txBox="1"/>
          <p:nvPr/>
        </p:nvSpPr>
        <p:spPr>
          <a:xfrm>
            <a:off x="3253200" y="4518617"/>
            <a:ext cx="2340000" cy="230832"/>
          </a:xfrm>
          <a:prstGeom prst="rect">
            <a:avLst/>
          </a:prstGeom>
          <a:noFill/>
        </p:spPr>
        <p:txBody>
          <a:bodyPr wrap="square">
            <a:spAutoFit/>
          </a:bodyPr>
          <a:lstStyle/>
          <a:p>
            <a:pPr algn="l"/>
            <a:r>
              <a:rPr sz="900" b="0" i="1" dirty="0">
                <a:solidFill>
                  <a:srgbClr val="F5A623"/>
                </a:solidFill>
                <a:latin typeface="Calibri"/>
              </a:rPr>
              <a:t>= T</a:t>
            </a:r>
            <a:r>
              <a:rPr lang="en-US" sz="900" b="0" i="1" dirty="0">
                <a:solidFill>
                  <a:srgbClr val="F5A623"/>
                </a:solidFill>
                <a:latin typeface="Calibri"/>
              </a:rPr>
              <a:t>SLA</a:t>
            </a:r>
            <a:r>
              <a:rPr sz="900" b="0" i="1" dirty="0">
                <a:solidFill>
                  <a:srgbClr val="F5A623"/>
                </a:solidFill>
                <a:latin typeface="Calibri"/>
              </a:rPr>
              <a:t> Gigafactory</a:t>
            </a:r>
          </a:p>
        </p:txBody>
      </p:sp>
      <p:sp>
        <p:nvSpPr>
          <p:cNvPr id="28" name="Rectangle 27"/>
          <p:cNvSpPr/>
          <p:nvPr/>
        </p:nvSpPr>
        <p:spPr>
          <a:xfrm>
            <a:off x="6200880" y="1400000"/>
            <a:ext cx="2460000" cy="3374131"/>
          </a:xfrm>
          <a:prstGeom prst="rect">
            <a:avLst/>
          </a:prstGeom>
          <a:solidFill>
            <a:srgbClr val="1E3A5F"/>
          </a:solidFill>
          <a:ln w="19050">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00880" y="1400000"/>
            <a:ext cx="2460000" cy="32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00880" y="1440000"/>
            <a:ext cx="2460000" cy="240000"/>
          </a:xfrm>
          <a:prstGeom prst="rect">
            <a:avLst/>
          </a:prstGeom>
          <a:noFill/>
        </p:spPr>
        <p:txBody>
          <a:bodyPr wrap="square">
            <a:spAutoFit/>
          </a:bodyPr>
          <a:lstStyle/>
          <a:p>
            <a:pPr algn="ctr"/>
            <a:r>
              <a:rPr sz="1300" b="1" i="0">
                <a:solidFill>
                  <a:srgbClr val="1E3A5F"/>
                </a:solidFill>
                <a:latin typeface="Calibri"/>
              </a:rPr>
              <a:t>SOFTWARE LAYER</a:t>
            </a:r>
          </a:p>
        </p:txBody>
      </p:sp>
      <p:sp>
        <p:nvSpPr>
          <p:cNvPr id="31" name="TextBox 30"/>
          <p:cNvSpPr txBox="1"/>
          <p:nvPr/>
        </p:nvSpPr>
        <p:spPr>
          <a:xfrm>
            <a:off x="6200880" y="1720000"/>
            <a:ext cx="2460000" cy="200000"/>
          </a:xfrm>
          <a:prstGeom prst="rect">
            <a:avLst/>
          </a:prstGeom>
          <a:noFill/>
        </p:spPr>
        <p:txBody>
          <a:bodyPr wrap="square">
            <a:spAutoFit/>
          </a:bodyPr>
          <a:lstStyle/>
          <a:p>
            <a:pPr algn="ctr"/>
            <a:r>
              <a:rPr sz="1100" b="1" i="0" dirty="0">
                <a:solidFill>
                  <a:srgbClr val="02C39A"/>
                </a:solidFill>
                <a:latin typeface="Calibri"/>
              </a:rPr>
              <a:t>MONK LLC</a:t>
            </a:r>
          </a:p>
        </p:txBody>
      </p:sp>
      <p:sp>
        <p:nvSpPr>
          <p:cNvPr id="32" name="TextBox 31"/>
          <p:cNvSpPr txBox="1"/>
          <p:nvPr/>
        </p:nvSpPr>
        <p:spPr>
          <a:xfrm>
            <a:off x="6261840" y="1960000"/>
            <a:ext cx="2340000" cy="200000"/>
          </a:xfrm>
          <a:prstGeom prst="rect">
            <a:avLst/>
          </a:prstGeom>
          <a:noFill/>
        </p:spPr>
        <p:txBody>
          <a:bodyPr wrap="square">
            <a:spAutoFit/>
          </a:bodyPr>
          <a:lstStyle/>
          <a:p>
            <a:pPr algn="l"/>
            <a:r>
              <a:rPr sz="1100" b="1" i="0">
                <a:solidFill>
                  <a:srgbClr val="CADCFC"/>
                </a:solidFill>
                <a:latin typeface="Calibri"/>
              </a:rPr>
              <a:t>AKMS AI</a:t>
            </a:r>
          </a:p>
        </p:txBody>
      </p:sp>
      <p:sp>
        <p:nvSpPr>
          <p:cNvPr id="33" name="TextBox 32"/>
          <p:cNvSpPr txBox="1"/>
          <p:nvPr/>
        </p:nvSpPr>
        <p:spPr>
          <a:xfrm>
            <a:off x="6261840" y="2150000"/>
            <a:ext cx="2340000" cy="270000"/>
          </a:xfrm>
          <a:prstGeom prst="rect">
            <a:avLst/>
          </a:prstGeom>
          <a:noFill/>
        </p:spPr>
        <p:txBody>
          <a:bodyPr wrap="square">
            <a:spAutoFit/>
          </a:bodyPr>
          <a:lstStyle/>
          <a:p>
            <a:pPr algn="l"/>
            <a:r>
              <a:rPr sz="900" b="0" i="0">
                <a:solidFill>
                  <a:srgbClr val="CADCFC"/>
                </a:solidFill>
                <a:latin typeface="Calibri"/>
              </a:rPr>
              <a:t>Agent dispatch; drives cost-per-flight down with every delivery</a:t>
            </a:r>
          </a:p>
        </p:txBody>
      </p:sp>
      <p:sp>
        <p:nvSpPr>
          <p:cNvPr id="34" name="TextBox 33"/>
          <p:cNvSpPr txBox="1"/>
          <p:nvPr/>
        </p:nvSpPr>
        <p:spPr>
          <a:xfrm>
            <a:off x="6260880" y="2536209"/>
            <a:ext cx="2340000" cy="200000"/>
          </a:xfrm>
          <a:prstGeom prst="rect">
            <a:avLst/>
          </a:prstGeom>
          <a:noFill/>
        </p:spPr>
        <p:txBody>
          <a:bodyPr wrap="square">
            <a:spAutoFit/>
          </a:bodyPr>
          <a:lstStyle/>
          <a:p>
            <a:pPr algn="l"/>
            <a:r>
              <a:rPr sz="1100" b="1" i="0" dirty="0">
                <a:solidFill>
                  <a:srgbClr val="CADCFC"/>
                </a:solidFill>
                <a:latin typeface="Calibri"/>
              </a:rPr>
              <a:t>MONK Trust</a:t>
            </a:r>
          </a:p>
        </p:txBody>
      </p:sp>
      <p:sp>
        <p:nvSpPr>
          <p:cNvPr id="35" name="TextBox 34"/>
          <p:cNvSpPr txBox="1"/>
          <p:nvPr/>
        </p:nvSpPr>
        <p:spPr>
          <a:xfrm>
            <a:off x="6261840" y="2730000"/>
            <a:ext cx="2340000" cy="270000"/>
          </a:xfrm>
          <a:prstGeom prst="rect">
            <a:avLst/>
          </a:prstGeom>
          <a:noFill/>
        </p:spPr>
        <p:txBody>
          <a:bodyPr wrap="square">
            <a:spAutoFit/>
          </a:bodyPr>
          <a:lstStyle/>
          <a:p>
            <a:pPr algn="l"/>
            <a:r>
              <a:rPr sz="900" b="0" i="0" dirty="0">
                <a:solidFill>
                  <a:srgbClr val="CADCFC"/>
                </a:solidFill>
                <a:latin typeface="Calibri"/>
              </a:rPr>
              <a:t>Low Altitude Authorization &amp; Notification Capability (LAANC) + cryptographic signing + tamper-evident compliance</a:t>
            </a:r>
          </a:p>
        </p:txBody>
      </p:sp>
      <p:sp>
        <p:nvSpPr>
          <p:cNvPr id="36" name="TextBox 35"/>
          <p:cNvSpPr txBox="1"/>
          <p:nvPr/>
        </p:nvSpPr>
        <p:spPr>
          <a:xfrm>
            <a:off x="6260880" y="3260000"/>
            <a:ext cx="2340000" cy="200000"/>
          </a:xfrm>
          <a:prstGeom prst="rect">
            <a:avLst/>
          </a:prstGeom>
          <a:noFill/>
        </p:spPr>
        <p:txBody>
          <a:bodyPr wrap="square">
            <a:spAutoFit/>
          </a:bodyPr>
          <a:lstStyle/>
          <a:p>
            <a:pPr algn="l"/>
            <a:r>
              <a:rPr sz="1100" b="1" i="0" dirty="0">
                <a:solidFill>
                  <a:srgbClr val="CADCFC"/>
                </a:solidFill>
                <a:latin typeface="Calibri"/>
              </a:rPr>
              <a:t>IP Licensing</a:t>
            </a:r>
          </a:p>
        </p:txBody>
      </p:sp>
      <p:sp>
        <p:nvSpPr>
          <p:cNvPr id="37" name="TextBox 36"/>
          <p:cNvSpPr txBox="1"/>
          <p:nvPr/>
        </p:nvSpPr>
        <p:spPr>
          <a:xfrm>
            <a:off x="6260880" y="3436266"/>
            <a:ext cx="2340000" cy="270000"/>
          </a:xfrm>
          <a:prstGeom prst="rect">
            <a:avLst/>
          </a:prstGeom>
          <a:noFill/>
        </p:spPr>
        <p:txBody>
          <a:bodyPr wrap="square">
            <a:spAutoFit/>
          </a:bodyPr>
          <a:lstStyle/>
          <a:p>
            <a:pPr algn="l"/>
            <a:r>
              <a:rPr sz="900" b="0" i="0" dirty="0">
                <a:solidFill>
                  <a:srgbClr val="CADCFC"/>
                </a:solidFill>
                <a:latin typeface="Calibri"/>
              </a:rPr>
              <a:t>Licensable to operators, municipalities, DHS approved tech list</a:t>
            </a:r>
          </a:p>
        </p:txBody>
      </p:sp>
      <p:sp>
        <p:nvSpPr>
          <p:cNvPr id="38" name="TextBox 37"/>
          <p:cNvSpPr txBox="1"/>
          <p:nvPr/>
        </p:nvSpPr>
        <p:spPr>
          <a:xfrm>
            <a:off x="6260880" y="4522531"/>
            <a:ext cx="2340000" cy="230832"/>
          </a:xfrm>
          <a:prstGeom prst="rect">
            <a:avLst/>
          </a:prstGeom>
          <a:noFill/>
        </p:spPr>
        <p:txBody>
          <a:bodyPr wrap="square">
            <a:spAutoFit/>
          </a:bodyPr>
          <a:lstStyle/>
          <a:p>
            <a:pPr algn="l"/>
            <a:r>
              <a:rPr sz="900" b="0" i="1" dirty="0">
                <a:solidFill>
                  <a:srgbClr val="02C39A"/>
                </a:solidFill>
                <a:latin typeface="Calibri"/>
              </a:rPr>
              <a:t>= </a:t>
            </a:r>
            <a:r>
              <a:rPr lang="en-US" sz="900" b="0" i="1" dirty="0">
                <a:solidFill>
                  <a:srgbClr val="02C39A"/>
                </a:solidFill>
                <a:latin typeface="Calibri"/>
              </a:rPr>
              <a:t>TSLA Full-Service Driving</a:t>
            </a:r>
            <a:r>
              <a:rPr sz="900" b="0" i="1" dirty="0">
                <a:solidFill>
                  <a:srgbClr val="02C39A"/>
                </a:solidFill>
                <a:latin typeface="Calibri"/>
              </a:rPr>
              <a:t> </a:t>
            </a:r>
            <a:r>
              <a:rPr lang="en-US" sz="900" b="0" i="1" dirty="0">
                <a:solidFill>
                  <a:srgbClr val="02C39A"/>
                </a:solidFill>
                <a:latin typeface="Calibri"/>
              </a:rPr>
              <a:t>(</a:t>
            </a:r>
            <a:r>
              <a:rPr sz="900" b="0" i="1" dirty="0">
                <a:solidFill>
                  <a:srgbClr val="02C39A"/>
                </a:solidFill>
                <a:latin typeface="Calibri"/>
              </a:rPr>
              <a:t>FSD</a:t>
            </a:r>
            <a:r>
              <a:rPr lang="en-US" sz="900" b="0" i="1" dirty="0">
                <a:solidFill>
                  <a:srgbClr val="02C39A"/>
                </a:solidFill>
                <a:latin typeface="Calibri"/>
              </a:rPr>
              <a:t>)</a:t>
            </a:r>
            <a:r>
              <a:rPr sz="900" b="0" i="1" dirty="0">
                <a:solidFill>
                  <a:srgbClr val="02C39A"/>
                </a:solidFill>
                <a:latin typeface="Calibri"/>
              </a:rPr>
              <a:t> data licensing</a:t>
            </a:r>
          </a:p>
        </p:txBody>
      </p:sp>
      <p:sp>
        <p:nvSpPr>
          <p:cNvPr id="39" name="Can 38"/>
          <p:cNvSpPr/>
          <p:nvPr/>
        </p:nvSpPr>
        <p:spPr>
          <a:xfrm>
            <a:off x="2703600" y="3065700"/>
            <a:ext cx="365760" cy="228600"/>
          </a:xfrm>
          <a:prstGeom prst="can">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an 39"/>
          <p:cNvSpPr/>
          <p:nvPr/>
        </p:nvSpPr>
        <p:spPr>
          <a:xfrm>
            <a:off x="5712240" y="3065700"/>
            <a:ext cx="365760" cy="228600"/>
          </a:xfrm>
          <a:prstGeom prst="can">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83600" y="4792302"/>
            <a:ext cx="8776800" cy="320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4792302"/>
            <a:ext cx="8414000" cy="320000"/>
          </a:xfrm>
          <a:prstGeom prst="rect">
            <a:avLst/>
          </a:prstGeom>
          <a:noFill/>
        </p:spPr>
        <p:txBody>
          <a:bodyPr wrap="square">
            <a:spAutoFit/>
          </a:bodyPr>
          <a:lstStyle/>
          <a:p>
            <a:pPr algn="ctr"/>
            <a:r>
              <a:rPr sz="1100" b="1" i="1" dirty="0">
                <a:solidFill>
                  <a:srgbClr val="FFFFFF"/>
                </a:solidFill>
                <a:latin typeface="Calibri"/>
              </a:rPr>
              <a:t>The flywheel: FP operations fund infrastructure → EAF workforce scales capacity → MONK data compounds in value → repeat.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1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0000" y="55000"/>
            <a:ext cx="8744000" cy="680000"/>
          </a:xfrm>
          <a:prstGeom prst="rect">
            <a:avLst/>
          </a:prstGeom>
          <a:noFill/>
        </p:spPr>
        <p:txBody>
          <a:bodyPr wrap="square">
            <a:spAutoFit/>
          </a:bodyPr>
          <a:lstStyle/>
          <a:p>
            <a:pPr algn="l"/>
            <a:r>
              <a:rPr sz="2200" b="1" i="0">
                <a:solidFill>
                  <a:srgbClr val="FFFFFF"/>
                </a:solidFill>
                <a:latin typeface="Calibri"/>
              </a:rPr>
              <a:t>The Jevons Argument: We Don't Replace Trips. We Create Them.</a:t>
            </a:r>
          </a:p>
        </p:txBody>
      </p:sp>
      <p:sp>
        <p:nvSpPr>
          <p:cNvPr id="5" name="Rectangle 4"/>
          <p:cNvSpPr/>
          <p:nvPr/>
        </p:nvSpPr>
        <p:spPr>
          <a:xfrm>
            <a:off x="300000" y="650000"/>
            <a:ext cx="8544000" cy="280000"/>
          </a:xfrm>
          <a:prstGeom prst="rect">
            <a:avLst/>
          </a:prstGeom>
          <a:solidFill>
            <a:srgbClr val="02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0000" y="668000"/>
            <a:ext cx="8424000" cy="248000"/>
          </a:xfrm>
          <a:prstGeom prst="rect">
            <a:avLst/>
          </a:prstGeom>
          <a:noFill/>
        </p:spPr>
        <p:txBody>
          <a:bodyPr wrap="square">
            <a:spAutoFit/>
          </a:bodyPr>
          <a:lstStyle/>
          <a:p>
            <a:pPr algn="l"/>
            <a:r>
              <a:rPr sz="850" b="0" i="1">
                <a:solidFill>
                  <a:srgbClr val="CCE0EC"/>
                </a:solidFill>
                <a:latin typeface="Calibri"/>
              </a:rPr>
              <a:t>Jevons Paradox: lower cost unlocks new demand. KAI-Netics doesn't compete for existing drone flights — it builds infrastructure that makes previously uneconomical trips viable for the first time.</a:t>
            </a:r>
          </a:p>
        </p:txBody>
      </p:sp>
      <p:sp>
        <p:nvSpPr>
          <p:cNvPr id="7" name="Rectangle 6"/>
          <p:cNvSpPr/>
          <p:nvPr/>
        </p:nvSpPr>
        <p:spPr>
          <a:xfrm>
            <a:off x="300000" y="1050000"/>
            <a:ext cx="5900000" cy="37935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00000" y="1050000"/>
            <a:ext cx="5900000" cy="38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0000" y="1115000"/>
            <a:ext cx="5740000" cy="200000"/>
          </a:xfrm>
          <a:prstGeom prst="rect">
            <a:avLst/>
          </a:prstGeom>
          <a:noFill/>
        </p:spPr>
        <p:txBody>
          <a:bodyPr wrap="square">
            <a:spAutoFit/>
          </a:bodyPr>
          <a:lstStyle/>
          <a:p>
            <a:pPr algn="l"/>
            <a:r>
              <a:rPr sz="1000" b="1" i="0">
                <a:solidFill>
                  <a:srgbClr val="028090"/>
                </a:solidFill>
                <a:latin typeface="Calibri"/>
              </a:rPr>
              <a:t>TODAY — Rationed by Price</a:t>
            </a:r>
          </a:p>
        </p:txBody>
      </p:sp>
      <p:sp>
        <p:nvSpPr>
          <p:cNvPr id="10" name="TextBox 9"/>
          <p:cNvSpPr txBox="1"/>
          <p:nvPr/>
        </p:nvSpPr>
        <p:spPr>
          <a:xfrm>
            <a:off x="380000" y="1310000"/>
            <a:ext cx="5740000" cy="200000"/>
          </a:xfrm>
          <a:prstGeom prst="rect">
            <a:avLst/>
          </a:prstGeom>
          <a:noFill/>
        </p:spPr>
        <p:txBody>
          <a:bodyPr wrap="square">
            <a:spAutoFit/>
          </a:bodyPr>
          <a:lstStyle/>
          <a:p>
            <a:pPr algn="l"/>
            <a:r>
              <a:rPr sz="900" b="0" i="0">
                <a:solidFill>
                  <a:srgbClr val="CCE0EC"/>
                </a:solidFill>
                <a:latin typeface="Calibri"/>
              </a:rPr>
              <a:t>Only urgent, high-value cargo justifies drone economics: organs, emergency Rx, critical specimens. Every other trip stays on a truck.</a:t>
            </a:r>
          </a:p>
        </p:txBody>
      </p:sp>
      <p:sp>
        <p:nvSpPr>
          <p:cNvPr id="11" name="Rectangle 10"/>
          <p:cNvSpPr/>
          <p:nvPr/>
        </p:nvSpPr>
        <p:spPr>
          <a:xfrm>
            <a:off x="380000" y="1540000"/>
            <a:ext cx="5700000" cy="9144"/>
          </a:xfrm>
          <a:prstGeom prst="rect">
            <a:avLst/>
          </a:prstGeom>
          <a:solidFill>
            <a:srgbClr val="2A5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0000" y="1595000"/>
            <a:ext cx="5740000" cy="200000"/>
          </a:xfrm>
          <a:prstGeom prst="rect">
            <a:avLst/>
          </a:prstGeom>
          <a:noFill/>
        </p:spPr>
        <p:txBody>
          <a:bodyPr wrap="square">
            <a:spAutoFit/>
          </a:bodyPr>
          <a:lstStyle/>
          <a:p>
            <a:pPr algn="l"/>
            <a:r>
              <a:rPr sz="1000" b="1" i="0">
                <a:solidFill>
                  <a:srgbClr val="02C39A"/>
                </a:solidFill>
                <a:latin typeface="Calibri"/>
              </a:rPr>
              <a:t>AT SCALE — New Categories KAI-Netics Unlocks</a:t>
            </a:r>
          </a:p>
        </p:txBody>
      </p:sp>
      <p:sp>
        <p:nvSpPr>
          <p:cNvPr id="13" name="TextBox 12"/>
          <p:cNvSpPr txBox="1"/>
          <p:nvPr/>
        </p:nvSpPr>
        <p:spPr>
          <a:xfrm>
            <a:off x="380000" y="1790000"/>
            <a:ext cx="5740000" cy="160000"/>
          </a:xfrm>
          <a:prstGeom prst="rect">
            <a:avLst/>
          </a:prstGeom>
          <a:noFill/>
        </p:spPr>
        <p:txBody>
          <a:bodyPr wrap="square">
            <a:spAutoFit/>
          </a:bodyPr>
          <a:lstStyle/>
          <a:p>
            <a:pPr algn="l"/>
            <a:r>
              <a:rPr sz="850" b="0" i="1">
                <a:solidFill>
                  <a:srgbClr val="7AB4C8"/>
                </a:solidFill>
                <a:latin typeface="Calibri"/>
              </a:rPr>
              <a:t>When cost-per-flight drops below the Jevons threshold:</a:t>
            </a:r>
          </a:p>
        </p:txBody>
      </p:sp>
      <p:sp>
        <p:nvSpPr>
          <p:cNvPr id="14" name="Rectangle 13"/>
          <p:cNvSpPr/>
          <p:nvPr/>
        </p:nvSpPr>
        <p:spPr>
          <a:xfrm>
            <a:off x="380000" y="1990000"/>
            <a:ext cx="2820000" cy="540000"/>
          </a:xfrm>
          <a:prstGeom prst="rect">
            <a:avLst/>
          </a:prstGeom>
          <a:solidFill>
            <a:srgbClr val="0A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0000" y="1990000"/>
            <a:ext cx="2820000" cy="26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0000" y="2038000"/>
            <a:ext cx="2740000" cy="200000"/>
          </a:xfrm>
          <a:prstGeom prst="rect">
            <a:avLst/>
          </a:prstGeom>
          <a:noFill/>
        </p:spPr>
        <p:txBody>
          <a:bodyPr wrap="square">
            <a:spAutoFit/>
          </a:bodyPr>
          <a:lstStyle/>
          <a:p>
            <a:pPr algn="l"/>
            <a:r>
              <a:rPr sz="900" b="1" i="0">
                <a:solidFill>
                  <a:srgbClr val="02C39A"/>
                </a:solidFill>
                <a:latin typeface="Calibri"/>
              </a:rPr>
              <a:t>Routine pharmacy runs</a:t>
            </a:r>
          </a:p>
        </p:txBody>
      </p:sp>
      <p:sp>
        <p:nvSpPr>
          <p:cNvPr id="17" name="TextBox 16"/>
          <p:cNvSpPr txBox="1"/>
          <p:nvPr/>
        </p:nvSpPr>
        <p:spPr>
          <a:xfrm>
            <a:off x="420000" y="2238000"/>
            <a:ext cx="2740000" cy="258000"/>
          </a:xfrm>
          <a:prstGeom prst="rect">
            <a:avLst/>
          </a:prstGeom>
          <a:noFill/>
        </p:spPr>
        <p:txBody>
          <a:bodyPr wrap="square">
            <a:spAutoFit/>
          </a:bodyPr>
          <a:lstStyle/>
          <a:p>
            <a:pPr algn="l"/>
            <a:r>
              <a:rPr sz="800" b="0" i="0">
                <a:solidFill>
                  <a:srgbClr val="CCE0EC"/>
                </a:solidFill>
                <a:latin typeface="Calibri"/>
              </a:rPr>
              <a:t>At $8/delivery every Rx qualifies.
Can't justify at $50.</a:t>
            </a:r>
          </a:p>
        </p:txBody>
      </p:sp>
      <p:sp>
        <p:nvSpPr>
          <p:cNvPr id="18" name="Rectangle 17"/>
          <p:cNvSpPr/>
          <p:nvPr/>
        </p:nvSpPr>
        <p:spPr>
          <a:xfrm>
            <a:off x="3260000" y="1990000"/>
            <a:ext cx="2820000" cy="540000"/>
          </a:xfrm>
          <a:prstGeom prst="rect">
            <a:avLst/>
          </a:prstGeom>
          <a:solidFill>
            <a:srgbClr val="0A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60000" y="1990000"/>
            <a:ext cx="2820000" cy="26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00000" y="2038000"/>
            <a:ext cx="2740000" cy="200000"/>
          </a:xfrm>
          <a:prstGeom prst="rect">
            <a:avLst/>
          </a:prstGeom>
          <a:noFill/>
        </p:spPr>
        <p:txBody>
          <a:bodyPr wrap="square">
            <a:spAutoFit/>
          </a:bodyPr>
          <a:lstStyle/>
          <a:p>
            <a:pPr algn="l"/>
            <a:r>
              <a:rPr sz="900" b="1" i="0">
                <a:solidFill>
                  <a:srgbClr val="028090"/>
                </a:solidFill>
                <a:latin typeface="Calibri"/>
              </a:rPr>
              <a:t>Campus internal supply</a:t>
            </a:r>
          </a:p>
        </p:txBody>
      </p:sp>
      <p:sp>
        <p:nvSpPr>
          <p:cNvPr id="21" name="TextBox 20"/>
          <p:cNvSpPr txBox="1"/>
          <p:nvPr/>
        </p:nvSpPr>
        <p:spPr>
          <a:xfrm>
            <a:off x="3300000" y="2238000"/>
            <a:ext cx="2740000" cy="258000"/>
          </a:xfrm>
          <a:prstGeom prst="rect">
            <a:avLst/>
          </a:prstGeom>
          <a:noFill/>
        </p:spPr>
        <p:txBody>
          <a:bodyPr wrap="square">
            <a:spAutoFit/>
          </a:bodyPr>
          <a:lstStyle/>
          <a:p>
            <a:pPr algn="l"/>
            <a:r>
              <a:rPr sz="800" b="0" i="0">
                <a:solidFill>
                  <a:srgbClr val="CCE0EC"/>
                </a:solidFill>
                <a:latin typeface="Calibri"/>
              </a:rPr>
              <a:t>Floor-to-floor. Not worth a truck.
Worth a drone.</a:t>
            </a:r>
          </a:p>
        </p:txBody>
      </p:sp>
      <p:sp>
        <p:nvSpPr>
          <p:cNvPr id="22" name="Rectangle 21"/>
          <p:cNvSpPr/>
          <p:nvPr/>
        </p:nvSpPr>
        <p:spPr>
          <a:xfrm>
            <a:off x="380000" y="2560000"/>
            <a:ext cx="2820000" cy="540000"/>
          </a:xfrm>
          <a:prstGeom prst="rect">
            <a:avLst/>
          </a:prstGeom>
          <a:solidFill>
            <a:srgbClr val="0A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80000" y="2560000"/>
            <a:ext cx="2820000" cy="26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0000" y="2608000"/>
            <a:ext cx="2740000" cy="200000"/>
          </a:xfrm>
          <a:prstGeom prst="rect">
            <a:avLst/>
          </a:prstGeom>
          <a:noFill/>
        </p:spPr>
        <p:txBody>
          <a:bodyPr wrap="square">
            <a:spAutoFit/>
          </a:bodyPr>
          <a:lstStyle/>
          <a:p>
            <a:pPr algn="l"/>
            <a:r>
              <a:rPr sz="900" b="1" i="0">
                <a:solidFill>
                  <a:srgbClr val="F5A623"/>
                </a:solidFill>
                <a:latin typeface="Calibri"/>
              </a:rPr>
              <a:t>Food desert last-mile</a:t>
            </a:r>
          </a:p>
        </p:txBody>
      </p:sp>
      <p:sp>
        <p:nvSpPr>
          <p:cNvPr id="25" name="TextBox 24"/>
          <p:cNvSpPr txBox="1"/>
          <p:nvPr/>
        </p:nvSpPr>
        <p:spPr>
          <a:xfrm>
            <a:off x="420000" y="2808000"/>
            <a:ext cx="2740000" cy="258000"/>
          </a:xfrm>
          <a:prstGeom prst="rect">
            <a:avLst/>
          </a:prstGeom>
          <a:noFill/>
        </p:spPr>
        <p:txBody>
          <a:bodyPr wrap="square">
            <a:spAutoFit/>
          </a:bodyPr>
          <a:lstStyle/>
          <a:p>
            <a:pPr algn="l"/>
            <a:r>
              <a:rPr sz="800" b="0" i="0">
                <a:solidFill>
                  <a:srgbClr val="CCE0EC"/>
                </a:solidFill>
                <a:latin typeface="Calibri"/>
              </a:rPr>
              <a:t>UMMS resiliency hubs.
Grant-funded. Community-rooted.</a:t>
            </a:r>
          </a:p>
        </p:txBody>
      </p:sp>
      <p:sp>
        <p:nvSpPr>
          <p:cNvPr id="26" name="Rectangle 25"/>
          <p:cNvSpPr/>
          <p:nvPr/>
        </p:nvSpPr>
        <p:spPr>
          <a:xfrm>
            <a:off x="3260000" y="2560000"/>
            <a:ext cx="2820000" cy="540000"/>
          </a:xfrm>
          <a:prstGeom prst="rect">
            <a:avLst/>
          </a:prstGeom>
          <a:solidFill>
            <a:srgbClr val="0A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60000" y="2560000"/>
            <a:ext cx="2820000" cy="26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00000" y="2608000"/>
            <a:ext cx="2740000" cy="200000"/>
          </a:xfrm>
          <a:prstGeom prst="rect">
            <a:avLst/>
          </a:prstGeom>
          <a:noFill/>
        </p:spPr>
        <p:txBody>
          <a:bodyPr wrap="square">
            <a:spAutoFit/>
          </a:bodyPr>
          <a:lstStyle/>
          <a:p>
            <a:pPr algn="l"/>
            <a:r>
              <a:rPr sz="900" b="1" i="0">
                <a:solidFill>
                  <a:srgbClr val="02C39A"/>
                </a:solidFill>
                <a:latin typeface="Calibri"/>
              </a:rPr>
              <a:t>Non-critical specimens</a:t>
            </a:r>
          </a:p>
        </p:txBody>
      </p:sp>
      <p:sp>
        <p:nvSpPr>
          <p:cNvPr id="29" name="TextBox 28"/>
          <p:cNvSpPr txBox="1"/>
          <p:nvPr/>
        </p:nvSpPr>
        <p:spPr>
          <a:xfrm>
            <a:off x="3300000" y="2808000"/>
            <a:ext cx="2740000" cy="258000"/>
          </a:xfrm>
          <a:prstGeom prst="rect">
            <a:avLst/>
          </a:prstGeom>
          <a:noFill/>
        </p:spPr>
        <p:txBody>
          <a:bodyPr wrap="square">
            <a:spAutoFit/>
          </a:bodyPr>
          <a:lstStyle/>
          <a:p>
            <a:pPr algn="l"/>
            <a:r>
              <a:rPr sz="800" b="0" i="0">
                <a:solidFill>
                  <a:srgbClr val="CCE0EC"/>
                </a:solidFill>
                <a:latin typeface="Calibri"/>
              </a:rPr>
              <a:t>Daily lab pickups — high volume,
low urgency, perfect fit.</a:t>
            </a:r>
          </a:p>
        </p:txBody>
      </p:sp>
      <p:sp>
        <p:nvSpPr>
          <p:cNvPr id="30" name="Rectangle 29"/>
          <p:cNvSpPr/>
          <p:nvPr/>
        </p:nvSpPr>
        <p:spPr>
          <a:xfrm>
            <a:off x="6380000" y="1050000"/>
            <a:ext cx="2564000" cy="3793500"/>
          </a:xfrm>
          <a:prstGeom prst="rect">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80000" y="1050000"/>
            <a:ext cx="2564000" cy="38000"/>
          </a:xfrm>
          <a:prstGeom prst="rect">
            <a:avLst/>
          </a:prstGeom>
          <a:solidFill>
            <a:srgbClr val="2A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5000" y="1115000"/>
            <a:ext cx="2454000" cy="200000"/>
          </a:xfrm>
          <a:prstGeom prst="rect">
            <a:avLst/>
          </a:prstGeom>
          <a:noFill/>
        </p:spPr>
        <p:txBody>
          <a:bodyPr wrap="square">
            <a:spAutoFit/>
          </a:bodyPr>
          <a:lstStyle/>
          <a:p>
            <a:pPr algn="l"/>
            <a:r>
              <a:rPr sz="800" b="1" i="0">
                <a:solidFill>
                  <a:srgbClr val="7AB4C8"/>
                </a:solidFill>
                <a:latin typeface="Calibri"/>
              </a:rPr>
              <a:t>Proven model</a:t>
            </a:r>
          </a:p>
        </p:txBody>
      </p:sp>
      <p:sp>
        <p:nvSpPr>
          <p:cNvPr id="33" name="TextBox 32"/>
          <p:cNvSpPr txBox="1"/>
          <p:nvPr/>
        </p:nvSpPr>
        <p:spPr>
          <a:xfrm>
            <a:off x="6435000" y="1350000"/>
            <a:ext cx="620000" cy="200000"/>
          </a:xfrm>
          <a:prstGeom prst="rect">
            <a:avLst/>
          </a:prstGeom>
          <a:noFill/>
        </p:spPr>
        <p:txBody>
          <a:bodyPr wrap="square">
            <a:spAutoFit/>
          </a:bodyPr>
          <a:lstStyle/>
          <a:p>
            <a:pPr algn="l"/>
            <a:r>
              <a:rPr sz="800" b="0" i="0" dirty="0">
                <a:solidFill>
                  <a:srgbClr val="7AB4C8"/>
                </a:solidFill>
                <a:latin typeface="Calibri"/>
              </a:rPr>
              <a:t>Tesla</a:t>
            </a:r>
          </a:p>
        </p:txBody>
      </p:sp>
      <p:sp>
        <p:nvSpPr>
          <p:cNvPr id="34" name="TextBox 33"/>
          <p:cNvSpPr txBox="1"/>
          <p:nvPr/>
        </p:nvSpPr>
        <p:spPr>
          <a:xfrm>
            <a:off x="7061190" y="1350000"/>
            <a:ext cx="160000" cy="200000"/>
          </a:xfrm>
          <a:prstGeom prst="rect">
            <a:avLst/>
          </a:prstGeom>
          <a:noFill/>
        </p:spPr>
        <p:txBody>
          <a:bodyPr wrap="square">
            <a:spAutoFit/>
          </a:bodyPr>
          <a:lstStyle/>
          <a:p>
            <a:pPr algn="ctr"/>
            <a:r>
              <a:rPr sz="800" b="0" i="0" dirty="0">
                <a:solidFill>
                  <a:srgbClr val="2A4460"/>
                </a:solidFill>
                <a:latin typeface="Calibri"/>
              </a:rPr>
              <a:t>→</a:t>
            </a:r>
          </a:p>
        </p:txBody>
      </p:sp>
      <p:sp>
        <p:nvSpPr>
          <p:cNvPr id="35" name="TextBox 34"/>
          <p:cNvSpPr txBox="1"/>
          <p:nvPr/>
        </p:nvSpPr>
        <p:spPr>
          <a:xfrm>
            <a:off x="7241190" y="1350000"/>
            <a:ext cx="1694000" cy="200000"/>
          </a:xfrm>
          <a:prstGeom prst="rect">
            <a:avLst/>
          </a:prstGeom>
          <a:noFill/>
        </p:spPr>
        <p:txBody>
          <a:bodyPr wrap="square">
            <a:spAutoFit/>
          </a:bodyPr>
          <a:lstStyle/>
          <a:p>
            <a:pPr algn="l"/>
            <a:r>
              <a:rPr sz="800" b="1" i="0" dirty="0">
                <a:solidFill>
                  <a:srgbClr val="5585A5"/>
                </a:solidFill>
                <a:latin typeface="Calibri"/>
              </a:rPr>
              <a:t>FP Ops</a:t>
            </a:r>
          </a:p>
        </p:txBody>
      </p:sp>
      <p:sp>
        <p:nvSpPr>
          <p:cNvPr id="36" name="TextBox 35"/>
          <p:cNvSpPr txBox="1"/>
          <p:nvPr/>
        </p:nvSpPr>
        <p:spPr>
          <a:xfrm>
            <a:off x="6435000" y="1620000"/>
            <a:ext cx="715000" cy="215444"/>
          </a:xfrm>
          <a:prstGeom prst="rect">
            <a:avLst/>
          </a:prstGeom>
          <a:noFill/>
        </p:spPr>
        <p:txBody>
          <a:bodyPr wrap="square">
            <a:spAutoFit/>
          </a:bodyPr>
          <a:lstStyle/>
          <a:p>
            <a:pPr algn="l"/>
            <a:r>
              <a:rPr sz="800" b="0" i="0" dirty="0">
                <a:solidFill>
                  <a:srgbClr val="7AB4C8"/>
                </a:solidFill>
                <a:latin typeface="Calibri"/>
              </a:rPr>
              <a:t>Gigafactory</a:t>
            </a:r>
          </a:p>
        </p:txBody>
      </p:sp>
      <p:sp>
        <p:nvSpPr>
          <p:cNvPr id="37" name="TextBox 36"/>
          <p:cNvSpPr txBox="1"/>
          <p:nvPr/>
        </p:nvSpPr>
        <p:spPr>
          <a:xfrm>
            <a:off x="7061190" y="1620000"/>
            <a:ext cx="130000" cy="215444"/>
          </a:xfrm>
          <a:prstGeom prst="rect">
            <a:avLst/>
          </a:prstGeom>
          <a:noFill/>
        </p:spPr>
        <p:txBody>
          <a:bodyPr wrap="square">
            <a:spAutoFit/>
          </a:bodyPr>
          <a:lstStyle/>
          <a:p>
            <a:pPr algn="ctr"/>
            <a:r>
              <a:rPr sz="800" b="0" i="0" dirty="0">
                <a:solidFill>
                  <a:srgbClr val="2A4460"/>
                </a:solidFill>
                <a:latin typeface="Calibri"/>
              </a:rPr>
              <a:t>→</a:t>
            </a:r>
          </a:p>
        </p:txBody>
      </p:sp>
      <p:sp>
        <p:nvSpPr>
          <p:cNvPr id="38" name="TextBox 37"/>
          <p:cNvSpPr txBox="1"/>
          <p:nvPr/>
        </p:nvSpPr>
        <p:spPr>
          <a:xfrm>
            <a:off x="7241190" y="1620000"/>
            <a:ext cx="1694000" cy="200000"/>
          </a:xfrm>
          <a:prstGeom prst="rect">
            <a:avLst/>
          </a:prstGeom>
          <a:noFill/>
        </p:spPr>
        <p:txBody>
          <a:bodyPr wrap="square">
            <a:spAutoFit/>
          </a:bodyPr>
          <a:lstStyle/>
          <a:p>
            <a:pPr algn="l"/>
            <a:r>
              <a:rPr sz="800" b="1" i="0" dirty="0">
                <a:solidFill>
                  <a:srgbClr val="5585A5"/>
                </a:solidFill>
                <a:latin typeface="Calibri"/>
              </a:rPr>
              <a:t>EAF</a:t>
            </a:r>
          </a:p>
        </p:txBody>
      </p:sp>
      <p:sp>
        <p:nvSpPr>
          <p:cNvPr id="39" name="TextBox 38"/>
          <p:cNvSpPr txBox="1"/>
          <p:nvPr/>
        </p:nvSpPr>
        <p:spPr>
          <a:xfrm>
            <a:off x="6435000" y="1890000"/>
            <a:ext cx="620000" cy="200000"/>
          </a:xfrm>
          <a:prstGeom prst="rect">
            <a:avLst/>
          </a:prstGeom>
          <a:noFill/>
        </p:spPr>
        <p:txBody>
          <a:bodyPr wrap="square">
            <a:spAutoFit/>
          </a:bodyPr>
          <a:lstStyle/>
          <a:p>
            <a:pPr algn="l"/>
            <a:r>
              <a:rPr sz="800" b="0" i="0">
                <a:solidFill>
                  <a:srgbClr val="7AB4C8"/>
                </a:solidFill>
                <a:latin typeface="Calibri"/>
              </a:rPr>
              <a:t>FSD/AI</a:t>
            </a:r>
          </a:p>
        </p:txBody>
      </p:sp>
      <p:sp>
        <p:nvSpPr>
          <p:cNvPr id="40" name="TextBox 39"/>
          <p:cNvSpPr txBox="1"/>
          <p:nvPr/>
        </p:nvSpPr>
        <p:spPr>
          <a:xfrm>
            <a:off x="7061190" y="1890000"/>
            <a:ext cx="160000" cy="200000"/>
          </a:xfrm>
          <a:prstGeom prst="rect">
            <a:avLst/>
          </a:prstGeom>
          <a:noFill/>
        </p:spPr>
        <p:txBody>
          <a:bodyPr wrap="square">
            <a:spAutoFit/>
          </a:bodyPr>
          <a:lstStyle/>
          <a:p>
            <a:pPr algn="ctr"/>
            <a:r>
              <a:rPr sz="800" b="0" i="0" dirty="0">
                <a:solidFill>
                  <a:srgbClr val="2A4460"/>
                </a:solidFill>
                <a:latin typeface="Calibri"/>
              </a:rPr>
              <a:t>→</a:t>
            </a:r>
          </a:p>
        </p:txBody>
      </p:sp>
      <p:sp>
        <p:nvSpPr>
          <p:cNvPr id="41" name="TextBox 40"/>
          <p:cNvSpPr txBox="1"/>
          <p:nvPr/>
        </p:nvSpPr>
        <p:spPr>
          <a:xfrm>
            <a:off x="7241190" y="1890000"/>
            <a:ext cx="1694000" cy="200000"/>
          </a:xfrm>
          <a:prstGeom prst="rect">
            <a:avLst/>
          </a:prstGeom>
          <a:noFill/>
        </p:spPr>
        <p:txBody>
          <a:bodyPr wrap="square">
            <a:spAutoFit/>
          </a:bodyPr>
          <a:lstStyle/>
          <a:p>
            <a:pPr algn="l"/>
            <a:r>
              <a:rPr sz="800" b="1" i="0" dirty="0">
                <a:solidFill>
                  <a:srgbClr val="5585A5"/>
                </a:solidFill>
                <a:latin typeface="Calibri"/>
              </a:rPr>
              <a:t>MONK</a:t>
            </a:r>
          </a:p>
        </p:txBody>
      </p:sp>
      <p:sp>
        <p:nvSpPr>
          <p:cNvPr id="42" name="TextBox 41"/>
          <p:cNvSpPr txBox="1"/>
          <p:nvPr/>
        </p:nvSpPr>
        <p:spPr>
          <a:xfrm>
            <a:off x="6435000" y="2160000"/>
            <a:ext cx="756190" cy="215444"/>
          </a:xfrm>
          <a:prstGeom prst="rect">
            <a:avLst/>
          </a:prstGeom>
          <a:noFill/>
        </p:spPr>
        <p:txBody>
          <a:bodyPr wrap="square">
            <a:spAutoFit/>
          </a:bodyPr>
          <a:lstStyle/>
          <a:p>
            <a:pPr algn="l"/>
            <a:r>
              <a:rPr sz="800" b="0" i="0" dirty="0">
                <a:solidFill>
                  <a:srgbClr val="7AB4C8"/>
                </a:solidFill>
                <a:latin typeface="Calibri"/>
              </a:rPr>
              <a:t>Supercharger</a:t>
            </a:r>
          </a:p>
        </p:txBody>
      </p:sp>
      <p:sp>
        <p:nvSpPr>
          <p:cNvPr id="43" name="TextBox 42"/>
          <p:cNvSpPr txBox="1"/>
          <p:nvPr/>
        </p:nvSpPr>
        <p:spPr>
          <a:xfrm>
            <a:off x="7065309" y="2160000"/>
            <a:ext cx="160000" cy="200000"/>
          </a:xfrm>
          <a:prstGeom prst="rect">
            <a:avLst/>
          </a:prstGeom>
          <a:noFill/>
        </p:spPr>
        <p:txBody>
          <a:bodyPr wrap="square">
            <a:spAutoFit/>
          </a:bodyPr>
          <a:lstStyle/>
          <a:p>
            <a:pPr algn="ctr"/>
            <a:r>
              <a:rPr sz="800" b="0" i="0" dirty="0">
                <a:solidFill>
                  <a:srgbClr val="2A4460"/>
                </a:solidFill>
                <a:latin typeface="Calibri"/>
              </a:rPr>
              <a:t>→</a:t>
            </a:r>
          </a:p>
        </p:txBody>
      </p:sp>
      <p:sp>
        <p:nvSpPr>
          <p:cNvPr id="44" name="TextBox 43"/>
          <p:cNvSpPr txBox="1"/>
          <p:nvPr/>
        </p:nvSpPr>
        <p:spPr>
          <a:xfrm>
            <a:off x="7245309" y="2160000"/>
            <a:ext cx="1694000" cy="200000"/>
          </a:xfrm>
          <a:prstGeom prst="rect">
            <a:avLst/>
          </a:prstGeom>
          <a:noFill/>
        </p:spPr>
        <p:txBody>
          <a:bodyPr wrap="square">
            <a:spAutoFit/>
          </a:bodyPr>
          <a:lstStyle/>
          <a:p>
            <a:pPr algn="l"/>
            <a:r>
              <a:rPr sz="800" b="1" i="0" dirty="0">
                <a:solidFill>
                  <a:srgbClr val="5585A5"/>
                </a:solidFill>
                <a:latin typeface="Calibri"/>
              </a:rPr>
              <a:t>DFR Pad</a:t>
            </a:r>
          </a:p>
        </p:txBody>
      </p:sp>
      <p:sp>
        <p:nvSpPr>
          <p:cNvPr id="45" name="Rectangle 44"/>
          <p:cNvSpPr/>
          <p:nvPr/>
        </p:nvSpPr>
        <p:spPr>
          <a:xfrm>
            <a:off x="6435000" y="2490000"/>
            <a:ext cx="2454000" cy="9144"/>
          </a:xfrm>
          <a:prstGeom prst="rect">
            <a:avLst/>
          </a:prstGeom>
          <a:solidFill>
            <a:srgbClr val="2A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35000" y="2540000"/>
            <a:ext cx="2454000" cy="380000"/>
          </a:xfrm>
          <a:prstGeom prst="rect">
            <a:avLst/>
          </a:prstGeom>
          <a:noFill/>
        </p:spPr>
        <p:txBody>
          <a:bodyPr wrap="square">
            <a:spAutoFit/>
          </a:bodyPr>
          <a:lstStyle/>
          <a:p>
            <a:pPr algn="l"/>
            <a:r>
              <a:rPr sz="800" b="0" i="1">
                <a:solidFill>
                  <a:srgbClr val="446680"/>
                </a:solidFill>
                <a:latin typeface="Calibri"/>
              </a:rPr>
              <a:t>Same architecture.
Different industry.
Proven at scale.</a:t>
            </a:r>
          </a:p>
        </p:txBody>
      </p:sp>
      <p:sp>
        <p:nvSpPr>
          <p:cNvPr id="47" name="TextBox 46"/>
          <p:cNvSpPr txBox="1"/>
          <p:nvPr/>
        </p:nvSpPr>
        <p:spPr>
          <a:xfrm>
            <a:off x="300000" y="4878500"/>
            <a:ext cx="8544000" cy="220000"/>
          </a:xfrm>
          <a:prstGeom prst="rect">
            <a:avLst/>
          </a:prstGeom>
          <a:noFill/>
        </p:spPr>
        <p:txBody>
          <a:bodyPr wrap="square">
            <a:spAutoFit/>
          </a:bodyPr>
          <a:lstStyle/>
          <a:p>
            <a:pPr algn="l"/>
            <a:r>
              <a:rPr sz="900" b="1" i="0">
                <a:solidFill>
                  <a:srgbClr val="028090"/>
                </a:solidFill>
                <a:latin typeface="Calibri"/>
              </a:rPr>
              <a:t>The market KAI-Netics builds does not fully exist today. We are not competing for drone delivery share. We are creating it.</a:t>
            </a:r>
          </a:p>
        </p:txBody>
      </p:sp>
      <p:sp>
        <p:nvSpPr>
          <p:cNvPr id="48" name="Rectangle 47"/>
          <p:cNvSpPr/>
          <p:nvPr/>
        </p:nvSpPr>
        <p:spPr>
          <a:xfrm>
            <a:off x="300000" y="3450000"/>
            <a:ext cx="1840000" cy="580000"/>
          </a:xfrm>
          <a:prstGeom prst="rect">
            <a:avLst/>
          </a:prstGeom>
          <a:solidFill>
            <a:srgbClr val="142A45"/>
          </a:solidFill>
          <a:ln w="18288">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00000" y="3450000"/>
            <a:ext cx="1840000" cy="26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5000" y="3498000"/>
            <a:ext cx="1750000" cy="220000"/>
          </a:xfrm>
          <a:prstGeom prst="rect">
            <a:avLst/>
          </a:prstGeom>
          <a:noFill/>
        </p:spPr>
        <p:txBody>
          <a:bodyPr wrap="square">
            <a:spAutoFit/>
          </a:bodyPr>
          <a:lstStyle/>
          <a:p>
            <a:pPr algn="l"/>
            <a:r>
              <a:rPr sz="850" b="1" i="0">
                <a:solidFill>
                  <a:srgbClr val="028090"/>
                </a:solidFill>
                <a:latin typeface="Calibri"/>
              </a:rPr>
              <a:t>GRANTS FUND TRAINING</a:t>
            </a:r>
          </a:p>
        </p:txBody>
      </p:sp>
      <p:sp>
        <p:nvSpPr>
          <p:cNvPr id="51" name="TextBox 50"/>
          <p:cNvSpPr txBox="1"/>
          <p:nvPr/>
        </p:nvSpPr>
        <p:spPr>
          <a:xfrm>
            <a:off x="345000" y="3720000"/>
            <a:ext cx="1750000" cy="240000"/>
          </a:xfrm>
          <a:prstGeom prst="rect">
            <a:avLst/>
          </a:prstGeom>
          <a:noFill/>
        </p:spPr>
        <p:txBody>
          <a:bodyPr wrap="square">
            <a:spAutoFit/>
          </a:bodyPr>
          <a:lstStyle/>
          <a:p>
            <a:pPr algn="l"/>
            <a:r>
              <a:rPr sz="800" b="0" i="0">
                <a:solidFill>
                  <a:srgbClr val="CCE0EC"/>
                </a:solidFill>
                <a:latin typeface="Calibri"/>
              </a:rPr>
              <a:t>Maryland pays · zero cost to FP</a:t>
            </a:r>
          </a:p>
        </p:txBody>
      </p:sp>
      <p:sp>
        <p:nvSpPr>
          <p:cNvPr id="52" name="TextBox 51"/>
          <p:cNvSpPr txBox="1"/>
          <p:nvPr/>
        </p:nvSpPr>
        <p:spPr>
          <a:xfrm>
            <a:off x="2145000" y="3660000"/>
            <a:ext cx="50000" cy="160000"/>
          </a:xfrm>
          <a:prstGeom prst="rect">
            <a:avLst/>
          </a:prstGeom>
          <a:noFill/>
        </p:spPr>
        <p:txBody>
          <a:bodyPr wrap="square">
            <a:spAutoFit/>
          </a:bodyPr>
          <a:lstStyle/>
          <a:p>
            <a:pPr algn="ctr"/>
            <a:r>
              <a:rPr sz="1000" b="1" i="0">
                <a:solidFill>
                  <a:srgbClr val="7AB4C8"/>
                </a:solidFill>
                <a:latin typeface="Calibri"/>
              </a:rPr>
              <a:t>→</a:t>
            </a:r>
          </a:p>
        </p:txBody>
      </p:sp>
      <p:sp>
        <p:nvSpPr>
          <p:cNvPr id="53" name="Rectangle 52"/>
          <p:cNvSpPr/>
          <p:nvPr/>
        </p:nvSpPr>
        <p:spPr>
          <a:xfrm>
            <a:off x="2200000" y="3450000"/>
            <a:ext cx="1840000" cy="580000"/>
          </a:xfrm>
          <a:prstGeom prst="rect">
            <a:avLst/>
          </a:prstGeom>
          <a:solidFill>
            <a:srgbClr val="142A45"/>
          </a:solidFill>
          <a:ln w="18288">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200000" y="3450000"/>
            <a:ext cx="1840000" cy="26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245000" y="3498000"/>
            <a:ext cx="1750000" cy="220000"/>
          </a:xfrm>
          <a:prstGeom prst="rect">
            <a:avLst/>
          </a:prstGeom>
          <a:noFill/>
        </p:spPr>
        <p:txBody>
          <a:bodyPr wrap="square">
            <a:spAutoFit/>
          </a:bodyPr>
          <a:lstStyle/>
          <a:p>
            <a:pPr algn="l"/>
            <a:r>
              <a:rPr sz="850" b="1" i="0">
                <a:solidFill>
                  <a:srgbClr val="F5A623"/>
                </a:solidFill>
                <a:latin typeface="Calibri"/>
              </a:rPr>
              <a:t>TRAINING FUNDS DELIVERY</a:t>
            </a:r>
          </a:p>
        </p:txBody>
      </p:sp>
      <p:sp>
        <p:nvSpPr>
          <p:cNvPr id="56" name="TextBox 55"/>
          <p:cNvSpPr txBox="1"/>
          <p:nvPr/>
        </p:nvSpPr>
        <p:spPr>
          <a:xfrm>
            <a:off x="2245000" y="3720000"/>
            <a:ext cx="1750000" cy="240000"/>
          </a:xfrm>
          <a:prstGeom prst="rect">
            <a:avLst/>
          </a:prstGeom>
          <a:noFill/>
        </p:spPr>
        <p:txBody>
          <a:bodyPr wrap="square">
            <a:spAutoFit/>
          </a:bodyPr>
          <a:lstStyle/>
          <a:p>
            <a:pPr algn="l"/>
            <a:r>
              <a:rPr sz="800" b="0" i="0">
                <a:solidFill>
                  <a:srgbClr val="CCE0EC"/>
                </a:solidFill>
                <a:latin typeface="Calibri"/>
              </a:rPr>
              <a:t>No overhead · no liability</a:t>
            </a:r>
          </a:p>
        </p:txBody>
      </p:sp>
      <p:sp>
        <p:nvSpPr>
          <p:cNvPr id="57" name="TextBox 56"/>
          <p:cNvSpPr txBox="1"/>
          <p:nvPr/>
        </p:nvSpPr>
        <p:spPr>
          <a:xfrm>
            <a:off x="4045000" y="3660000"/>
            <a:ext cx="50000" cy="160000"/>
          </a:xfrm>
          <a:prstGeom prst="rect">
            <a:avLst/>
          </a:prstGeom>
          <a:noFill/>
        </p:spPr>
        <p:txBody>
          <a:bodyPr wrap="square">
            <a:spAutoFit/>
          </a:bodyPr>
          <a:lstStyle/>
          <a:p>
            <a:pPr algn="ctr"/>
            <a:r>
              <a:rPr sz="1000" b="1" i="0">
                <a:solidFill>
                  <a:srgbClr val="7AB4C8"/>
                </a:solidFill>
                <a:latin typeface="Calibri"/>
              </a:rPr>
              <a:t>→</a:t>
            </a:r>
          </a:p>
        </p:txBody>
      </p:sp>
      <p:sp>
        <p:nvSpPr>
          <p:cNvPr id="58" name="Rectangle 57"/>
          <p:cNvSpPr/>
          <p:nvPr/>
        </p:nvSpPr>
        <p:spPr>
          <a:xfrm>
            <a:off x="4100000" y="3450000"/>
            <a:ext cx="1840000" cy="580000"/>
          </a:xfrm>
          <a:prstGeom prst="rect">
            <a:avLst/>
          </a:prstGeom>
          <a:solidFill>
            <a:srgbClr val="142A45"/>
          </a:solidFill>
          <a:ln w="18288">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100000" y="3450000"/>
            <a:ext cx="1840000" cy="26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145000" y="3498000"/>
            <a:ext cx="1750000" cy="220000"/>
          </a:xfrm>
          <a:prstGeom prst="rect">
            <a:avLst/>
          </a:prstGeom>
          <a:noFill/>
        </p:spPr>
        <p:txBody>
          <a:bodyPr wrap="square">
            <a:spAutoFit/>
          </a:bodyPr>
          <a:lstStyle/>
          <a:p>
            <a:pPr algn="l"/>
            <a:r>
              <a:rPr sz="850" b="1" i="0">
                <a:solidFill>
                  <a:srgbClr val="02C39A"/>
                </a:solidFill>
                <a:latin typeface="Calibri"/>
              </a:rPr>
              <a:t>DELIVERY FUNDS GROWTH</a:t>
            </a:r>
          </a:p>
        </p:txBody>
      </p:sp>
      <p:sp>
        <p:nvSpPr>
          <p:cNvPr id="61" name="TextBox 60"/>
          <p:cNvSpPr txBox="1"/>
          <p:nvPr/>
        </p:nvSpPr>
        <p:spPr>
          <a:xfrm>
            <a:off x="4145000" y="3720000"/>
            <a:ext cx="1750000" cy="240000"/>
          </a:xfrm>
          <a:prstGeom prst="rect">
            <a:avLst/>
          </a:prstGeom>
          <a:noFill/>
        </p:spPr>
        <p:txBody>
          <a:bodyPr wrap="square">
            <a:spAutoFit/>
          </a:bodyPr>
          <a:lstStyle/>
          <a:p>
            <a:pPr algn="l"/>
            <a:r>
              <a:rPr sz="800" b="0" i="0">
                <a:solidFill>
                  <a:srgbClr val="CCE0EC"/>
                </a:solidFill>
                <a:latin typeface="Calibri"/>
              </a:rPr>
              <a:t>Loop closes · Jevons unlocks · moat deepens</a:t>
            </a:r>
          </a:p>
        </p:txBody>
      </p:sp>
      <p:sp>
        <p:nvSpPr>
          <p:cNvPr id="62" name="TextBox 61"/>
          <p:cNvSpPr txBox="1"/>
          <p:nvPr/>
        </p:nvSpPr>
        <p:spPr>
          <a:xfrm>
            <a:off x="6000000" y="4060000"/>
            <a:ext cx="500000" cy="180000"/>
          </a:xfrm>
          <a:prstGeom prst="rect">
            <a:avLst/>
          </a:prstGeom>
          <a:noFill/>
        </p:spPr>
        <p:txBody>
          <a:bodyPr wrap="square">
            <a:spAutoFit/>
          </a:bodyPr>
          <a:lstStyle/>
          <a:p>
            <a:pPr algn="l"/>
            <a:r>
              <a:rPr sz="800" b="0" i="1">
                <a:solidFill>
                  <a:srgbClr val="02C39A"/>
                </a:solidFill>
                <a:latin typeface="Calibri"/>
              </a:rPr>
              <a:t>↺ repeats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w="12700">
            <a:solidFill>
              <a:srgbClr val="028090"/>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Green Collar Workforce: The EAF / CAKO Pipeline</a:t>
            </a:r>
            <a:endParaRPr lang="en-US" sz="2800" dirty="0"/>
          </a:p>
        </p:txBody>
      </p:sp>
      <p:sp>
        <p:nvSpPr>
          <p:cNvPr id="4" name="Shape 2"/>
          <p:cNvSpPr/>
          <p:nvPr/>
        </p:nvSpPr>
        <p:spPr>
          <a:xfrm>
            <a:off x="256032" y="1234440"/>
            <a:ext cx="1883664" cy="1463040"/>
          </a:xfrm>
          <a:prstGeom prst="rect">
            <a:avLst/>
          </a:prstGeom>
          <a:solidFill>
            <a:srgbClr val="028090"/>
          </a:solidFill>
          <a:ln w="19050">
            <a:solidFill>
              <a:srgbClr val="00A896"/>
            </a:solidFill>
            <a:prstDash val="solid"/>
          </a:ln>
          <a:effectLst>
            <a:outerShdw blurRad="101600" dist="38100" dir="8100000" algn="bl" rotWithShape="0">
              <a:srgbClr val="000000">
                <a:alpha val="12000"/>
              </a:srgbClr>
            </a:outerShdw>
          </a:effectLst>
        </p:spPr>
        <p:txBody>
          <a:bodyPr/>
          <a:lstStyle/>
          <a:p>
            <a:endParaRPr/>
          </a:p>
        </p:txBody>
      </p:sp>
      <p:sp>
        <p:nvSpPr>
          <p:cNvPr id="5" name="Text 3"/>
          <p:cNvSpPr/>
          <p:nvPr/>
        </p:nvSpPr>
        <p:spPr>
          <a:xfrm>
            <a:off x="256032" y="1298448"/>
            <a:ext cx="1883664" cy="676656"/>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EAF Receives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Workforce Grants</a:t>
            </a:r>
            <a:endParaRPr lang="en-US" sz="1150" dirty="0"/>
          </a:p>
        </p:txBody>
      </p:sp>
      <p:sp>
        <p:nvSpPr>
          <p:cNvPr id="6" name="Text 4"/>
          <p:cNvSpPr/>
          <p:nvPr/>
        </p:nvSpPr>
        <p:spPr>
          <a:xfrm>
            <a:off x="256032" y="1938528"/>
            <a:ext cx="1883664" cy="658368"/>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EARN Maryland</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CDBG + MEIA</a:t>
            </a:r>
            <a:endParaRPr lang="en-US" sz="950" dirty="0"/>
          </a:p>
        </p:txBody>
      </p:sp>
      <p:sp>
        <p:nvSpPr>
          <p:cNvPr id="7" name="Shape 5"/>
          <p:cNvSpPr/>
          <p:nvPr/>
        </p:nvSpPr>
        <p:spPr>
          <a:xfrm>
            <a:off x="2212848" y="1810512"/>
            <a:ext cx="256032" cy="219456"/>
          </a:xfrm>
          <a:prstGeom prst="rect">
            <a:avLst/>
          </a:prstGeom>
          <a:solidFill>
            <a:srgbClr val="00A896"/>
          </a:solidFill>
          <a:ln w="12700">
            <a:solidFill>
              <a:srgbClr val="00A896"/>
            </a:solidFill>
            <a:prstDash val="solid"/>
          </a:ln>
        </p:spPr>
        <p:txBody>
          <a:bodyPr/>
          <a:lstStyle/>
          <a:p>
            <a:endParaRPr/>
          </a:p>
        </p:txBody>
      </p:sp>
      <p:sp>
        <p:nvSpPr>
          <p:cNvPr id="8" name="Text 6"/>
          <p:cNvSpPr/>
          <p:nvPr/>
        </p:nvSpPr>
        <p:spPr>
          <a:xfrm>
            <a:off x="2212848" y="1810512"/>
            <a:ext cx="256032" cy="219456"/>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9" name="Shape 7"/>
          <p:cNvSpPr/>
          <p:nvPr/>
        </p:nvSpPr>
        <p:spPr>
          <a:xfrm>
            <a:off x="2432304" y="1234440"/>
            <a:ext cx="1883664" cy="1463040"/>
          </a:xfrm>
          <a:prstGeom prst="rect">
            <a:avLst/>
          </a:prstGeom>
          <a:solidFill>
            <a:srgbClr val="028090"/>
          </a:solidFill>
          <a:ln w="19050">
            <a:solidFill>
              <a:srgbClr val="00A896"/>
            </a:solidFill>
            <a:prstDash val="solid"/>
          </a:ln>
          <a:effectLst>
            <a:outerShdw blurRad="101600" dist="38100" dir="8100000" algn="bl" rotWithShape="0">
              <a:srgbClr val="000000">
                <a:alpha val="12000"/>
              </a:srgbClr>
            </a:outerShdw>
          </a:effectLst>
        </p:spPr>
        <p:txBody>
          <a:bodyPr/>
          <a:lstStyle/>
          <a:p>
            <a:endParaRPr/>
          </a:p>
        </p:txBody>
      </p:sp>
      <p:sp>
        <p:nvSpPr>
          <p:cNvPr id="10" name="Text 8"/>
          <p:cNvSpPr/>
          <p:nvPr/>
        </p:nvSpPr>
        <p:spPr>
          <a:xfrm>
            <a:off x="2432304" y="1298448"/>
            <a:ext cx="1883664" cy="676656"/>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CAKO Drone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Operator Training</a:t>
            </a:r>
            <a:endParaRPr lang="en-US" sz="1150" dirty="0"/>
          </a:p>
        </p:txBody>
      </p:sp>
      <p:sp>
        <p:nvSpPr>
          <p:cNvPr id="11" name="Text 9"/>
          <p:cNvSpPr/>
          <p:nvPr/>
        </p:nvSpPr>
        <p:spPr>
          <a:xfrm>
            <a:off x="2432304" y="1938528"/>
            <a:ext cx="1883664" cy="658368"/>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12–16 week program</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Baltimore residents</a:t>
            </a:r>
            <a:endParaRPr lang="en-US" sz="950" dirty="0"/>
          </a:p>
        </p:txBody>
      </p:sp>
      <p:sp>
        <p:nvSpPr>
          <p:cNvPr id="12" name="Shape 10"/>
          <p:cNvSpPr/>
          <p:nvPr/>
        </p:nvSpPr>
        <p:spPr>
          <a:xfrm>
            <a:off x="4389120" y="1810512"/>
            <a:ext cx="256032" cy="219456"/>
          </a:xfrm>
          <a:prstGeom prst="rect">
            <a:avLst/>
          </a:prstGeom>
          <a:solidFill>
            <a:srgbClr val="00A896"/>
          </a:solidFill>
          <a:ln w="12700">
            <a:solidFill>
              <a:srgbClr val="00A896"/>
            </a:solidFill>
            <a:prstDash val="solid"/>
          </a:ln>
        </p:spPr>
        <p:txBody>
          <a:bodyPr/>
          <a:lstStyle/>
          <a:p>
            <a:endParaRPr/>
          </a:p>
        </p:txBody>
      </p:sp>
      <p:sp>
        <p:nvSpPr>
          <p:cNvPr id="13" name="Text 11"/>
          <p:cNvSpPr/>
          <p:nvPr/>
        </p:nvSpPr>
        <p:spPr>
          <a:xfrm>
            <a:off x="4389120" y="1810512"/>
            <a:ext cx="256032" cy="219456"/>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14" name="Shape 12"/>
          <p:cNvSpPr/>
          <p:nvPr/>
        </p:nvSpPr>
        <p:spPr>
          <a:xfrm>
            <a:off x="4608576" y="1234440"/>
            <a:ext cx="1883664" cy="1463040"/>
          </a:xfrm>
          <a:prstGeom prst="rect">
            <a:avLst/>
          </a:prstGeom>
          <a:solidFill>
            <a:srgbClr val="028090"/>
          </a:solidFill>
          <a:ln w="19050">
            <a:solidFill>
              <a:srgbClr val="00A896"/>
            </a:solidFill>
            <a:prstDash val="solid"/>
          </a:ln>
          <a:effectLst>
            <a:outerShdw blurRad="101600" dist="38100" dir="8100000" algn="bl" rotWithShape="0">
              <a:srgbClr val="000000">
                <a:alpha val="12000"/>
              </a:srgbClr>
            </a:outerShdw>
          </a:effectLst>
        </p:spPr>
        <p:txBody>
          <a:bodyPr/>
          <a:lstStyle/>
          <a:p>
            <a:endParaRPr/>
          </a:p>
        </p:txBody>
      </p:sp>
      <p:sp>
        <p:nvSpPr>
          <p:cNvPr id="15" name="Text 13"/>
          <p:cNvSpPr/>
          <p:nvPr/>
        </p:nvSpPr>
        <p:spPr>
          <a:xfrm>
            <a:off x="4608576" y="1298448"/>
            <a:ext cx="1883664" cy="676656"/>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FP Hires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CAKO Graduates</a:t>
            </a:r>
            <a:endParaRPr lang="en-US" sz="1150" dirty="0"/>
          </a:p>
        </p:txBody>
      </p:sp>
      <p:sp>
        <p:nvSpPr>
          <p:cNvPr id="16" name="Text 14"/>
          <p:cNvSpPr/>
          <p:nvPr/>
        </p:nvSpPr>
        <p:spPr>
          <a:xfrm>
            <a:off x="4608576" y="1938528"/>
            <a:ext cx="1883664" cy="658368"/>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Market-rate wages</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Talent Pipeline Agmt</a:t>
            </a:r>
            <a:endParaRPr lang="en-US" sz="950" dirty="0"/>
          </a:p>
        </p:txBody>
      </p:sp>
      <p:sp>
        <p:nvSpPr>
          <p:cNvPr id="17" name="Shape 15"/>
          <p:cNvSpPr/>
          <p:nvPr/>
        </p:nvSpPr>
        <p:spPr>
          <a:xfrm>
            <a:off x="6565392" y="1810512"/>
            <a:ext cx="256032" cy="219456"/>
          </a:xfrm>
          <a:prstGeom prst="rect">
            <a:avLst/>
          </a:prstGeom>
          <a:solidFill>
            <a:srgbClr val="00A896"/>
          </a:solidFill>
          <a:ln w="12700">
            <a:solidFill>
              <a:srgbClr val="00A896"/>
            </a:solidFill>
            <a:prstDash val="solid"/>
          </a:ln>
        </p:spPr>
        <p:txBody>
          <a:bodyPr/>
          <a:lstStyle/>
          <a:p>
            <a:endParaRPr/>
          </a:p>
        </p:txBody>
      </p:sp>
      <p:sp>
        <p:nvSpPr>
          <p:cNvPr id="18" name="Text 16"/>
          <p:cNvSpPr/>
          <p:nvPr/>
        </p:nvSpPr>
        <p:spPr>
          <a:xfrm>
            <a:off x="6565392" y="1810512"/>
            <a:ext cx="256032" cy="219456"/>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6784848" y="1234440"/>
            <a:ext cx="1883664" cy="1463040"/>
          </a:xfrm>
          <a:prstGeom prst="rect">
            <a:avLst/>
          </a:prstGeom>
          <a:solidFill>
            <a:srgbClr val="028090"/>
          </a:solidFill>
          <a:ln w="19050">
            <a:solidFill>
              <a:srgbClr val="00A896"/>
            </a:solidFill>
            <a:prstDash val="solid"/>
          </a:ln>
          <a:effectLst>
            <a:outerShdw blurRad="101600" dist="38100" dir="8100000" algn="bl" rotWithShape="0">
              <a:srgbClr val="000000">
                <a:alpha val="12000"/>
              </a:srgbClr>
            </a:outerShdw>
          </a:effectLst>
        </p:spPr>
        <p:txBody>
          <a:bodyPr/>
          <a:lstStyle/>
          <a:p>
            <a:endParaRPr/>
          </a:p>
        </p:txBody>
      </p:sp>
      <p:sp>
        <p:nvSpPr>
          <p:cNvPr id="20" name="Text 18"/>
          <p:cNvSpPr/>
          <p:nvPr/>
        </p:nvSpPr>
        <p:spPr>
          <a:xfrm>
            <a:off x="6784848" y="1298448"/>
            <a:ext cx="1883664" cy="676656"/>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Operations Generate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Flight Data</a:t>
            </a:r>
            <a:endParaRPr lang="en-US" sz="1150" dirty="0"/>
          </a:p>
        </p:txBody>
      </p:sp>
      <p:sp>
        <p:nvSpPr>
          <p:cNvPr id="21" name="Text 19"/>
          <p:cNvSpPr/>
          <p:nvPr/>
        </p:nvSpPr>
        <p:spPr>
          <a:xfrm>
            <a:off x="6784848" y="1938528"/>
            <a:ext cx="1883664" cy="658368"/>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AKMS AI training</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MONK authorization</a:t>
            </a:r>
            <a:endParaRPr lang="en-US" sz="950" dirty="0"/>
          </a:p>
        </p:txBody>
      </p:sp>
      <p:sp>
        <p:nvSpPr>
          <p:cNvPr id="22" name="Text 20"/>
          <p:cNvSpPr/>
          <p:nvPr/>
        </p:nvSpPr>
        <p:spPr>
          <a:xfrm>
            <a:off x="274320" y="2907792"/>
            <a:ext cx="8595360" cy="347472"/>
          </a:xfrm>
          <a:prstGeom prst="rect">
            <a:avLst/>
          </a:prstGeom>
          <a:noFill/>
          <a:ln/>
        </p:spPr>
        <p:txBody>
          <a:bodyPr wrap="square" lIns="0" tIns="0" rIns="0" bIns="0" rtlCol="0" anchor="ctr"/>
          <a:lstStyle/>
          <a:p>
            <a:pPr marL="0" indent="0">
              <a:buNone/>
            </a:pPr>
            <a:r>
              <a:rPr lang="en-US" sz="1400" b="1" dirty="0">
                <a:solidFill>
                  <a:srgbClr val="00A896"/>
                </a:solidFill>
                <a:latin typeface="Calibri" pitchFamily="34" charset="0"/>
                <a:ea typeface="Calibri" pitchFamily="34" charset="-122"/>
                <a:cs typeface="Calibri" pitchFamily="34" charset="-120"/>
              </a:rPr>
              <a:t>Why This Matters for MEIA</a:t>
            </a:r>
            <a:endParaRPr lang="en-US" sz="1400" dirty="0"/>
          </a:p>
        </p:txBody>
      </p:sp>
      <p:pic>
        <p:nvPicPr>
          <p:cNvPr id="23" name="Image 0" descr="preencoded.png"/>
          <p:cNvPicPr>
            <a:picLocks noChangeAspect="1"/>
          </p:cNvPicPr>
          <p:nvPr/>
        </p:nvPicPr>
        <p:blipFill>
          <a:blip r:embed="rId3"/>
          <a:stretch>
            <a:fillRect/>
          </a:stretch>
        </p:blipFill>
        <p:spPr>
          <a:xfrm>
            <a:off x="365760" y="3364992"/>
            <a:ext cx="274320" cy="274320"/>
          </a:xfrm>
          <a:prstGeom prst="rect">
            <a:avLst/>
          </a:prstGeom>
        </p:spPr>
      </p:pic>
      <p:sp>
        <p:nvSpPr>
          <p:cNvPr id="24" name="Text 21"/>
          <p:cNvSpPr/>
          <p:nvPr/>
        </p:nvSpPr>
        <p:spPr>
          <a:xfrm>
            <a:off x="749808" y="3346704"/>
            <a:ext cx="8046720" cy="34747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Green collar jobs trained in Baltimore's most climate-vulnerable neighborhoods — Sandtown, Cherry Hill, Perkins Homes</a:t>
            </a:r>
            <a:endParaRPr lang="en-US" sz="1050" dirty="0"/>
          </a:p>
        </p:txBody>
      </p:sp>
      <p:pic>
        <p:nvPicPr>
          <p:cNvPr id="25" name="Image 1" descr="preencoded.png"/>
          <p:cNvPicPr>
            <a:picLocks noChangeAspect="1"/>
          </p:cNvPicPr>
          <p:nvPr/>
        </p:nvPicPr>
        <p:blipFill>
          <a:blip r:embed="rId4"/>
          <a:stretch>
            <a:fillRect/>
          </a:stretch>
        </p:blipFill>
        <p:spPr>
          <a:xfrm>
            <a:off x="365760" y="3767328"/>
            <a:ext cx="274320" cy="274320"/>
          </a:xfrm>
          <a:prstGeom prst="rect">
            <a:avLst/>
          </a:prstGeom>
        </p:spPr>
      </p:pic>
      <p:sp>
        <p:nvSpPr>
          <p:cNvPr id="26" name="Text 22"/>
          <p:cNvSpPr/>
          <p:nvPr/>
        </p:nvSpPr>
        <p:spPr>
          <a:xfrm>
            <a:off x="749808" y="3749040"/>
            <a:ext cx="8046720" cy="34747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CAKO Cohort 1: 10–15 operators trained free-of-cost to FP; graduates earn market-rate professional wages</a:t>
            </a:r>
            <a:endParaRPr lang="en-US" sz="1050" dirty="0"/>
          </a:p>
        </p:txBody>
      </p:sp>
      <p:pic>
        <p:nvPicPr>
          <p:cNvPr id="27" name="Image 2" descr="preencoded.png"/>
          <p:cNvPicPr>
            <a:picLocks noChangeAspect="1"/>
          </p:cNvPicPr>
          <p:nvPr/>
        </p:nvPicPr>
        <p:blipFill>
          <a:blip r:embed="rId5"/>
          <a:stretch>
            <a:fillRect/>
          </a:stretch>
        </p:blipFill>
        <p:spPr>
          <a:xfrm>
            <a:off x="365760" y="4169664"/>
            <a:ext cx="274320" cy="274320"/>
          </a:xfrm>
          <a:prstGeom prst="rect">
            <a:avLst/>
          </a:prstGeom>
        </p:spPr>
      </p:pic>
      <p:sp>
        <p:nvSpPr>
          <p:cNvPr id="28" name="Text 23"/>
          <p:cNvSpPr/>
          <p:nvPr/>
        </p:nvSpPr>
        <p:spPr>
          <a:xfrm>
            <a:off x="749808" y="4151376"/>
            <a:ext cx="8046720" cy="34747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EAF 501c3 structure ensures workforce program is grant-fundable, community-rooted, and financially independent of FP</a:t>
            </a:r>
            <a:endParaRPr lang="en-US" sz="1050" dirty="0"/>
          </a:p>
        </p:txBody>
      </p:sp>
      <p:pic>
        <p:nvPicPr>
          <p:cNvPr id="29" name="Image 3" descr="preencoded.png"/>
          <p:cNvPicPr>
            <a:picLocks noChangeAspect="1"/>
          </p:cNvPicPr>
          <p:nvPr/>
        </p:nvPicPr>
        <p:blipFill>
          <a:blip r:embed="rId6"/>
          <a:stretch>
            <a:fillRect/>
          </a:stretch>
        </p:blipFill>
        <p:spPr>
          <a:xfrm>
            <a:off x="365760" y="4572000"/>
            <a:ext cx="274320" cy="274320"/>
          </a:xfrm>
          <a:prstGeom prst="rect">
            <a:avLst/>
          </a:prstGeom>
        </p:spPr>
      </p:pic>
      <p:sp>
        <p:nvSpPr>
          <p:cNvPr id="30" name="Text 24"/>
          <p:cNvSpPr/>
          <p:nvPr/>
        </p:nvSpPr>
        <p:spPr>
          <a:xfrm>
            <a:off x="749808" y="4553712"/>
            <a:ext cx="8046720" cy="34747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MWVOB minority-owned company training minority Baltimore residents = MEIA's mission embodied in one program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w="12700">
            <a:solidFill>
              <a:srgbClr val="028090"/>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Anchor Customer: UMMS Sparrows Point LOC</a:t>
            </a:r>
            <a:endParaRPr lang="en-US" sz="2800" dirty="0"/>
          </a:p>
        </p:txBody>
      </p:sp>
      <p:sp>
        <p:nvSpPr>
          <p:cNvPr id="4" name="Shape 2"/>
          <p:cNvSpPr/>
          <p:nvPr/>
        </p:nvSpPr>
        <p:spPr>
          <a:xfrm>
            <a:off x="274320" y="1188720"/>
            <a:ext cx="2011680" cy="1078992"/>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5" name="Text 3"/>
          <p:cNvSpPr/>
          <p:nvPr/>
        </p:nvSpPr>
        <p:spPr>
          <a:xfrm>
            <a:off x="274320" y="1298448"/>
            <a:ext cx="2011680" cy="59344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415,000</a:t>
            </a:r>
            <a:endParaRPr lang="en-US" sz="2800" dirty="0"/>
          </a:p>
        </p:txBody>
      </p:sp>
      <p:sp>
        <p:nvSpPr>
          <p:cNvPr id="6" name="Text 4"/>
          <p:cNvSpPr/>
          <p:nvPr/>
        </p:nvSpPr>
        <p:spPr>
          <a:xfrm>
            <a:off x="274320" y="1782166"/>
            <a:ext cx="2011680" cy="410017"/>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sq ft LOC — opened Q2 2025</a:t>
            </a:r>
            <a:endParaRPr lang="en-US" sz="1000" dirty="0"/>
          </a:p>
        </p:txBody>
      </p:sp>
      <p:sp>
        <p:nvSpPr>
          <p:cNvPr id="7" name="Shape 5"/>
          <p:cNvSpPr/>
          <p:nvPr/>
        </p:nvSpPr>
        <p:spPr>
          <a:xfrm>
            <a:off x="2523744" y="1188720"/>
            <a:ext cx="2011680" cy="1078992"/>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8" name="Text 6"/>
          <p:cNvSpPr/>
          <p:nvPr/>
        </p:nvSpPr>
        <p:spPr>
          <a:xfrm>
            <a:off x="2523744" y="1298448"/>
            <a:ext cx="2011680" cy="59344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11</a:t>
            </a:r>
            <a:endParaRPr lang="en-US" sz="2800" dirty="0"/>
          </a:p>
        </p:txBody>
      </p:sp>
      <p:sp>
        <p:nvSpPr>
          <p:cNvPr id="9" name="Text 7"/>
          <p:cNvSpPr/>
          <p:nvPr/>
        </p:nvSpPr>
        <p:spPr>
          <a:xfrm>
            <a:off x="2523744" y="1782166"/>
            <a:ext cx="2011680" cy="410017"/>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UMMS hospitals served</a:t>
            </a:r>
            <a:endParaRPr lang="en-US" sz="1000" dirty="0"/>
          </a:p>
        </p:txBody>
      </p:sp>
      <p:sp>
        <p:nvSpPr>
          <p:cNvPr id="10" name="Shape 8"/>
          <p:cNvSpPr/>
          <p:nvPr/>
        </p:nvSpPr>
        <p:spPr>
          <a:xfrm>
            <a:off x="274320" y="2450592"/>
            <a:ext cx="2011680" cy="1078992"/>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11" name="Text 9"/>
          <p:cNvSpPr/>
          <p:nvPr/>
        </p:nvSpPr>
        <p:spPr>
          <a:xfrm>
            <a:off x="274320" y="2560320"/>
            <a:ext cx="2011680" cy="59344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25%</a:t>
            </a:r>
            <a:endParaRPr lang="en-US" sz="2800" dirty="0"/>
          </a:p>
        </p:txBody>
      </p:sp>
      <p:sp>
        <p:nvSpPr>
          <p:cNvPr id="12" name="Text 10"/>
          <p:cNvSpPr/>
          <p:nvPr/>
        </p:nvSpPr>
        <p:spPr>
          <a:xfrm>
            <a:off x="274320" y="3044038"/>
            <a:ext cx="2011680" cy="410017"/>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of all MD hospital care</a:t>
            </a:r>
            <a:endParaRPr lang="en-US" sz="1000" dirty="0"/>
          </a:p>
        </p:txBody>
      </p:sp>
      <p:sp>
        <p:nvSpPr>
          <p:cNvPr id="13" name="Shape 11"/>
          <p:cNvSpPr/>
          <p:nvPr/>
        </p:nvSpPr>
        <p:spPr>
          <a:xfrm>
            <a:off x="2523744" y="2450592"/>
            <a:ext cx="2011680" cy="1078992"/>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14" name="Text 12"/>
          <p:cNvSpPr/>
          <p:nvPr/>
        </p:nvSpPr>
        <p:spPr>
          <a:xfrm>
            <a:off x="2523744" y="2560320"/>
            <a:ext cx="2011680" cy="593446"/>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1.2M+</a:t>
            </a:r>
            <a:endParaRPr lang="en-US" sz="2800" dirty="0"/>
          </a:p>
        </p:txBody>
      </p:sp>
      <p:sp>
        <p:nvSpPr>
          <p:cNvPr id="15" name="Text 13"/>
          <p:cNvSpPr/>
          <p:nvPr/>
        </p:nvSpPr>
        <p:spPr>
          <a:xfrm>
            <a:off x="2523744" y="3044038"/>
            <a:ext cx="2011680" cy="410017"/>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outpatients annually</a:t>
            </a:r>
            <a:endParaRPr lang="en-US" sz="1000" dirty="0"/>
          </a:p>
        </p:txBody>
      </p:sp>
      <p:sp>
        <p:nvSpPr>
          <p:cNvPr id="16" name="Shape 14"/>
          <p:cNvSpPr/>
          <p:nvPr/>
        </p:nvSpPr>
        <p:spPr>
          <a:xfrm>
            <a:off x="4828032" y="1188720"/>
            <a:ext cx="4041648" cy="3474720"/>
          </a:xfrm>
          <a:prstGeom prst="rect">
            <a:avLst/>
          </a:prstGeom>
          <a:solidFill>
            <a:srgbClr val="015F6B"/>
          </a:solidFill>
          <a:ln w="12700">
            <a:solidFill>
              <a:srgbClr val="015F6B"/>
            </a:solidFill>
            <a:prstDash val="solid"/>
          </a:ln>
          <a:effectLst>
            <a:outerShdw blurRad="101600" dist="38100" dir="8100000" algn="bl" rotWithShape="0">
              <a:srgbClr val="000000">
                <a:alpha val="12000"/>
              </a:srgbClr>
            </a:outerShdw>
          </a:effectLst>
        </p:spPr>
        <p:txBody>
          <a:bodyPr/>
          <a:lstStyle/>
          <a:p>
            <a:endParaRPr/>
          </a:p>
        </p:txBody>
      </p:sp>
      <p:sp>
        <p:nvSpPr>
          <p:cNvPr id="17" name="Text 15"/>
          <p:cNvSpPr/>
          <p:nvPr/>
        </p:nvSpPr>
        <p:spPr>
          <a:xfrm>
            <a:off x="4828032" y="1234440"/>
            <a:ext cx="4041648"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Phase 1: Part 107 POC</a:t>
            </a:r>
            <a:endParaRPr lang="en-US" sz="1600" dirty="0"/>
          </a:p>
        </p:txBody>
      </p:sp>
      <p:sp>
        <p:nvSpPr>
          <p:cNvPr id="18" name="Shape 16"/>
          <p:cNvSpPr/>
          <p:nvPr/>
        </p:nvSpPr>
        <p:spPr>
          <a:xfrm>
            <a:off x="4919472" y="1737360"/>
            <a:ext cx="640080" cy="274320"/>
          </a:xfrm>
          <a:prstGeom prst="rect">
            <a:avLst/>
          </a:prstGeom>
          <a:solidFill>
            <a:srgbClr val="00A896"/>
          </a:solidFill>
          <a:ln w="12700">
            <a:solidFill>
              <a:srgbClr val="00A896"/>
            </a:solidFill>
            <a:prstDash val="solid"/>
          </a:ln>
        </p:spPr>
        <p:txBody>
          <a:bodyPr/>
          <a:lstStyle/>
          <a:p>
            <a:endParaRPr/>
          </a:p>
        </p:txBody>
      </p:sp>
      <p:sp>
        <p:nvSpPr>
          <p:cNvPr id="19" name="Text 17"/>
          <p:cNvSpPr/>
          <p:nvPr/>
        </p:nvSpPr>
        <p:spPr>
          <a:xfrm>
            <a:off x="4919472" y="1737360"/>
            <a:ext cx="6400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Route</a:t>
            </a:r>
            <a:endParaRPr lang="en-US" sz="850" dirty="0"/>
          </a:p>
        </p:txBody>
      </p:sp>
      <p:sp>
        <p:nvSpPr>
          <p:cNvPr id="20" name="Text 18"/>
          <p:cNvSpPr/>
          <p:nvPr/>
        </p:nvSpPr>
        <p:spPr>
          <a:xfrm>
            <a:off x="5632704" y="1737360"/>
            <a:ext cx="3127248"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Sparrows Point LOC → UMMC Downtown (~8 mi, Patapsco corridor)</a:t>
            </a:r>
            <a:endParaRPr lang="en-US" sz="950" dirty="0"/>
          </a:p>
        </p:txBody>
      </p:sp>
      <p:sp>
        <p:nvSpPr>
          <p:cNvPr id="21" name="Shape 19"/>
          <p:cNvSpPr/>
          <p:nvPr/>
        </p:nvSpPr>
        <p:spPr>
          <a:xfrm>
            <a:off x="4919472" y="2194560"/>
            <a:ext cx="640080" cy="274320"/>
          </a:xfrm>
          <a:prstGeom prst="rect">
            <a:avLst/>
          </a:prstGeom>
          <a:solidFill>
            <a:srgbClr val="00A896"/>
          </a:solidFill>
          <a:ln w="12700">
            <a:solidFill>
              <a:srgbClr val="00A896"/>
            </a:solidFill>
            <a:prstDash val="solid"/>
          </a:ln>
        </p:spPr>
        <p:txBody>
          <a:bodyPr/>
          <a:lstStyle/>
          <a:p>
            <a:endParaRPr/>
          </a:p>
        </p:txBody>
      </p:sp>
      <p:sp>
        <p:nvSpPr>
          <p:cNvPr id="22" name="Text 20"/>
          <p:cNvSpPr/>
          <p:nvPr/>
        </p:nvSpPr>
        <p:spPr>
          <a:xfrm>
            <a:off x="4919472" y="2194560"/>
            <a:ext cx="6400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Payload</a:t>
            </a:r>
            <a:endParaRPr lang="en-US" sz="850" dirty="0"/>
          </a:p>
        </p:txBody>
      </p:sp>
      <p:sp>
        <p:nvSpPr>
          <p:cNvPr id="23" name="Text 21"/>
          <p:cNvSpPr/>
          <p:nvPr/>
        </p:nvSpPr>
        <p:spPr>
          <a:xfrm>
            <a:off x="5632704" y="2194560"/>
            <a:ext cx="3127248"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Sub-5lb surgical kits &amp; medical supplies (non-controlled)</a:t>
            </a:r>
            <a:endParaRPr lang="en-US" sz="950" dirty="0"/>
          </a:p>
        </p:txBody>
      </p:sp>
      <p:sp>
        <p:nvSpPr>
          <p:cNvPr id="24" name="Shape 22"/>
          <p:cNvSpPr/>
          <p:nvPr/>
        </p:nvSpPr>
        <p:spPr>
          <a:xfrm>
            <a:off x="4919472" y="2651760"/>
            <a:ext cx="640080" cy="274320"/>
          </a:xfrm>
          <a:prstGeom prst="rect">
            <a:avLst/>
          </a:prstGeom>
          <a:solidFill>
            <a:srgbClr val="00A896"/>
          </a:solidFill>
          <a:ln w="12700">
            <a:solidFill>
              <a:srgbClr val="00A896"/>
            </a:solidFill>
            <a:prstDash val="solid"/>
          </a:ln>
        </p:spPr>
        <p:txBody>
          <a:bodyPr/>
          <a:lstStyle/>
          <a:p>
            <a:endParaRPr/>
          </a:p>
        </p:txBody>
      </p:sp>
      <p:sp>
        <p:nvSpPr>
          <p:cNvPr id="25" name="Text 23"/>
          <p:cNvSpPr/>
          <p:nvPr/>
        </p:nvSpPr>
        <p:spPr>
          <a:xfrm>
            <a:off x="4919472" y="2651760"/>
            <a:ext cx="6400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Ops</a:t>
            </a:r>
            <a:endParaRPr lang="en-US" sz="850" dirty="0"/>
          </a:p>
        </p:txBody>
      </p:sp>
      <p:sp>
        <p:nvSpPr>
          <p:cNvPr id="26" name="Text 24"/>
          <p:cNvSpPr/>
          <p:nvPr/>
        </p:nvSpPr>
        <p:spPr>
          <a:xfrm>
            <a:off x="5632704" y="2651760"/>
            <a:ext cx="3127248"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Part 107 commercial; LAANC authorized; Remote ID compliant; drone rented for pilot</a:t>
            </a:r>
            <a:endParaRPr lang="en-US" sz="950" dirty="0"/>
          </a:p>
        </p:txBody>
      </p:sp>
      <p:sp>
        <p:nvSpPr>
          <p:cNvPr id="27" name="Shape 25"/>
          <p:cNvSpPr/>
          <p:nvPr/>
        </p:nvSpPr>
        <p:spPr>
          <a:xfrm>
            <a:off x="4919472" y="3108960"/>
            <a:ext cx="640080" cy="274320"/>
          </a:xfrm>
          <a:prstGeom prst="rect">
            <a:avLst/>
          </a:prstGeom>
          <a:solidFill>
            <a:srgbClr val="00A896"/>
          </a:solidFill>
          <a:ln w="12700">
            <a:solidFill>
              <a:srgbClr val="00A896"/>
            </a:solidFill>
            <a:prstDash val="solid"/>
          </a:ln>
        </p:spPr>
        <p:txBody>
          <a:bodyPr/>
          <a:lstStyle/>
          <a:p>
            <a:endParaRPr/>
          </a:p>
        </p:txBody>
      </p:sp>
      <p:sp>
        <p:nvSpPr>
          <p:cNvPr id="28" name="Text 26"/>
          <p:cNvSpPr/>
          <p:nvPr/>
        </p:nvSpPr>
        <p:spPr>
          <a:xfrm>
            <a:off x="4919472" y="3108960"/>
            <a:ext cx="6400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Pilot</a:t>
            </a:r>
            <a:endParaRPr lang="en-US" sz="850" dirty="0"/>
          </a:p>
        </p:txBody>
      </p:sp>
      <p:sp>
        <p:nvSpPr>
          <p:cNvPr id="29" name="Text 27"/>
          <p:cNvSpPr/>
          <p:nvPr/>
        </p:nvSpPr>
        <p:spPr>
          <a:xfrm>
            <a:off x="5632704" y="3108960"/>
            <a:ext cx="3127248"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30–60 days; minimum 50 deliveries</a:t>
            </a:r>
            <a:endParaRPr lang="en-US" sz="950" dirty="0"/>
          </a:p>
        </p:txBody>
      </p:sp>
      <p:sp>
        <p:nvSpPr>
          <p:cNvPr id="30" name="Shape 28"/>
          <p:cNvSpPr/>
          <p:nvPr/>
        </p:nvSpPr>
        <p:spPr>
          <a:xfrm>
            <a:off x="4919472" y="3566160"/>
            <a:ext cx="640080" cy="274320"/>
          </a:xfrm>
          <a:prstGeom prst="rect">
            <a:avLst/>
          </a:prstGeom>
          <a:solidFill>
            <a:srgbClr val="00A896"/>
          </a:solidFill>
          <a:ln w="12700">
            <a:solidFill>
              <a:srgbClr val="00A896"/>
            </a:solidFill>
            <a:prstDash val="solid"/>
          </a:ln>
        </p:spPr>
        <p:txBody>
          <a:bodyPr/>
          <a:lstStyle/>
          <a:p>
            <a:endParaRPr/>
          </a:p>
        </p:txBody>
      </p:sp>
      <p:sp>
        <p:nvSpPr>
          <p:cNvPr id="31" name="Text 29"/>
          <p:cNvSpPr/>
          <p:nvPr/>
        </p:nvSpPr>
        <p:spPr>
          <a:xfrm>
            <a:off x="4919472" y="3566160"/>
            <a:ext cx="6400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Target</a:t>
            </a:r>
            <a:endParaRPr lang="en-US" sz="850" dirty="0"/>
          </a:p>
        </p:txBody>
      </p:sp>
      <p:sp>
        <p:nvSpPr>
          <p:cNvPr id="32" name="Text 30"/>
          <p:cNvSpPr/>
          <p:nvPr/>
        </p:nvSpPr>
        <p:spPr>
          <a:xfrm>
            <a:off x="5632704" y="3566160"/>
            <a:ext cx="3127248"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&gt;95% completion rate; &lt;50% truck cost per delivery; pricing at cost-plus-expenses (~$2,500–$5,000 full pilot)</a:t>
            </a:r>
            <a:endParaRPr lang="en-US" sz="950" dirty="0"/>
          </a:p>
        </p:txBody>
      </p:sp>
      <p:sp>
        <p:nvSpPr>
          <p:cNvPr id="33" name="Shape 31"/>
          <p:cNvSpPr/>
          <p:nvPr/>
        </p:nvSpPr>
        <p:spPr>
          <a:xfrm>
            <a:off x="4919472" y="4023360"/>
            <a:ext cx="640080" cy="274320"/>
          </a:xfrm>
          <a:prstGeom prst="rect">
            <a:avLst/>
          </a:prstGeom>
          <a:solidFill>
            <a:srgbClr val="00A896"/>
          </a:solidFill>
          <a:ln w="12700">
            <a:solidFill>
              <a:srgbClr val="00A896"/>
            </a:solidFill>
            <a:prstDash val="solid"/>
          </a:ln>
        </p:spPr>
        <p:txBody>
          <a:bodyPr/>
          <a:lstStyle/>
          <a:p>
            <a:endParaRPr/>
          </a:p>
        </p:txBody>
      </p:sp>
      <p:sp>
        <p:nvSpPr>
          <p:cNvPr id="34" name="Text 32"/>
          <p:cNvSpPr/>
          <p:nvPr/>
        </p:nvSpPr>
        <p:spPr>
          <a:xfrm>
            <a:off x="4919472" y="4023360"/>
            <a:ext cx="640080" cy="27432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Contact</a:t>
            </a:r>
            <a:endParaRPr lang="en-US" sz="850" dirty="0"/>
          </a:p>
        </p:txBody>
      </p:sp>
      <p:sp>
        <p:nvSpPr>
          <p:cNvPr id="35" name="Text 33"/>
          <p:cNvSpPr/>
          <p:nvPr/>
        </p:nvSpPr>
        <p:spPr>
          <a:xfrm>
            <a:off x="5632704" y="4023360"/>
            <a:ext cx="3127248"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Pat Vizzard, VP Supply Chain Management, UMMS</a:t>
            </a:r>
            <a:endParaRPr lang="en-US" sz="950" dirty="0"/>
          </a:p>
        </p:txBody>
      </p:sp>
      <p:sp>
        <p:nvSpPr>
          <p:cNvPr id="36" name="Shape 34"/>
          <p:cNvSpPr/>
          <p:nvPr/>
        </p:nvSpPr>
        <p:spPr>
          <a:xfrm>
            <a:off x="274320" y="3913632"/>
            <a:ext cx="4370832" cy="896112"/>
          </a:xfrm>
          <a:prstGeom prst="rect">
            <a:avLst/>
          </a:prstGeom>
          <a:solidFill>
            <a:srgbClr val="1E3A5F"/>
          </a:solidFill>
          <a:ln w="12700">
            <a:solidFill>
              <a:srgbClr val="F59E0B"/>
            </a:solidFill>
            <a:prstDash val="solid"/>
          </a:ln>
          <a:effectLst>
            <a:outerShdw blurRad="101600" dist="38100" dir="8100000" algn="bl" rotWithShape="0">
              <a:srgbClr val="000000">
                <a:alpha val="12000"/>
              </a:srgbClr>
            </a:outerShdw>
          </a:effectLst>
        </p:spPr>
        <p:txBody>
          <a:bodyPr/>
          <a:lstStyle/>
          <a:p>
            <a:endParaRPr/>
          </a:p>
        </p:txBody>
      </p:sp>
      <p:sp>
        <p:nvSpPr>
          <p:cNvPr id="37" name="Text 35"/>
          <p:cNvSpPr/>
          <p:nvPr/>
        </p:nvSpPr>
        <p:spPr>
          <a:xfrm>
            <a:off x="402336" y="3968496"/>
            <a:ext cx="411480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Dr. Timothy Amukele (Hopkins)  |  Outreach Initiated</a:t>
            </a:r>
            <a:endParaRPr lang="en-US" sz="1000" dirty="0"/>
          </a:p>
        </p:txBody>
      </p:sp>
      <p:sp>
        <p:nvSpPr>
          <p:cNvPr id="38" name="Text 36"/>
          <p:cNvSpPr/>
          <p:nvPr/>
        </p:nvSpPr>
        <p:spPr>
          <a:xfrm>
            <a:off x="402336" y="4242816"/>
            <a:ext cx="4114800" cy="475488"/>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Drone medical delivery pioneer — KAI-Netics is engaging Dr. Amukele for research collaboration, POC validation, and UMMS/Hopkins network introductions.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0000" y="60000"/>
            <a:ext cx="8644000" cy="720000"/>
          </a:xfrm>
          <a:prstGeom prst="rect">
            <a:avLst/>
          </a:prstGeom>
          <a:noFill/>
        </p:spPr>
        <p:txBody>
          <a:bodyPr wrap="square">
            <a:spAutoFit/>
          </a:bodyPr>
          <a:lstStyle/>
          <a:p>
            <a:pPr algn="l"/>
            <a:r>
              <a:rPr sz="2400" b="1" i="0">
                <a:solidFill>
                  <a:srgbClr val="FFFFFF"/>
                </a:solidFill>
                <a:latin typeface="Calibri"/>
              </a:rPr>
              <a:t>Traction: What We Have Built Before Revenue</a:t>
            </a:r>
          </a:p>
        </p:txBody>
      </p:sp>
      <p:sp>
        <p:nvSpPr>
          <p:cNvPr id="5" name="TextBox 4"/>
          <p:cNvSpPr txBox="1"/>
          <p:nvPr/>
        </p:nvSpPr>
        <p:spPr>
          <a:xfrm>
            <a:off x="300000" y="680000"/>
            <a:ext cx="8644000" cy="250000"/>
          </a:xfrm>
          <a:prstGeom prst="rect">
            <a:avLst/>
          </a:prstGeom>
          <a:noFill/>
        </p:spPr>
        <p:txBody>
          <a:bodyPr wrap="square">
            <a:spAutoFit/>
          </a:bodyPr>
          <a:lstStyle/>
          <a:p>
            <a:pPr algn="l"/>
            <a:r>
              <a:rPr sz="1000" b="0" i="1">
                <a:solidFill>
                  <a:srgbClr val="028090"/>
                </a:solidFill>
                <a:latin typeface="Calibri"/>
              </a:rPr>
              <a:t>Proof points that no competitor can claim in this market — today.</a:t>
            </a:r>
          </a:p>
        </p:txBody>
      </p:sp>
      <p:sp>
        <p:nvSpPr>
          <p:cNvPr id="6" name="Rectangle 5"/>
          <p:cNvSpPr/>
          <p:nvPr/>
        </p:nvSpPr>
        <p:spPr>
          <a:xfrm>
            <a:off x="200000" y="1050000"/>
            <a:ext cx="4100000" cy="1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00000" y="1050000"/>
            <a:ext cx="4100000" cy="4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0000" y="1110000"/>
            <a:ext cx="4000000" cy="220000"/>
          </a:xfrm>
          <a:prstGeom prst="rect">
            <a:avLst/>
          </a:prstGeom>
          <a:noFill/>
        </p:spPr>
        <p:txBody>
          <a:bodyPr wrap="square">
            <a:spAutoFit/>
          </a:bodyPr>
          <a:lstStyle/>
          <a:p>
            <a:pPr algn="l"/>
            <a:r>
              <a:rPr sz="950" b="1" i="0">
                <a:solidFill>
                  <a:srgbClr val="028090"/>
                </a:solidFill>
                <a:latin typeface="Calibri"/>
              </a:rPr>
              <a:t>EAF Incorporated &amp; Board Seated</a:t>
            </a:r>
          </a:p>
        </p:txBody>
      </p:sp>
      <p:sp>
        <p:nvSpPr>
          <p:cNvPr id="9" name="TextBox 8"/>
          <p:cNvSpPr txBox="1"/>
          <p:nvPr/>
        </p:nvSpPr>
        <p:spPr>
          <a:xfrm>
            <a:off x="260000" y="1330000"/>
            <a:ext cx="4000000" cy="860000"/>
          </a:xfrm>
          <a:prstGeom prst="rect">
            <a:avLst/>
          </a:prstGeom>
          <a:noFill/>
        </p:spPr>
        <p:txBody>
          <a:bodyPr wrap="square">
            <a:spAutoFit/>
          </a:bodyPr>
          <a:lstStyle/>
          <a:p>
            <a:pPr algn="l"/>
            <a:r>
              <a:rPr sz="800" b="0" i="0">
                <a:solidFill>
                  <a:srgbClr val="CCE0EC"/>
                </a:solidFill>
                <a:latin typeface="Calibri"/>
              </a:rPr>
              <a:t>Maryland Nonstock Corporation formed 2/15/2026. Board: Maurice Ellis (licensed commercial pilot), James L. Scott Esq. (Mobley &amp; Brown, LLP), Dr. Alexander Kott (Former ARL Chief Scientist, SCORE Mentor). 501c3 application in preparation.</a:t>
            </a:r>
          </a:p>
        </p:txBody>
      </p:sp>
      <p:sp>
        <p:nvSpPr>
          <p:cNvPr id="10" name="Rectangle 9"/>
          <p:cNvSpPr/>
          <p:nvPr/>
        </p:nvSpPr>
        <p:spPr>
          <a:xfrm>
            <a:off x="4744000" y="1050000"/>
            <a:ext cx="4100000" cy="1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44000" y="1050000"/>
            <a:ext cx="4100000" cy="4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04000" y="1110000"/>
            <a:ext cx="4000000" cy="220000"/>
          </a:xfrm>
          <a:prstGeom prst="rect">
            <a:avLst/>
          </a:prstGeom>
          <a:noFill/>
        </p:spPr>
        <p:txBody>
          <a:bodyPr wrap="square">
            <a:spAutoFit/>
          </a:bodyPr>
          <a:lstStyle/>
          <a:p>
            <a:pPr algn="l"/>
            <a:r>
              <a:rPr sz="950" b="1" i="0">
                <a:solidFill>
                  <a:srgbClr val="02C39A"/>
                </a:solidFill>
                <a:latin typeface="Calibri"/>
              </a:rPr>
              <a:t>KAI-Netics Core Engine — Live in Production</a:t>
            </a:r>
          </a:p>
        </p:txBody>
      </p:sp>
      <p:sp>
        <p:nvSpPr>
          <p:cNvPr id="13" name="TextBox 12"/>
          <p:cNvSpPr txBox="1"/>
          <p:nvPr/>
        </p:nvSpPr>
        <p:spPr>
          <a:xfrm>
            <a:off x="4804000" y="1330000"/>
            <a:ext cx="4000000" cy="860000"/>
          </a:xfrm>
          <a:prstGeom prst="rect">
            <a:avLst/>
          </a:prstGeom>
          <a:noFill/>
        </p:spPr>
        <p:txBody>
          <a:bodyPr wrap="square">
            <a:spAutoFit/>
          </a:bodyPr>
          <a:lstStyle/>
          <a:p>
            <a:pPr algn="l"/>
            <a:r>
              <a:rPr sz="800" b="0" i="0">
                <a:solidFill>
                  <a:srgbClr val="CCE0EC"/>
                </a:solidFill>
                <a:latin typeface="Calibri"/>
              </a:rPr>
              <a:t>Foundry Engine agent platform running on n8n in Docker. Scout (grant intelligence) and Jordan (grant writer) fire daily at 7AM Eastern. Aidan orchestrator delivers WhatsApp briefings. Real infrastructure. Real agents. Running today.</a:t>
            </a:r>
          </a:p>
        </p:txBody>
      </p:sp>
      <p:sp>
        <p:nvSpPr>
          <p:cNvPr id="14" name="Rectangle 13"/>
          <p:cNvSpPr/>
          <p:nvPr/>
        </p:nvSpPr>
        <p:spPr>
          <a:xfrm>
            <a:off x="200000" y="2350000"/>
            <a:ext cx="4100000" cy="1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0000" y="2350000"/>
            <a:ext cx="4100000" cy="4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0000" y="2410000"/>
            <a:ext cx="4000000" cy="220000"/>
          </a:xfrm>
          <a:prstGeom prst="rect">
            <a:avLst/>
          </a:prstGeom>
          <a:noFill/>
        </p:spPr>
        <p:txBody>
          <a:bodyPr wrap="square">
            <a:spAutoFit/>
          </a:bodyPr>
          <a:lstStyle/>
          <a:p>
            <a:pPr algn="l"/>
            <a:r>
              <a:rPr sz="950" b="1" i="0">
                <a:solidFill>
                  <a:srgbClr val="F5A623"/>
                </a:solidFill>
                <a:latin typeface="Calibri"/>
              </a:rPr>
              <a:t>Dr. Timothy Amukele — Outreach Initiated</a:t>
            </a:r>
          </a:p>
        </p:txBody>
      </p:sp>
      <p:sp>
        <p:nvSpPr>
          <p:cNvPr id="17" name="TextBox 16"/>
          <p:cNvSpPr txBox="1"/>
          <p:nvPr/>
        </p:nvSpPr>
        <p:spPr>
          <a:xfrm>
            <a:off x="260000" y="2630000"/>
            <a:ext cx="4000000" cy="860000"/>
          </a:xfrm>
          <a:prstGeom prst="rect">
            <a:avLst/>
          </a:prstGeom>
          <a:noFill/>
        </p:spPr>
        <p:txBody>
          <a:bodyPr wrap="square">
            <a:spAutoFit/>
          </a:bodyPr>
          <a:lstStyle/>
          <a:p>
            <a:pPr algn="l"/>
            <a:r>
              <a:rPr sz="800" b="0" i="0">
                <a:solidFill>
                  <a:srgbClr val="CCE0EC"/>
                </a:solidFill>
                <a:latin typeface="Calibri"/>
              </a:rPr>
              <a:t>Dr. Timothy Kien Amukele, Johns Hopkins School of Medicine pathologist and drone medical delivery pioneer, has been identified and outreach initiated. Dr. Amukele led the first rigorous studies of drone transport of blood samples and is the leading academic voice on medical drone delivery in the US. KAI-Netics is engaging him as prospective research collaborator, POC validator, and UMMS/Hopkins network introducer.</a:t>
            </a:r>
          </a:p>
        </p:txBody>
      </p:sp>
      <p:sp>
        <p:nvSpPr>
          <p:cNvPr id="18" name="Rectangle 17"/>
          <p:cNvSpPr/>
          <p:nvPr/>
        </p:nvSpPr>
        <p:spPr>
          <a:xfrm>
            <a:off x="4744000" y="2350000"/>
            <a:ext cx="4100000" cy="1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44000" y="2350000"/>
            <a:ext cx="4100000" cy="4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04000" y="2410000"/>
            <a:ext cx="4000000" cy="220000"/>
          </a:xfrm>
          <a:prstGeom prst="rect">
            <a:avLst/>
          </a:prstGeom>
          <a:noFill/>
        </p:spPr>
        <p:txBody>
          <a:bodyPr wrap="square">
            <a:spAutoFit/>
          </a:bodyPr>
          <a:lstStyle/>
          <a:p>
            <a:pPr algn="l"/>
            <a:r>
              <a:rPr sz="950" b="1" i="0">
                <a:solidFill>
                  <a:srgbClr val="028090"/>
                </a:solidFill>
                <a:latin typeface="Calibri"/>
              </a:rPr>
              <a:t>MEIA Phase 2 Cohort Member</a:t>
            </a:r>
          </a:p>
        </p:txBody>
      </p:sp>
      <p:sp>
        <p:nvSpPr>
          <p:cNvPr id="21" name="TextBox 20"/>
          <p:cNvSpPr txBox="1"/>
          <p:nvPr/>
        </p:nvSpPr>
        <p:spPr>
          <a:xfrm>
            <a:off x="4804000" y="2630000"/>
            <a:ext cx="4000000" cy="860000"/>
          </a:xfrm>
          <a:prstGeom prst="rect">
            <a:avLst/>
          </a:prstGeom>
          <a:noFill/>
        </p:spPr>
        <p:txBody>
          <a:bodyPr wrap="square">
            <a:spAutoFit/>
          </a:bodyPr>
          <a:lstStyle/>
          <a:p>
            <a:pPr algn="l"/>
            <a:r>
              <a:rPr sz="800" b="0" i="0">
                <a:solidFill>
                  <a:srgbClr val="CCE0EC"/>
                </a:solidFill>
                <a:latin typeface="Calibri"/>
              </a:rPr>
              <a:t>Accepted into MEIA's Phase 2 commercialization cohort — one of a select group of Maryland climate tech companies invited to present a commercialization plan. This presentation is the capstone of that engagement.</a:t>
            </a:r>
          </a:p>
        </p:txBody>
      </p:sp>
      <p:sp>
        <p:nvSpPr>
          <p:cNvPr id="22" name="Rectangle 21"/>
          <p:cNvSpPr/>
          <p:nvPr/>
        </p:nvSpPr>
        <p:spPr>
          <a:xfrm>
            <a:off x="200000" y="3650000"/>
            <a:ext cx="4100000" cy="1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00000" y="3650000"/>
            <a:ext cx="4100000" cy="4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0000" y="3710000"/>
            <a:ext cx="4000000" cy="220000"/>
          </a:xfrm>
          <a:prstGeom prst="rect">
            <a:avLst/>
          </a:prstGeom>
          <a:noFill/>
        </p:spPr>
        <p:txBody>
          <a:bodyPr wrap="square">
            <a:spAutoFit/>
          </a:bodyPr>
          <a:lstStyle/>
          <a:p>
            <a:pPr algn="l"/>
            <a:r>
              <a:rPr sz="950" b="1" i="0">
                <a:solidFill>
                  <a:srgbClr val="02C39A"/>
                </a:solidFill>
                <a:latin typeface="Calibri"/>
              </a:rPr>
              <a:t>UROC Internship Application In Progress</a:t>
            </a:r>
          </a:p>
        </p:txBody>
      </p:sp>
      <p:sp>
        <p:nvSpPr>
          <p:cNvPr id="25" name="TextBox 24"/>
          <p:cNvSpPr txBox="1"/>
          <p:nvPr/>
        </p:nvSpPr>
        <p:spPr>
          <a:xfrm>
            <a:off x="260000" y="3930000"/>
            <a:ext cx="4000000" cy="860000"/>
          </a:xfrm>
          <a:prstGeom prst="rect">
            <a:avLst/>
          </a:prstGeom>
          <a:noFill/>
        </p:spPr>
        <p:txBody>
          <a:bodyPr wrap="square">
            <a:spAutoFit/>
          </a:bodyPr>
          <a:lstStyle/>
          <a:p>
            <a:pPr algn="l"/>
            <a:r>
              <a:rPr sz="800" b="0" i="0">
                <a:solidFill>
                  <a:srgbClr val="CCE0EC"/>
                </a:solidFill>
                <a:latin typeface="Calibri"/>
              </a:rPr>
              <a:t>Applying for UROC internship that would place Kevin inside the University of Maryland organization building Maryland's commercial drone infrastructure — the same organization that DroneUp partners with. Positions KAI-Netics as an insider, not an outsider.</a:t>
            </a:r>
          </a:p>
        </p:txBody>
      </p:sp>
      <p:sp>
        <p:nvSpPr>
          <p:cNvPr id="26" name="Rectangle 25"/>
          <p:cNvSpPr/>
          <p:nvPr/>
        </p:nvSpPr>
        <p:spPr>
          <a:xfrm>
            <a:off x="4744000" y="3650000"/>
            <a:ext cx="4100000" cy="1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44000" y="3650000"/>
            <a:ext cx="4100000" cy="4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04000" y="3710000"/>
            <a:ext cx="4000000" cy="220000"/>
          </a:xfrm>
          <a:prstGeom prst="rect">
            <a:avLst/>
          </a:prstGeom>
          <a:noFill/>
        </p:spPr>
        <p:txBody>
          <a:bodyPr wrap="square">
            <a:spAutoFit/>
          </a:bodyPr>
          <a:lstStyle/>
          <a:p>
            <a:pPr algn="l"/>
            <a:r>
              <a:rPr sz="950" b="1" i="0">
                <a:solidFill>
                  <a:srgbClr val="F5A623"/>
                </a:solidFill>
                <a:latin typeface="Calibri"/>
              </a:rPr>
              <a:t>Techstars AI Health Baltimore — Demo Day June 3, 2026</a:t>
            </a:r>
          </a:p>
        </p:txBody>
      </p:sp>
      <p:sp>
        <p:nvSpPr>
          <p:cNvPr id="29" name="TextBox 28"/>
          <p:cNvSpPr txBox="1"/>
          <p:nvPr/>
        </p:nvSpPr>
        <p:spPr>
          <a:xfrm>
            <a:off x="4804000" y="3930000"/>
            <a:ext cx="4000000" cy="860000"/>
          </a:xfrm>
          <a:prstGeom prst="rect">
            <a:avLst/>
          </a:prstGeom>
          <a:noFill/>
        </p:spPr>
        <p:txBody>
          <a:bodyPr wrap="square">
            <a:spAutoFit/>
          </a:bodyPr>
          <a:lstStyle/>
          <a:p>
            <a:pPr algn="l"/>
            <a:r>
              <a:rPr sz="800" b="0" i="0">
                <a:solidFill>
                  <a:srgbClr val="CCE0EC"/>
                </a:solidFill>
                <a:latin typeface="Calibri"/>
              </a:rPr>
              <a:t>M&amp;T Bank Stadium. Anchored by UMMS, Hopkins, MedStar, CareFirst, and UMB. KAI-Netics is positioned to present to Baltimore's three largest health systems simultaneously at a single event. This is the BD event that validates Phase 1 revenue.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Why KAI-Netics Wins This Market</a:t>
            </a:r>
            <a:endParaRPr lang="en-US" sz="2800" dirty="0"/>
          </a:p>
        </p:txBody>
      </p:sp>
      <p:sp>
        <p:nvSpPr>
          <p:cNvPr id="4" name="Shape 2"/>
          <p:cNvSpPr/>
          <p:nvPr/>
        </p:nvSpPr>
        <p:spPr>
          <a:xfrm>
            <a:off x="274320" y="1188720"/>
            <a:ext cx="2670048" cy="1517904"/>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5" name="Shape 3"/>
          <p:cNvSpPr/>
          <p:nvPr/>
        </p:nvSpPr>
        <p:spPr>
          <a:xfrm>
            <a:off x="438912" y="1353312"/>
            <a:ext cx="457200" cy="457200"/>
          </a:xfrm>
          <a:prstGeom prst="ellipse">
            <a:avLst/>
          </a:prstGeom>
          <a:solidFill>
            <a:srgbClr val="028090"/>
          </a:solidFill>
          <a:ln w="12700">
            <a:solidFill>
              <a:srgbClr val="028090"/>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502920" y="1408176"/>
            <a:ext cx="329184" cy="329184"/>
          </a:xfrm>
          <a:prstGeom prst="rect">
            <a:avLst/>
          </a:prstGeom>
        </p:spPr>
      </p:pic>
      <p:sp>
        <p:nvSpPr>
          <p:cNvPr id="7" name="Text 4"/>
          <p:cNvSpPr/>
          <p:nvPr/>
        </p:nvSpPr>
        <p:spPr>
          <a:xfrm>
            <a:off x="969264" y="1353312"/>
            <a:ext cx="1847088"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FAA Part 107 Certified</a:t>
            </a:r>
            <a:endParaRPr lang="en-US" sz="1200" dirty="0"/>
          </a:p>
        </p:txBody>
      </p:sp>
      <p:sp>
        <p:nvSpPr>
          <p:cNvPr id="8" name="Text 5"/>
          <p:cNvSpPr/>
          <p:nvPr/>
        </p:nvSpPr>
        <p:spPr>
          <a:xfrm>
            <a:off x="438912" y="1883664"/>
            <a:ext cx="2340864" cy="6949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Cert #5250157 — commercially operational TODAY. No regulatory wait, no capital dependency. First revenue can start this month.</a:t>
            </a:r>
            <a:endParaRPr lang="en-US" sz="1000" dirty="0"/>
          </a:p>
        </p:txBody>
      </p:sp>
      <p:sp>
        <p:nvSpPr>
          <p:cNvPr id="9" name="Shape 6"/>
          <p:cNvSpPr/>
          <p:nvPr/>
        </p:nvSpPr>
        <p:spPr>
          <a:xfrm>
            <a:off x="3172968" y="1188720"/>
            <a:ext cx="2670048" cy="1517904"/>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10" name="Shape 7"/>
          <p:cNvSpPr/>
          <p:nvPr/>
        </p:nvSpPr>
        <p:spPr>
          <a:xfrm>
            <a:off x="3337560" y="1353312"/>
            <a:ext cx="457200" cy="457200"/>
          </a:xfrm>
          <a:prstGeom prst="ellipse">
            <a:avLst/>
          </a:prstGeom>
          <a:solidFill>
            <a:srgbClr val="028090"/>
          </a:solidFill>
          <a:ln w="12700">
            <a:solidFill>
              <a:srgbClr val="028090"/>
            </a:solidFill>
            <a:prstDash val="solid"/>
          </a:ln>
        </p:spPr>
        <p:txBody>
          <a:bodyPr/>
          <a:lstStyle/>
          <a:p>
            <a:endParaRPr/>
          </a:p>
        </p:txBody>
      </p:sp>
      <p:pic>
        <p:nvPicPr>
          <p:cNvPr id="11" name="Image 1" descr="preencoded.png"/>
          <p:cNvPicPr>
            <a:picLocks noChangeAspect="1"/>
          </p:cNvPicPr>
          <p:nvPr/>
        </p:nvPicPr>
        <p:blipFill>
          <a:blip r:embed="rId4"/>
          <a:stretch>
            <a:fillRect/>
          </a:stretch>
        </p:blipFill>
        <p:spPr>
          <a:xfrm>
            <a:off x="3401568" y="1408176"/>
            <a:ext cx="329184" cy="329184"/>
          </a:xfrm>
          <a:prstGeom prst="rect">
            <a:avLst/>
          </a:prstGeom>
        </p:spPr>
      </p:pic>
      <p:sp>
        <p:nvSpPr>
          <p:cNvPr id="12" name="Text 8"/>
          <p:cNvSpPr/>
          <p:nvPr/>
        </p:nvSpPr>
        <p:spPr>
          <a:xfrm>
            <a:off x="3867912" y="1353312"/>
            <a:ext cx="1847088"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Medline Career Insider</a:t>
            </a:r>
            <a:endParaRPr lang="en-US" sz="1200" dirty="0"/>
          </a:p>
        </p:txBody>
      </p:sp>
      <p:sp>
        <p:nvSpPr>
          <p:cNvPr id="13" name="Text 9"/>
          <p:cNvSpPr/>
          <p:nvPr/>
        </p:nvSpPr>
        <p:spPr>
          <a:xfrm>
            <a:off x="3337560" y="1883664"/>
            <a:ext cx="2340864" cy="6949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Direct knowledge of surgical kit delivery economics, fleet cost structures, and last-mile pain points. No competitor has this.</a:t>
            </a:r>
            <a:endParaRPr lang="en-US" sz="1000" dirty="0"/>
          </a:p>
        </p:txBody>
      </p:sp>
      <p:sp>
        <p:nvSpPr>
          <p:cNvPr id="14" name="Shape 10"/>
          <p:cNvSpPr/>
          <p:nvPr/>
        </p:nvSpPr>
        <p:spPr>
          <a:xfrm>
            <a:off x="6071616" y="1188720"/>
            <a:ext cx="2670048" cy="1517904"/>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15" name="Shape 11"/>
          <p:cNvSpPr/>
          <p:nvPr/>
        </p:nvSpPr>
        <p:spPr>
          <a:xfrm>
            <a:off x="6236208" y="1353312"/>
            <a:ext cx="457200" cy="457200"/>
          </a:xfrm>
          <a:prstGeom prst="ellipse">
            <a:avLst/>
          </a:prstGeom>
          <a:solidFill>
            <a:srgbClr val="028090"/>
          </a:solidFill>
          <a:ln w="12700">
            <a:solidFill>
              <a:srgbClr val="028090"/>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6300216" y="1408176"/>
            <a:ext cx="329184" cy="329184"/>
          </a:xfrm>
          <a:prstGeom prst="rect">
            <a:avLst/>
          </a:prstGeom>
        </p:spPr>
      </p:pic>
      <p:sp>
        <p:nvSpPr>
          <p:cNvPr id="17" name="Text 12"/>
          <p:cNvSpPr/>
          <p:nvPr/>
        </p:nvSpPr>
        <p:spPr>
          <a:xfrm>
            <a:off x="6766560" y="1353312"/>
            <a:ext cx="1847088"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UMGC Current Student</a:t>
            </a:r>
            <a:endParaRPr lang="en-US" sz="1200" dirty="0"/>
          </a:p>
        </p:txBody>
      </p:sp>
      <p:sp>
        <p:nvSpPr>
          <p:cNvPr id="18" name="Text 13"/>
          <p:cNvSpPr/>
          <p:nvPr/>
        </p:nvSpPr>
        <p:spPr>
          <a:xfrm>
            <a:off x="6236208" y="1883664"/>
            <a:ext cx="2340864" cy="6949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Eligible for UROC/CURN internship. Opens every Maryland institutional door. SBIR affiliation. Academic credibility layer.</a:t>
            </a:r>
            <a:endParaRPr lang="en-US" sz="1000" dirty="0"/>
          </a:p>
        </p:txBody>
      </p:sp>
      <p:sp>
        <p:nvSpPr>
          <p:cNvPr id="19" name="Shape 14"/>
          <p:cNvSpPr/>
          <p:nvPr/>
        </p:nvSpPr>
        <p:spPr>
          <a:xfrm>
            <a:off x="274320" y="2852928"/>
            <a:ext cx="2670048" cy="1517904"/>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20" name="Shape 15"/>
          <p:cNvSpPr/>
          <p:nvPr/>
        </p:nvSpPr>
        <p:spPr>
          <a:xfrm>
            <a:off x="438912" y="3017520"/>
            <a:ext cx="457200" cy="457200"/>
          </a:xfrm>
          <a:prstGeom prst="ellipse">
            <a:avLst/>
          </a:prstGeom>
          <a:solidFill>
            <a:srgbClr val="028090"/>
          </a:solidFill>
          <a:ln w="12700">
            <a:solidFill>
              <a:srgbClr val="028090"/>
            </a:solidFill>
            <a:prstDash val="solid"/>
          </a:ln>
        </p:spPr>
        <p:txBody>
          <a:bodyPr/>
          <a:lstStyle/>
          <a:p>
            <a:endParaRPr/>
          </a:p>
        </p:txBody>
      </p:sp>
      <p:pic>
        <p:nvPicPr>
          <p:cNvPr id="21" name="Image 3" descr="preencoded.png"/>
          <p:cNvPicPr>
            <a:picLocks noChangeAspect="1"/>
          </p:cNvPicPr>
          <p:nvPr/>
        </p:nvPicPr>
        <p:blipFill>
          <a:blip r:embed="rId6"/>
          <a:stretch>
            <a:fillRect/>
          </a:stretch>
        </p:blipFill>
        <p:spPr>
          <a:xfrm>
            <a:off x="502920" y="3072384"/>
            <a:ext cx="329184" cy="329184"/>
          </a:xfrm>
          <a:prstGeom prst="rect">
            <a:avLst/>
          </a:prstGeom>
        </p:spPr>
      </p:pic>
      <p:sp>
        <p:nvSpPr>
          <p:cNvPr id="22" name="Text 16"/>
          <p:cNvSpPr/>
          <p:nvPr/>
        </p:nvSpPr>
        <p:spPr>
          <a:xfrm>
            <a:off x="969264" y="3017520"/>
            <a:ext cx="1847088"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CISSP + PMP Active</a:t>
            </a:r>
            <a:endParaRPr lang="en-US" sz="1200" dirty="0"/>
          </a:p>
        </p:txBody>
      </p:sp>
      <p:sp>
        <p:nvSpPr>
          <p:cNvPr id="23" name="Text 17"/>
          <p:cNvSpPr/>
          <p:nvPr/>
        </p:nvSpPr>
        <p:spPr>
          <a:xfrm>
            <a:off x="438912" y="3547872"/>
            <a:ext cx="2340864" cy="6949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Federal/healthcare procurement signal. Enterprise-grade trust architecture (MONK). 33 years IT operational discipline.</a:t>
            </a:r>
            <a:endParaRPr lang="en-US" sz="1000" dirty="0"/>
          </a:p>
        </p:txBody>
      </p:sp>
      <p:sp>
        <p:nvSpPr>
          <p:cNvPr id="24" name="Shape 18"/>
          <p:cNvSpPr/>
          <p:nvPr/>
        </p:nvSpPr>
        <p:spPr>
          <a:xfrm>
            <a:off x="3172968" y="2852928"/>
            <a:ext cx="2670048" cy="1517904"/>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25" name="Shape 19"/>
          <p:cNvSpPr/>
          <p:nvPr/>
        </p:nvSpPr>
        <p:spPr>
          <a:xfrm>
            <a:off x="3337560" y="3017520"/>
            <a:ext cx="457200" cy="457200"/>
          </a:xfrm>
          <a:prstGeom prst="ellipse">
            <a:avLst/>
          </a:prstGeom>
          <a:solidFill>
            <a:srgbClr val="028090"/>
          </a:solidFill>
          <a:ln w="12700">
            <a:solidFill>
              <a:srgbClr val="028090"/>
            </a:solidFill>
            <a:prstDash val="solid"/>
          </a:ln>
        </p:spPr>
        <p:txBody>
          <a:bodyPr/>
          <a:lstStyle/>
          <a:p>
            <a:endParaRPr/>
          </a:p>
        </p:txBody>
      </p:sp>
      <p:pic>
        <p:nvPicPr>
          <p:cNvPr id="26" name="Image 4" descr="preencoded.png"/>
          <p:cNvPicPr>
            <a:picLocks noChangeAspect="1"/>
          </p:cNvPicPr>
          <p:nvPr/>
        </p:nvPicPr>
        <p:blipFill>
          <a:blip r:embed="rId7"/>
          <a:stretch>
            <a:fillRect/>
          </a:stretch>
        </p:blipFill>
        <p:spPr>
          <a:xfrm>
            <a:off x="3401568" y="3072384"/>
            <a:ext cx="329184" cy="329184"/>
          </a:xfrm>
          <a:prstGeom prst="rect">
            <a:avLst/>
          </a:prstGeom>
        </p:spPr>
      </p:pic>
      <p:sp>
        <p:nvSpPr>
          <p:cNvPr id="27" name="Text 20"/>
          <p:cNvSpPr/>
          <p:nvPr/>
        </p:nvSpPr>
        <p:spPr>
          <a:xfrm>
            <a:off x="3867912" y="3017520"/>
            <a:ext cx="1847088"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MWVOB Minority-Owned</a:t>
            </a:r>
            <a:endParaRPr lang="en-US" sz="1200" dirty="0"/>
          </a:p>
        </p:txBody>
      </p:sp>
      <p:sp>
        <p:nvSpPr>
          <p:cNvPr id="28" name="Text 21"/>
          <p:cNvSpPr/>
          <p:nvPr/>
        </p:nvSpPr>
        <p:spPr>
          <a:xfrm>
            <a:off x="3337560" y="3547872"/>
            <a:ext cx="2340864" cy="6949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MEIA priority population. MBE certification in progress. Government set-aside eligible. Green collar workforce (EAF/CAKO).</a:t>
            </a:r>
            <a:endParaRPr lang="en-US" sz="1000" dirty="0"/>
          </a:p>
        </p:txBody>
      </p:sp>
      <p:sp>
        <p:nvSpPr>
          <p:cNvPr id="29" name="Shape 22"/>
          <p:cNvSpPr/>
          <p:nvPr/>
        </p:nvSpPr>
        <p:spPr>
          <a:xfrm>
            <a:off x="6071616" y="2852928"/>
            <a:ext cx="2670048" cy="1517904"/>
          </a:xfrm>
          <a:prstGeom prst="rect">
            <a:avLst/>
          </a:prstGeom>
          <a:solidFill>
            <a:srgbClr val="FFFFFF"/>
          </a:solidFill>
          <a:ln w="12700">
            <a:solidFill>
              <a:srgbClr val="E2E8ED"/>
            </a:solidFill>
            <a:prstDash val="solid"/>
          </a:ln>
          <a:effectLst>
            <a:outerShdw blurRad="101600" dist="38100" dir="8100000" algn="bl" rotWithShape="0">
              <a:srgbClr val="000000">
                <a:alpha val="12000"/>
              </a:srgbClr>
            </a:outerShdw>
          </a:effectLst>
        </p:spPr>
        <p:txBody>
          <a:bodyPr/>
          <a:lstStyle/>
          <a:p>
            <a:endParaRPr/>
          </a:p>
        </p:txBody>
      </p:sp>
      <p:sp>
        <p:nvSpPr>
          <p:cNvPr id="30" name="Shape 23"/>
          <p:cNvSpPr/>
          <p:nvPr/>
        </p:nvSpPr>
        <p:spPr>
          <a:xfrm>
            <a:off x="6236208" y="3017520"/>
            <a:ext cx="457200" cy="457200"/>
          </a:xfrm>
          <a:prstGeom prst="ellipse">
            <a:avLst/>
          </a:prstGeom>
          <a:solidFill>
            <a:srgbClr val="028090"/>
          </a:solidFill>
          <a:ln w="12700">
            <a:solidFill>
              <a:srgbClr val="028090"/>
            </a:solidFill>
            <a:prstDash val="solid"/>
          </a:ln>
        </p:spPr>
        <p:txBody>
          <a:bodyPr/>
          <a:lstStyle/>
          <a:p>
            <a:endParaRPr/>
          </a:p>
        </p:txBody>
      </p:sp>
      <p:pic>
        <p:nvPicPr>
          <p:cNvPr id="31" name="Image 5" descr="preencoded.png"/>
          <p:cNvPicPr>
            <a:picLocks noChangeAspect="1"/>
          </p:cNvPicPr>
          <p:nvPr/>
        </p:nvPicPr>
        <p:blipFill>
          <a:blip r:embed="rId8"/>
          <a:stretch>
            <a:fillRect/>
          </a:stretch>
        </p:blipFill>
        <p:spPr>
          <a:xfrm>
            <a:off x="6300216" y="3072384"/>
            <a:ext cx="329184" cy="329184"/>
          </a:xfrm>
          <a:prstGeom prst="rect">
            <a:avLst/>
          </a:prstGeom>
        </p:spPr>
      </p:pic>
      <p:sp>
        <p:nvSpPr>
          <p:cNvPr id="32" name="Text 24"/>
          <p:cNvSpPr/>
          <p:nvPr/>
        </p:nvSpPr>
        <p:spPr>
          <a:xfrm>
            <a:off x="6766560" y="3017520"/>
            <a:ext cx="1847088" cy="347472"/>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CURN Ecosystem Access</a:t>
            </a:r>
            <a:endParaRPr lang="en-US" sz="1200" dirty="0"/>
          </a:p>
        </p:txBody>
      </p:sp>
      <p:sp>
        <p:nvSpPr>
          <p:cNvPr id="33" name="Text 25"/>
          <p:cNvSpPr/>
          <p:nvPr/>
        </p:nvSpPr>
        <p:spPr>
          <a:xfrm>
            <a:off x="6236208" y="3547872"/>
            <a:ext cx="2340864" cy="694944"/>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Applying for UROC internship — would place Kevin inside the organization building Maryland's commercial drone infrastructure.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0000" y="60000"/>
            <a:ext cx="8644000" cy="720000"/>
          </a:xfrm>
          <a:prstGeom prst="rect">
            <a:avLst/>
          </a:prstGeom>
          <a:noFill/>
        </p:spPr>
        <p:txBody>
          <a:bodyPr wrap="square">
            <a:spAutoFit/>
          </a:bodyPr>
          <a:lstStyle/>
          <a:p>
            <a:pPr algn="l"/>
            <a:r>
              <a:rPr sz="2400" b="1" i="0">
                <a:solidFill>
                  <a:srgbClr val="FFFFFF"/>
                </a:solidFill>
                <a:latin typeface="Calibri"/>
              </a:rPr>
              <a:t>Why No One Else Can Do This</a:t>
            </a:r>
          </a:p>
        </p:txBody>
      </p:sp>
      <p:sp>
        <p:nvSpPr>
          <p:cNvPr id="5" name="TextBox 4"/>
          <p:cNvSpPr txBox="1"/>
          <p:nvPr/>
        </p:nvSpPr>
        <p:spPr>
          <a:xfrm>
            <a:off x="300000" y="680000"/>
            <a:ext cx="8644000" cy="250000"/>
          </a:xfrm>
          <a:prstGeom prst="rect">
            <a:avLst/>
          </a:prstGeom>
          <a:noFill/>
        </p:spPr>
        <p:txBody>
          <a:bodyPr wrap="square">
            <a:spAutoFit/>
          </a:bodyPr>
          <a:lstStyle/>
          <a:p>
            <a:pPr algn="l"/>
            <a:r>
              <a:rPr sz="1000" b="0" i="1">
                <a:solidFill>
                  <a:srgbClr val="028090"/>
                </a:solidFill>
                <a:latin typeface="Calibri"/>
              </a:rPr>
              <a:t>A fair look at the competitive landscape — and where KAI-Netics stands alone</a:t>
            </a:r>
          </a:p>
        </p:txBody>
      </p:sp>
      <p:sp>
        <p:nvSpPr>
          <p:cNvPr id="6" name="Rectangle 5"/>
          <p:cNvSpPr/>
          <p:nvPr/>
        </p:nvSpPr>
        <p:spPr>
          <a:xfrm>
            <a:off x="300000" y="1020000"/>
            <a:ext cx="2582000" cy="420000"/>
          </a:xfrm>
          <a:prstGeom prst="rect">
            <a:avLst/>
          </a:prstGeom>
          <a:solidFill>
            <a:srgbClr val="0A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0000" y="1100000"/>
            <a:ext cx="2480000" cy="340000"/>
          </a:xfrm>
          <a:prstGeom prst="rect">
            <a:avLst/>
          </a:prstGeom>
          <a:noFill/>
        </p:spPr>
        <p:txBody>
          <a:bodyPr wrap="square">
            <a:spAutoFit/>
          </a:bodyPr>
          <a:lstStyle/>
          <a:p>
            <a:pPr algn="ctr"/>
            <a:r>
              <a:rPr sz="900" b="1" i="0">
                <a:solidFill>
                  <a:srgbClr val="7AB4C8"/>
                </a:solidFill>
                <a:latin typeface="Calibri"/>
              </a:rPr>
              <a:t>CAPABILITY</a:t>
            </a:r>
          </a:p>
        </p:txBody>
      </p:sp>
      <p:sp>
        <p:nvSpPr>
          <p:cNvPr id="8" name="Rectangle 7"/>
          <p:cNvSpPr/>
          <p:nvPr/>
        </p:nvSpPr>
        <p:spPr>
          <a:xfrm>
            <a:off x="2900000" y="1020000"/>
            <a:ext cx="1542000" cy="420000"/>
          </a:xfrm>
          <a:prstGeom prst="rect">
            <a:avLst/>
          </a:prstGeom>
          <a:solidFill>
            <a:srgbClr val="025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60000" y="1100000"/>
            <a:ext cx="1440000" cy="340000"/>
          </a:xfrm>
          <a:prstGeom prst="rect">
            <a:avLst/>
          </a:prstGeom>
          <a:noFill/>
        </p:spPr>
        <p:txBody>
          <a:bodyPr wrap="square">
            <a:spAutoFit/>
          </a:bodyPr>
          <a:lstStyle/>
          <a:p>
            <a:pPr algn="ctr"/>
            <a:r>
              <a:rPr sz="900" b="1" i="0">
                <a:solidFill>
                  <a:srgbClr val="02C39A"/>
                </a:solidFill>
                <a:latin typeface="Calibri"/>
              </a:rPr>
              <a:t>KAI-NETICS</a:t>
            </a:r>
          </a:p>
        </p:txBody>
      </p:sp>
      <p:sp>
        <p:nvSpPr>
          <p:cNvPr id="10" name="Rectangle 9"/>
          <p:cNvSpPr/>
          <p:nvPr/>
        </p:nvSpPr>
        <p:spPr>
          <a:xfrm>
            <a:off x="4460000" y="1020000"/>
            <a:ext cx="1542000" cy="420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0000" y="1100000"/>
            <a:ext cx="1440000" cy="340000"/>
          </a:xfrm>
          <a:prstGeom prst="rect">
            <a:avLst/>
          </a:prstGeom>
          <a:noFill/>
        </p:spPr>
        <p:txBody>
          <a:bodyPr wrap="square">
            <a:spAutoFit/>
          </a:bodyPr>
          <a:lstStyle/>
          <a:p>
            <a:pPr algn="ctr"/>
            <a:r>
              <a:rPr sz="800" b="1" i="0">
                <a:solidFill>
                  <a:srgbClr val="CCE0EC"/>
                </a:solidFill>
                <a:latin typeface="Calibri"/>
              </a:rPr>
              <a:t>MISSIONGO
(Baltimore)</a:t>
            </a:r>
          </a:p>
        </p:txBody>
      </p:sp>
      <p:sp>
        <p:nvSpPr>
          <p:cNvPr id="12" name="Rectangle 11"/>
          <p:cNvSpPr/>
          <p:nvPr/>
        </p:nvSpPr>
        <p:spPr>
          <a:xfrm>
            <a:off x="6020000" y="1020000"/>
            <a:ext cx="1542000" cy="420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000" y="1100000"/>
            <a:ext cx="1440000" cy="340000"/>
          </a:xfrm>
          <a:prstGeom prst="rect">
            <a:avLst/>
          </a:prstGeom>
          <a:noFill/>
        </p:spPr>
        <p:txBody>
          <a:bodyPr wrap="square">
            <a:spAutoFit/>
          </a:bodyPr>
          <a:lstStyle/>
          <a:p>
            <a:pPr algn="ctr"/>
            <a:r>
              <a:rPr sz="800" b="1" i="0">
                <a:solidFill>
                  <a:srgbClr val="CCE0EC"/>
                </a:solidFill>
                <a:latin typeface="Calibri"/>
              </a:rPr>
              <a:t>DRONEUP
(Walmart)</a:t>
            </a:r>
          </a:p>
        </p:txBody>
      </p:sp>
      <p:sp>
        <p:nvSpPr>
          <p:cNvPr id="14" name="Rectangle 13"/>
          <p:cNvSpPr/>
          <p:nvPr/>
        </p:nvSpPr>
        <p:spPr>
          <a:xfrm>
            <a:off x="7580000" y="1020000"/>
            <a:ext cx="1542000" cy="420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40000" y="1100000"/>
            <a:ext cx="1440000" cy="340000"/>
          </a:xfrm>
          <a:prstGeom prst="rect">
            <a:avLst/>
          </a:prstGeom>
          <a:noFill/>
        </p:spPr>
        <p:txBody>
          <a:bodyPr wrap="square">
            <a:spAutoFit/>
          </a:bodyPr>
          <a:lstStyle/>
          <a:p>
            <a:pPr algn="ctr"/>
            <a:r>
              <a:rPr sz="800" b="1" i="0">
                <a:solidFill>
                  <a:srgbClr val="CCE0EC"/>
                </a:solidFill>
                <a:latin typeface="Calibri"/>
              </a:rPr>
              <a:t>WING / ZIPLINE
(National)</a:t>
            </a:r>
          </a:p>
        </p:txBody>
      </p:sp>
      <p:sp>
        <p:nvSpPr>
          <p:cNvPr id="16" name="Rectangle 15"/>
          <p:cNvSpPr/>
          <p:nvPr/>
        </p:nvSpPr>
        <p:spPr>
          <a:xfrm>
            <a:off x="300000" y="1440000"/>
            <a:ext cx="258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00000" y="1440000"/>
            <a:ext cx="1542000" cy="381000"/>
          </a:xfrm>
          <a:prstGeom prst="rect">
            <a:avLst/>
          </a:prstGeom>
          <a:solidFill>
            <a:srgbClr val="023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460000" y="144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20000" y="144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80000" y="144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0000" y="1500000"/>
            <a:ext cx="2480000" cy="310000"/>
          </a:xfrm>
          <a:prstGeom prst="rect">
            <a:avLst/>
          </a:prstGeom>
          <a:noFill/>
        </p:spPr>
        <p:txBody>
          <a:bodyPr wrap="square">
            <a:spAutoFit/>
          </a:bodyPr>
          <a:lstStyle/>
          <a:p>
            <a:pPr algn="l"/>
            <a:r>
              <a:rPr sz="850" b="0" i="0">
                <a:solidFill>
                  <a:srgbClr val="FFFFFF"/>
                </a:solidFill>
                <a:latin typeface="Calibri"/>
              </a:rPr>
              <a:t>Maryland-based operator</a:t>
            </a:r>
          </a:p>
        </p:txBody>
      </p:sp>
      <p:sp>
        <p:nvSpPr>
          <p:cNvPr id="22" name="TextBox 21"/>
          <p:cNvSpPr txBox="1"/>
          <p:nvPr/>
        </p:nvSpPr>
        <p:spPr>
          <a:xfrm>
            <a:off x="2940000" y="148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23" name="TextBox 22"/>
          <p:cNvSpPr txBox="1"/>
          <p:nvPr/>
        </p:nvSpPr>
        <p:spPr>
          <a:xfrm>
            <a:off x="2930000" y="1660000"/>
            <a:ext cx="1500000" cy="140000"/>
          </a:xfrm>
          <a:prstGeom prst="rect">
            <a:avLst/>
          </a:prstGeom>
          <a:noFill/>
        </p:spPr>
        <p:txBody>
          <a:bodyPr wrap="square">
            <a:spAutoFit/>
          </a:bodyPr>
          <a:lstStyle/>
          <a:p>
            <a:pPr algn="ctr"/>
            <a:r>
              <a:rPr sz="650" b="0" i="0">
                <a:solidFill>
                  <a:srgbClr val="CCE0EC"/>
                </a:solidFill>
                <a:latin typeface="Calibri"/>
              </a:rPr>
              <a:t>Day 1 presence, Baltimore HQ</a:t>
            </a:r>
          </a:p>
        </p:txBody>
      </p:sp>
      <p:sp>
        <p:nvSpPr>
          <p:cNvPr id="24" name="TextBox 23"/>
          <p:cNvSpPr txBox="1"/>
          <p:nvPr/>
        </p:nvSpPr>
        <p:spPr>
          <a:xfrm>
            <a:off x="4500000" y="148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25" name="TextBox 24"/>
          <p:cNvSpPr txBox="1"/>
          <p:nvPr/>
        </p:nvSpPr>
        <p:spPr>
          <a:xfrm>
            <a:off x="4490000" y="1660000"/>
            <a:ext cx="1500000" cy="140000"/>
          </a:xfrm>
          <a:prstGeom prst="rect">
            <a:avLst/>
          </a:prstGeom>
          <a:noFill/>
        </p:spPr>
        <p:txBody>
          <a:bodyPr wrap="square">
            <a:spAutoFit/>
          </a:bodyPr>
          <a:lstStyle/>
          <a:p>
            <a:pPr algn="ctr"/>
            <a:r>
              <a:rPr sz="650" b="0" i="0">
                <a:solidFill>
                  <a:srgbClr val="88AACC"/>
                </a:solidFill>
                <a:latin typeface="Calibri"/>
              </a:rPr>
              <a:t>Canton, Baltimore</a:t>
            </a:r>
          </a:p>
        </p:txBody>
      </p:sp>
      <p:sp>
        <p:nvSpPr>
          <p:cNvPr id="26" name="TextBox 25"/>
          <p:cNvSpPr txBox="1"/>
          <p:nvPr/>
        </p:nvSpPr>
        <p:spPr>
          <a:xfrm>
            <a:off x="6060000" y="148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27" name="TextBox 26"/>
          <p:cNvSpPr txBox="1"/>
          <p:nvPr/>
        </p:nvSpPr>
        <p:spPr>
          <a:xfrm>
            <a:off x="6050000" y="1660000"/>
            <a:ext cx="1500000" cy="140000"/>
          </a:xfrm>
          <a:prstGeom prst="rect">
            <a:avLst/>
          </a:prstGeom>
          <a:noFill/>
        </p:spPr>
        <p:txBody>
          <a:bodyPr wrap="square">
            <a:spAutoFit/>
          </a:bodyPr>
          <a:lstStyle/>
          <a:p>
            <a:pPr algn="ctr"/>
            <a:r>
              <a:rPr sz="650" b="0" i="0">
                <a:solidFill>
                  <a:srgbClr val="88AACC"/>
                </a:solidFill>
                <a:latin typeface="Calibri"/>
              </a:rPr>
              <a:t>Arkansas HQ, national ops</a:t>
            </a:r>
          </a:p>
        </p:txBody>
      </p:sp>
      <p:sp>
        <p:nvSpPr>
          <p:cNvPr id="28" name="TextBox 27"/>
          <p:cNvSpPr txBox="1"/>
          <p:nvPr/>
        </p:nvSpPr>
        <p:spPr>
          <a:xfrm>
            <a:off x="7620000" y="148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29" name="TextBox 28"/>
          <p:cNvSpPr txBox="1"/>
          <p:nvPr/>
        </p:nvSpPr>
        <p:spPr>
          <a:xfrm>
            <a:off x="7610000" y="1660000"/>
            <a:ext cx="1500000" cy="140000"/>
          </a:xfrm>
          <a:prstGeom prst="rect">
            <a:avLst/>
          </a:prstGeom>
          <a:noFill/>
        </p:spPr>
        <p:txBody>
          <a:bodyPr wrap="square">
            <a:spAutoFit/>
          </a:bodyPr>
          <a:lstStyle/>
          <a:p>
            <a:pPr algn="ctr"/>
            <a:r>
              <a:rPr sz="650" b="0" i="0">
                <a:solidFill>
                  <a:srgbClr val="88AACC"/>
                </a:solidFill>
                <a:latin typeface="Calibri"/>
              </a:rPr>
              <a:t>CA / San Francisco</a:t>
            </a:r>
          </a:p>
        </p:txBody>
      </p:sp>
      <p:sp>
        <p:nvSpPr>
          <p:cNvPr id="30" name="Rectangle 29"/>
          <p:cNvSpPr/>
          <p:nvPr/>
        </p:nvSpPr>
        <p:spPr>
          <a:xfrm>
            <a:off x="300000" y="1830000"/>
            <a:ext cx="258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900000" y="1830000"/>
            <a:ext cx="1542000" cy="381000"/>
          </a:xfrm>
          <a:prstGeom prst="rect">
            <a:avLst/>
          </a:prstGeom>
          <a:solidFill>
            <a:srgbClr val="023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460000" y="183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020000" y="183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580000" y="183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0000" y="1890000"/>
            <a:ext cx="2480000" cy="310000"/>
          </a:xfrm>
          <a:prstGeom prst="rect">
            <a:avLst/>
          </a:prstGeom>
          <a:noFill/>
        </p:spPr>
        <p:txBody>
          <a:bodyPr wrap="square">
            <a:spAutoFit/>
          </a:bodyPr>
          <a:lstStyle/>
          <a:p>
            <a:pPr algn="l"/>
            <a:r>
              <a:rPr sz="850" b="0" i="0">
                <a:solidFill>
                  <a:srgbClr val="FFFFFF"/>
                </a:solidFill>
                <a:latin typeface="Calibri"/>
              </a:rPr>
              <a:t>Revenue-ready TODAY
(no Type Cert required)</a:t>
            </a:r>
          </a:p>
        </p:txBody>
      </p:sp>
      <p:sp>
        <p:nvSpPr>
          <p:cNvPr id="36" name="TextBox 35"/>
          <p:cNvSpPr txBox="1"/>
          <p:nvPr/>
        </p:nvSpPr>
        <p:spPr>
          <a:xfrm>
            <a:off x="2940000" y="187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37" name="TextBox 36"/>
          <p:cNvSpPr txBox="1"/>
          <p:nvPr/>
        </p:nvSpPr>
        <p:spPr>
          <a:xfrm>
            <a:off x="2930000" y="2050000"/>
            <a:ext cx="1500000" cy="140000"/>
          </a:xfrm>
          <a:prstGeom prst="rect">
            <a:avLst/>
          </a:prstGeom>
          <a:noFill/>
        </p:spPr>
        <p:txBody>
          <a:bodyPr wrap="square">
            <a:spAutoFit/>
          </a:bodyPr>
          <a:lstStyle/>
          <a:p>
            <a:pPr algn="ctr"/>
            <a:r>
              <a:rPr sz="650" b="0" i="0">
                <a:solidFill>
                  <a:srgbClr val="CCE0EC"/>
                </a:solidFill>
                <a:latin typeface="Calibri"/>
              </a:rPr>
              <a:t>Part 107, operational now</a:t>
            </a:r>
          </a:p>
        </p:txBody>
      </p:sp>
      <p:sp>
        <p:nvSpPr>
          <p:cNvPr id="38" name="TextBox 37"/>
          <p:cNvSpPr txBox="1"/>
          <p:nvPr/>
        </p:nvSpPr>
        <p:spPr>
          <a:xfrm>
            <a:off x="4500000" y="187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39" name="TextBox 38"/>
          <p:cNvSpPr txBox="1"/>
          <p:nvPr/>
        </p:nvSpPr>
        <p:spPr>
          <a:xfrm>
            <a:off x="4490000" y="2050000"/>
            <a:ext cx="1500000" cy="140000"/>
          </a:xfrm>
          <a:prstGeom prst="rect">
            <a:avLst/>
          </a:prstGeom>
          <a:noFill/>
        </p:spPr>
        <p:txBody>
          <a:bodyPr wrap="square">
            <a:spAutoFit/>
          </a:bodyPr>
          <a:lstStyle/>
          <a:p>
            <a:pPr algn="ctr"/>
            <a:r>
              <a:rPr sz="650" b="0" i="0">
                <a:solidFill>
                  <a:srgbClr val="88AACC"/>
                </a:solidFill>
                <a:latin typeface="Calibri"/>
              </a:rPr>
              <a:t>FAA Type Cert pending 2027+</a:t>
            </a:r>
          </a:p>
        </p:txBody>
      </p:sp>
      <p:sp>
        <p:nvSpPr>
          <p:cNvPr id="40" name="TextBox 39"/>
          <p:cNvSpPr txBox="1"/>
          <p:nvPr/>
        </p:nvSpPr>
        <p:spPr>
          <a:xfrm>
            <a:off x="6060000" y="187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41" name="TextBox 40"/>
          <p:cNvSpPr txBox="1"/>
          <p:nvPr/>
        </p:nvSpPr>
        <p:spPr>
          <a:xfrm>
            <a:off x="6050000" y="2050000"/>
            <a:ext cx="1500000" cy="140000"/>
          </a:xfrm>
          <a:prstGeom prst="rect">
            <a:avLst/>
          </a:prstGeom>
          <a:noFill/>
        </p:spPr>
        <p:txBody>
          <a:bodyPr wrap="square">
            <a:spAutoFit/>
          </a:bodyPr>
          <a:lstStyle/>
          <a:p>
            <a:pPr algn="ctr"/>
            <a:r>
              <a:rPr sz="650" b="0" i="0">
                <a:solidFill>
                  <a:srgbClr val="88AACC"/>
                </a:solidFill>
                <a:latin typeface="Calibri"/>
              </a:rPr>
              <a:t>Operational nationally</a:t>
            </a:r>
          </a:p>
        </p:txBody>
      </p:sp>
      <p:sp>
        <p:nvSpPr>
          <p:cNvPr id="42" name="TextBox 41"/>
          <p:cNvSpPr txBox="1"/>
          <p:nvPr/>
        </p:nvSpPr>
        <p:spPr>
          <a:xfrm>
            <a:off x="7620000" y="187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43" name="TextBox 42"/>
          <p:cNvSpPr txBox="1"/>
          <p:nvPr/>
        </p:nvSpPr>
        <p:spPr>
          <a:xfrm>
            <a:off x="7610000" y="2050000"/>
            <a:ext cx="1500000" cy="140000"/>
          </a:xfrm>
          <a:prstGeom prst="rect">
            <a:avLst/>
          </a:prstGeom>
          <a:noFill/>
        </p:spPr>
        <p:txBody>
          <a:bodyPr wrap="square">
            <a:spAutoFit/>
          </a:bodyPr>
          <a:lstStyle/>
          <a:p>
            <a:pPr algn="ctr"/>
            <a:r>
              <a:rPr sz="650" b="0" i="0">
                <a:solidFill>
                  <a:srgbClr val="88AACC"/>
                </a:solidFill>
                <a:latin typeface="Calibri"/>
              </a:rPr>
              <a:t>Operational, limited US markets</a:t>
            </a:r>
          </a:p>
        </p:txBody>
      </p:sp>
      <p:sp>
        <p:nvSpPr>
          <p:cNvPr id="44" name="Rectangle 43"/>
          <p:cNvSpPr/>
          <p:nvPr/>
        </p:nvSpPr>
        <p:spPr>
          <a:xfrm>
            <a:off x="300000" y="2220000"/>
            <a:ext cx="258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900000" y="2220000"/>
            <a:ext cx="1542000" cy="381000"/>
          </a:xfrm>
          <a:prstGeom prst="rect">
            <a:avLst/>
          </a:prstGeom>
          <a:solidFill>
            <a:srgbClr val="023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460000" y="222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020000" y="222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580000" y="222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60000" y="2280000"/>
            <a:ext cx="2480000" cy="310000"/>
          </a:xfrm>
          <a:prstGeom prst="rect">
            <a:avLst/>
          </a:prstGeom>
          <a:noFill/>
        </p:spPr>
        <p:txBody>
          <a:bodyPr wrap="square">
            <a:spAutoFit/>
          </a:bodyPr>
          <a:lstStyle/>
          <a:p>
            <a:pPr algn="l"/>
            <a:r>
              <a:rPr sz="850" b="0" i="0">
                <a:solidFill>
                  <a:srgbClr val="FFFFFF"/>
                </a:solidFill>
                <a:latin typeface="Calibri"/>
              </a:rPr>
              <a:t>MWVOB minority-owned</a:t>
            </a:r>
          </a:p>
        </p:txBody>
      </p:sp>
      <p:sp>
        <p:nvSpPr>
          <p:cNvPr id="50" name="TextBox 49"/>
          <p:cNvSpPr txBox="1"/>
          <p:nvPr/>
        </p:nvSpPr>
        <p:spPr>
          <a:xfrm>
            <a:off x="2940000" y="226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51" name="TextBox 50"/>
          <p:cNvSpPr txBox="1"/>
          <p:nvPr/>
        </p:nvSpPr>
        <p:spPr>
          <a:xfrm>
            <a:off x="2930000" y="2440000"/>
            <a:ext cx="1500000" cy="140000"/>
          </a:xfrm>
          <a:prstGeom prst="rect">
            <a:avLst/>
          </a:prstGeom>
          <a:noFill/>
        </p:spPr>
        <p:txBody>
          <a:bodyPr wrap="square">
            <a:spAutoFit/>
          </a:bodyPr>
          <a:lstStyle/>
          <a:p>
            <a:pPr algn="ctr"/>
            <a:r>
              <a:rPr sz="650" b="0" i="0">
                <a:solidFill>
                  <a:srgbClr val="CCE0EC"/>
                </a:solidFill>
                <a:latin typeface="Calibri"/>
              </a:rPr>
              <a:t>Certified minority-owned</a:t>
            </a:r>
          </a:p>
        </p:txBody>
      </p:sp>
      <p:sp>
        <p:nvSpPr>
          <p:cNvPr id="52" name="TextBox 51"/>
          <p:cNvSpPr txBox="1"/>
          <p:nvPr/>
        </p:nvSpPr>
        <p:spPr>
          <a:xfrm>
            <a:off x="4500000" y="226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53" name="TextBox 52"/>
          <p:cNvSpPr txBox="1"/>
          <p:nvPr/>
        </p:nvSpPr>
        <p:spPr>
          <a:xfrm>
            <a:off x="4490000" y="2440000"/>
            <a:ext cx="1500000" cy="140000"/>
          </a:xfrm>
          <a:prstGeom prst="rect">
            <a:avLst/>
          </a:prstGeom>
          <a:noFill/>
        </p:spPr>
        <p:txBody>
          <a:bodyPr wrap="square">
            <a:spAutoFit/>
          </a:bodyPr>
          <a:lstStyle/>
          <a:p>
            <a:pPr algn="ctr"/>
            <a:r>
              <a:rPr sz="650" b="0" i="0">
                <a:solidFill>
                  <a:srgbClr val="88AACC"/>
                </a:solidFill>
                <a:latin typeface="Calibri"/>
              </a:rPr>
              <a:t>Not MWVOB</a:t>
            </a:r>
          </a:p>
        </p:txBody>
      </p:sp>
      <p:sp>
        <p:nvSpPr>
          <p:cNvPr id="54" name="TextBox 53"/>
          <p:cNvSpPr txBox="1"/>
          <p:nvPr/>
        </p:nvSpPr>
        <p:spPr>
          <a:xfrm>
            <a:off x="6060000" y="226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55" name="TextBox 54"/>
          <p:cNvSpPr txBox="1"/>
          <p:nvPr/>
        </p:nvSpPr>
        <p:spPr>
          <a:xfrm>
            <a:off x="6050000" y="2440000"/>
            <a:ext cx="1500000" cy="140000"/>
          </a:xfrm>
          <a:prstGeom prst="rect">
            <a:avLst/>
          </a:prstGeom>
          <a:noFill/>
        </p:spPr>
        <p:txBody>
          <a:bodyPr wrap="square">
            <a:spAutoFit/>
          </a:bodyPr>
          <a:lstStyle/>
          <a:p>
            <a:pPr algn="ctr"/>
            <a:r>
              <a:rPr sz="650" b="0" i="0">
                <a:solidFill>
                  <a:srgbClr val="88AACC"/>
                </a:solidFill>
                <a:latin typeface="Calibri"/>
              </a:rPr>
              <a:t>Walmart subsidiary</a:t>
            </a:r>
          </a:p>
        </p:txBody>
      </p:sp>
      <p:sp>
        <p:nvSpPr>
          <p:cNvPr id="56" name="TextBox 55"/>
          <p:cNvSpPr txBox="1"/>
          <p:nvPr/>
        </p:nvSpPr>
        <p:spPr>
          <a:xfrm>
            <a:off x="7620000" y="226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57" name="TextBox 56"/>
          <p:cNvSpPr txBox="1"/>
          <p:nvPr/>
        </p:nvSpPr>
        <p:spPr>
          <a:xfrm>
            <a:off x="7610000" y="2440000"/>
            <a:ext cx="1500000" cy="140000"/>
          </a:xfrm>
          <a:prstGeom prst="rect">
            <a:avLst/>
          </a:prstGeom>
          <a:noFill/>
        </p:spPr>
        <p:txBody>
          <a:bodyPr wrap="square">
            <a:spAutoFit/>
          </a:bodyPr>
          <a:lstStyle/>
          <a:p>
            <a:pPr algn="ctr"/>
            <a:r>
              <a:rPr sz="650" b="0" i="0">
                <a:solidFill>
                  <a:srgbClr val="88AACC"/>
                </a:solidFill>
                <a:latin typeface="Calibri"/>
              </a:rPr>
              <a:t>VC-backed, not MWVOB</a:t>
            </a:r>
          </a:p>
        </p:txBody>
      </p:sp>
      <p:sp>
        <p:nvSpPr>
          <p:cNvPr id="58" name="Rectangle 57"/>
          <p:cNvSpPr/>
          <p:nvPr/>
        </p:nvSpPr>
        <p:spPr>
          <a:xfrm>
            <a:off x="300000" y="2610000"/>
            <a:ext cx="258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2900000" y="2610000"/>
            <a:ext cx="1542000" cy="381000"/>
          </a:xfrm>
          <a:prstGeom prst="rect">
            <a:avLst/>
          </a:prstGeom>
          <a:solidFill>
            <a:srgbClr val="023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460000" y="261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020000" y="261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580000" y="261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60000" y="2670000"/>
            <a:ext cx="2480000" cy="310000"/>
          </a:xfrm>
          <a:prstGeom prst="rect">
            <a:avLst/>
          </a:prstGeom>
          <a:noFill/>
        </p:spPr>
        <p:txBody>
          <a:bodyPr wrap="square">
            <a:spAutoFit/>
          </a:bodyPr>
          <a:lstStyle/>
          <a:p>
            <a:pPr algn="l"/>
            <a:r>
              <a:rPr sz="850" b="0" i="0">
                <a:solidFill>
                  <a:srgbClr val="FFFFFF"/>
                </a:solidFill>
                <a:latin typeface="Calibri"/>
              </a:rPr>
              <a:t>Green collar workforce
pipeline (EAF/CAKO)</a:t>
            </a:r>
          </a:p>
        </p:txBody>
      </p:sp>
      <p:sp>
        <p:nvSpPr>
          <p:cNvPr id="64" name="TextBox 63"/>
          <p:cNvSpPr txBox="1"/>
          <p:nvPr/>
        </p:nvSpPr>
        <p:spPr>
          <a:xfrm>
            <a:off x="2940000" y="265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65" name="TextBox 64"/>
          <p:cNvSpPr txBox="1"/>
          <p:nvPr/>
        </p:nvSpPr>
        <p:spPr>
          <a:xfrm>
            <a:off x="2930000" y="2830000"/>
            <a:ext cx="1500000" cy="140000"/>
          </a:xfrm>
          <a:prstGeom prst="rect">
            <a:avLst/>
          </a:prstGeom>
          <a:noFill/>
        </p:spPr>
        <p:txBody>
          <a:bodyPr wrap="square">
            <a:spAutoFit/>
          </a:bodyPr>
          <a:lstStyle/>
          <a:p>
            <a:pPr algn="ctr"/>
            <a:r>
              <a:rPr sz="650" b="0" i="0">
                <a:solidFill>
                  <a:srgbClr val="CCE0EC"/>
                </a:solidFill>
                <a:latin typeface="Calibri"/>
              </a:rPr>
              <a:t>Unique dual-entity structure</a:t>
            </a:r>
          </a:p>
        </p:txBody>
      </p:sp>
      <p:sp>
        <p:nvSpPr>
          <p:cNvPr id="66" name="TextBox 65"/>
          <p:cNvSpPr txBox="1"/>
          <p:nvPr/>
        </p:nvSpPr>
        <p:spPr>
          <a:xfrm>
            <a:off x="4500000" y="265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67" name="TextBox 66"/>
          <p:cNvSpPr txBox="1"/>
          <p:nvPr/>
        </p:nvSpPr>
        <p:spPr>
          <a:xfrm>
            <a:off x="4490000" y="2830000"/>
            <a:ext cx="1500000" cy="140000"/>
          </a:xfrm>
          <a:prstGeom prst="rect">
            <a:avLst/>
          </a:prstGeom>
          <a:noFill/>
        </p:spPr>
        <p:txBody>
          <a:bodyPr wrap="square">
            <a:spAutoFit/>
          </a:bodyPr>
          <a:lstStyle/>
          <a:p>
            <a:pPr algn="ctr"/>
            <a:r>
              <a:rPr sz="650" b="0" i="0">
                <a:solidFill>
                  <a:srgbClr val="88AACC"/>
                </a:solidFill>
                <a:latin typeface="Calibri"/>
              </a:rPr>
              <a:t>No workforce program</a:t>
            </a:r>
          </a:p>
        </p:txBody>
      </p:sp>
      <p:sp>
        <p:nvSpPr>
          <p:cNvPr id="68" name="TextBox 67"/>
          <p:cNvSpPr txBox="1"/>
          <p:nvPr/>
        </p:nvSpPr>
        <p:spPr>
          <a:xfrm>
            <a:off x="6060000" y="265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69" name="TextBox 68"/>
          <p:cNvSpPr txBox="1"/>
          <p:nvPr/>
        </p:nvSpPr>
        <p:spPr>
          <a:xfrm>
            <a:off x="6050000" y="2830000"/>
            <a:ext cx="1500000" cy="140000"/>
          </a:xfrm>
          <a:prstGeom prst="rect">
            <a:avLst/>
          </a:prstGeom>
          <a:noFill/>
        </p:spPr>
        <p:txBody>
          <a:bodyPr wrap="square">
            <a:spAutoFit/>
          </a:bodyPr>
          <a:lstStyle/>
          <a:p>
            <a:pPr algn="ctr"/>
            <a:r>
              <a:rPr sz="650" b="0" i="0">
                <a:solidFill>
                  <a:srgbClr val="88AACC"/>
                </a:solidFill>
                <a:latin typeface="Calibri"/>
              </a:rPr>
              <a:t>No workforce program</a:t>
            </a:r>
          </a:p>
        </p:txBody>
      </p:sp>
      <p:sp>
        <p:nvSpPr>
          <p:cNvPr id="70" name="TextBox 69"/>
          <p:cNvSpPr txBox="1"/>
          <p:nvPr/>
        </p:nvSpPr>
        <p:spPr>
          <a:xfrm>
            <a:off x="7620000" y="265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71" name="TextBox 70"/>
          <p:cNvSpPr txBox="1"/>
          <p:nvPr/>
        </p:nvSpPr>
        <p:spPr>
          <a:xfrm>
            <a:off x="7610000" y="2830000"/>
            <a:ext cx="1500000" cy="140000"/>
          </a:xfrm>
          <a:prstGeom prst="rect">
            <a:avLst/>
          </a:prstGeom>
          <a:noFill/>
        </p:spPr>
        <p:txBody>
          <a:bodyPr wrap="square">
            <a:spAutoFit/>
          </a:bodyPr>
          <a:lstStyle/>
          <a:p>
            <a:pPr algn="ctr"/>
            <a:r>
              <a:rPr sz="650" b="0" i="0">
                <a:solidFill>
                  <a:srgbClr val="88AACC"/>
                </a:solidFill>
                <a:latin typeface="Calibri"/>
              </a:rPr>
              <a:t>No workforce program</a:t>
            </a:r>
          </a:p>
        </p:txBody>
      </p:sp>
      <p:sp>
        <p:nvSpPr>
          <p:cNvPr id="72" name="Rectangle 71"/>
          <p:cNvSpPr/>
          <p:nvPr/>
        </p:nvSpPr>
        <p:spPr>
          <a:xfrm>
            <a:off x="300000" y="3000000"/>
            <a:ext cx="258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2900000" y="3000000"/>
            <a:ext cx="1542000" cy="381000"/>
          </a:xfrm>
          <a:prstGeom prst="rect">
            <a:avLst/>
          </a:prstGeom>
          <a:solidFill>
            <a:srgbClr val="023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4460000" y="300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6020000" y="300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7580000" y="300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360000" y="3060000"/>
            <a:ext cx="2480000" cy="310000"/>
          </a:xfrm>
          <a:prstGeom prst="rect">
            <a:avLst/>
          </a:prstGeom>
          <a:noFill/>
        </p:spPr>
        <p:txBody>
          <a:bodyPr wrap="square">
            <a:spAutoFit/>
          </a:bodyPr>
          <a:lstStyle/>
          <a:p>
            <a:pPr algn="l"/>
            <a:r>
              <a:rPr sz="850" b="0" i="0">
                <a:solidFill>
                  <a:srgbClr val="FFFFFF"/>
                </a:solidFill>
                <a:latin typeface="Calibri"/>
              </a:rPr>
              <a:t>Multi-vertical
(7 service lines)</a:t>
            </a:r>
          </a:p>
        </p:txBody>
      </p:sp>
      <p:sp>
        <p:nvSpPr>
          <p:cNvPr id="78" name="TextBox 77"/>
          <p:cNvSpPr txBox="1"/>
          <p:nvPr/>
        </p:nvSpPr>
        <p:spPr>
          <a:xfrm>
            <a:off x="2940000" y="304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79" name="TextBox 78"/>
          <p:cNvSpPr txBox="1"/>
          <p:nvPr/>
        </p:nvSpPr>
        <p:spPr>
          <a:xfrm>
            <a:off x="2930000" y="3220000"/>
            <a:ext cx="1500000" cy="140000"/>
          </a:xfrm>
          <a:prstGeom prst="rect">
            <a:avLst/>
          </a:prstGeom>
          <a:noFill/>
        </p:spPr>
        <p:txBody>
          <a:bodyPr wrap="square">
            <a:spAutoFit/>
          </a:bodyPr>
          <a:lstStyle/>
          <a:p>
            <a:pPr algn="ctr"/>
            <a:r>
              <a:rPr sz="650" b="0" i="0">
                <a:solidFill>
                  <a:srgbClr val="CCE0EC"/>
                </a:solidFill>
                <a:latin typeface="Calibri"/>
              </a:rPr>
              <a:t>Medical, infra, DFR, shows,
logistics, C-UAS, MONK</a:t>
            </a:r>
          </a:p>
        </p:txBody>
      </p:sp>
      <p:sp>
        <p:nvSpPr>
          <p:cNvPr id="80" name="TextBox 79"/>
          <p:cNvSpPr txBox="1"/>
          <p:nvPr/>
        </p:nvSpPr>
        <p:spPr>
          <a:xfrm>
            <a:off x="4500000" y="304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81" name="TextBox 80"/>
          <p:cNvSpPr txBox="1"/>
          <p:nvPr/>
        </p:nvSpPr>
        <p:spPr>
          <a:xfrm>
            <a:off x="4490000" y="3220000"/>
            <a:ext cx="1500000" cy="140000"/>
          </a:xfrm>
          <a:prstGeom prst="rect">
            <a:avLst/>
          </a:prstGeom>
          <a:noFill/>
        </p:spPr>
        <p:txBody>
          <a:bodyPr wrap="square">
            <a:spAutoFit/>
          </a:bodyPr>
          <a:lstStyle/>
          <a:p>
            <a:pPr algn="ctr"/>
            <a:r>
              <a:rPr sz="650" b="0" i="0">
                <a:solidFill>
                  <a:srgbClr val="88AACC"/>
                </a:solidFill>
                <a:latin typeface="Calibri"/>
              </a:rPr>
              <a:t>Medical/organ only</a:t>
            </a:r>
          </a:p>
        </p:txBody>
      </p:sp>
      <p:sp>
        <p:nvSpPr>
          <p:cNvPr id="82" name="TextBox 81"/>
          <p:cNvSpPr txBox="1"/>
          <p:nvPr/>
        </p:nvSpPr>
        <p:spPr>
          <a:xfrm>
            <a:off x="6060000" y="3040000"/>
            <a:ext cx="1480000" cy="200000"/>
          </a:xfrm>
          <a:prstGeom prst="rect">
            <a:avLst/>
          </a:prstGeom>
          <a:noFill/>
        </p:spPr>
        <p:txBody>
          <a:bodyPr wrap="square">
            <a:spAutoFit/>
          </a:bodyPr>
          <a:lstStyle/>
          <a:p>
            <a:pPr algn="ctr"/>
            <a:r>
              <a:rPr sz="1400" b="1" i="0">
                <a:solidFill>
                  <a:srgbClr val="F5A623"/>
                </a:solidFill>
                <a:latin typeface="Calibri"/>
              </a:rPr>
              <a:t>~</a:t>
            </a:r>
          </a:p>
        </p:txBody>
      </p:sp>
      <p:sp>
        <p:nvSpPr>
          <p:cNvPr id="83" name="TextBox 82"/>
          <p:cNvSpPr txBox="1"/>
          <p:nvPr/>
        </p:nvSpPr>
        <p:spPr>
          <a:xfrm>
            <a:off x="6050000" y="3220000"/>
            <a:ext cx="1500000" cy="140000"/>
          </a:xfrm>
          <a:prstGeom prst="rect">
            <a:avLst/>
          </a:prstGeom>
          <a:noFill/>
        </p:spPr>
        <p:txBody>
          <a:bodyPr wrap="square">
            <a:spAutoFit/>
          </a:bodyPr>
          <a:lstStyle/>
          <a:p>
            <a:pPr algn="ctr"/>
            <a:r>
              <a:rPr sz="650" b="0" i="0">
                <a:solidFill>
                  <a:srgbClr val="88AACC"/>
                </a:solidFill>
                <a:latin typeface="Calibri"/>
              </a:rPr>
              <a:t>Delivery + limited inspection</a:t>
            </a:r>
          </a:p>
        </p:txBody>
      </p:sp>
      <p:sp>
        <p:nvSpPr>
          <p:cNvPr id="84" name="TextBox 83"/>
          <p:cNvSpPr txBox="1"/>
          <p:nvPr/>
        </p:nvSpPr>
        <p:spPr>
          <a:xfrm>
            <a:off x="7620000" y="3040000"/>
            <a:ext cx="1480000" cy="200000"/>
          </a:xfrm>
          <a:prstGeom prst="rect">
            <a:avLst/>
          </a:prstGeom>
          <a:noFill/>
        </p:spPr>
        <p:txBody>
          <a:bodyPr wrap="square">
            <a:spAutoFit/>
          </a:bodyPr>
          <a:lstStyle/>
          <a:p>
            <a:pPr algn="ctr"/>
            <a:r>
              <a:rPr sz="1400" b="1" i="0">
                <a:solidFill>
                  <a:srgbClr val="F5A623"/>
                </a:solidFill>
                <a:latin typeface="Calibri"/>
              </a:rPr>
              <a:t>~</a:t>
            </a:r>
          </a:p>
        </p:txBody>
      </p:sp>
      <p:sp>
        <p:nvSpPr>
          <p:cNvPr id="85" name="TextBox 84"/>
          <p:cNvSpPr txBox="1"/>
          <p:nvPr/>
        </p:nvSpPr>
        <p:spPr>
          <a:xfrm>
            <a:off x="7610000" y="3220000"/>
            <a:ext cx="1500000" cy="140000"/>
          </a:xfrm>
          <a:prstGeom prst="rect">
            <a:avLst/>
          </a:prstGeom>
          <a:noFill/>
        </p:spPr>
        <p:txBody>
          <a:bodyPr wrap="square">
            <a:spAutoFit/>
          </a:bodyPr>
          <a:lstStyle/>
          <a:p>
            <a:pPr algn="ctr"/>
            <a:r>
              <a:rPr sz="650" b="0" i="0">
                <a:solidFill>
                  <a:srgbClr val="88AACC"/>
                </a:solidFill>
                <a:latin typeface="Calibri"/>
              </a:rPr>
              <a:t>Delivery focus only</a:t>
            </a:r>
          </a:p>
        </p:txBody>
      </p:sp>
      <p:sp>
        <p:nvSpPr>
          <p:cNvPr id="86" name="Rectangle 85"/>
          <p:cNvSpPr/>
          <p:nvPr/>
        </p:nvSpPr>
        <p:spPr>
          <a:xfrm>
            <a:off x="300000" y="3390000"/>
            <a:ext cx="258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2900000" y="3390000"/>
            <a:ext cx="1542000" cy="381000"/>
          </a:xfrm>
          <a:prstGeom prst="rect">
            <a:avLst/>
          </a:prstGeom>
          <a:solidFill>
            <a:srgbClr val="023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4460000" y="339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6020000" y="339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580000" y="3390000"/>
            <a:ext cx="1542000" cy="381000"/>
          </a:xfrm>
          <a:prstGeom prst="rect">
            <a:avLst/>
          </a:prstGeom>
          <a:solidFill>
            <a:srgbClr val="12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60000" y="3450000"/>
            <a:ext cx="2480000" cy="310000"/>
          </a:xfrm>
          <a:prstGeom prst="rect">
            <a:avLst/>
          </a:prstGeom>
          <a:noFill/>
        </p:spPr>
        <p:txBody>
          <a:bodyPr wrap="square">
            <a:spAutoFit/>
          </a:bodyPr>
          <a:lstStyle/>
          <a:p>
            <a:pPr algn="l"/>
            <a:r>
              <a:rPr sz="850" b="0" i="0">
                <a:solidFill>
                  <a:srgbClr val="FFFFFF"/>
                </a:solidFill>
                <a:latin typeface="Calibri"/>
              </a:rPr>
              <a:t>Mission governance IP
(MONK — pre-flight auth)</a:t>
            </a:r>
          </a:p>
        </p:txBody>
      </p:sp>
      <p:sp>
        <p:nvSpPr>
          <p:cNvPr id="92" name="TextBox 91"/>
          <p:cNvSpPr txBox="1"/>
          <p:nvPr/>
        </p:nvSpPr>
        <p:spPr>
          <a:xfrm>
            <a:off x="2940000" y="343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93" name="TextBox 92"/>
          <p:cNvSpPr txBox="1"/>
          <p:nvPr/>
        </p:nvSpPr>
        <p:spPr>
          <a:xfrm>
            <a:off x="2930000" y="3610000"/>
            <a:ext cx="1500000" cy="140000"/>
          </a:xfrm>
          <a:prstGeom prst="rect">
            <a:avLst/>
          </a:prstGeom>
          <a:noFill/>
        </p:spPr>
        <p:txBody>
          <a:bodyPr wrap="square">
            <a:spAutoFit/>
          </a:bodyPr>
          <a:lstStyle/>
          <a:p>
            <a:pPr algn="ctr"/>
            <a:r>
              <a:rPr sz="650" b="0" i="0">
                <a:solidFill>
                  <a:srgbClr val="CCE0EC"/>
                </a:solidFill>
                <a:latin typeface="Calibri"/>
              </a:rPr>
              <a:t>Patent-pending, in development</a:t>
            </a:r>
          </a:p>
        </p:txBody>
      </p:sp>
      <p:sp>
        <p:nvSpPr>
          <p:cNvPr id="94" name="TextBox 93"/>
          <p:cNvSpPr txBox="1"/>
          <p:nvPr/>
        </p:nvSpPr>
        <p:spPr>
          <a:xfrm>
            <a:off x="4500000" y="343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95" name="TextBox 94"/>
          <p:cNvSpPr txBox="1"/>
          <p:nvPr/>
        </p:nvSpPr>
        <p:spPr>
          <a:xfrm>
            <a:off x="4490000" y="3610000"/>
            <a:ext cx="1500000" cy="140000"/>
          </a:xfrm>
          <a:prstGeom prst="rect">
            <a:avLst/>
          </a:prstGeom>
          <a:noFill/>
        </p:spPr>
        <p:txBody>
          <a:bodyPr wrap="square">
            <a:spAutoFit/>
          </a:bodyPr>
          <a:lstStyle/>
          <a:p>
            <a:pPr algn="ctr"/>
            <a:r>
              <a:rPr sz="650" b="0" i="0">
                <a:solidFill>
                  <a:srgbClr val="88AACC"/>
                </a:solidFill>
                <a:latin typeface="Calibri"/>
              </a:rPr>
              <a:t>Post-flight logging only
(AlarisPro)</a:t>
            </a:r>
          </a:p>
        </p:txBody>
      </p:sp>
      <p:sp>
        <p:nvSpPr>
          <p:cNvPr id="96" name="TextBox 95"/>
          <p:cNvSpPr txBox="1"/>
          <p:nvPr/>
        </p:nvSpPr>
        <p:spPr>
          <a:xfrm>
            <a:off x="6060000" y="343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97" name="TextBox 96"/>
          <p:cNvSpPr txBox="1"/>
          <p:nvPr/>
        </p:nvSpPr>
        <p:spPr>
          <a:xfrm>
            <a:off x="6050000" y="3610000"/>
            <a:ext cx="1500000" cy="140000"/>
          </a:xfrm>
          <a:prstGeom prst="rect">
            <a:avLst/>
          </a:prstGeom>
          <a:noFill/>
        </p:spPr>
        <p:txBody>
          <a:bodyPr wrap="square">
            <a:spAutoFit/>
          </a:bodyPr>
          <a:lstStyle/>
          <a:p>
            <a:pPr algn="ctr"/>
            <a:r>
              <a:rPr sz="650" b="0" i="0">
                <a:solidFill>
                  <a:srgbClr val="88AACC"/>
                </a:solidFill>
                <a:latin typeface="Calibri"/>
              </a:rPr>
              <a:t>No governance layer</a:t>
            </a:r>
          </a:p>
        </p:txBody>
      </p:sp>
      <p:sp>
        <p:nvSpPr>
          <p:cNvPr id="98" name="TextBox 97"/>
          <p:cNvSpPr txBox="1"/>
          <p:nvPr/>
        </p:nvSpPr>
        <p:spPr>
          <a:xfrm>
            <a:off x="7620000" y="343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99" name="TextBox 98"/>
          <p:cNvSpPr txBox="1"/>
          <p:nvPr/>
        </p:nvSpPr>
        <p:spPr>
          <a:xfrm>
            <a:off x="7610000" y="3610000"/>
            <a:ext cx="1500000" cy="140000"/>
          </a:xfrm>
          <a:prstGeom prst="rect">
            <a:avLst/>
          </a:prstGeom>
          <a:noFill/>
        </p:spPr>
        <p:txBody>
          <a:bodyPr wrap="square">
            <a:spAutoFit/>
          </a:bodyPr>
          <a:lstStyle/>
          <a:p>
            <a:pPr algn="ctr"/>
            <a:r>
              <a:rPr sz="650" b="0" i="0">
                <a:solidFill>
                  <a:srgbClr val="88AACC"/>
                </a:solidFill>
                <a:latin typeface="Calibri"/>
              </a:rPr>
              <a:t>Proprietary — not licensable</a:t>
            </a:r>
          </a:p>
        </p:txBody>
      </p:sp>
      <p:sp>
        <p:nvSpPr>
          <p:cNvPr id="100" name="Rectangle 99"/>
          <p:cNvSpPr/>
          <p:nvPr/>
        </p:nvSpPr>
        <p:spPr>
          <a:xfrm>
            <a:off x="300000" y="3780000"/>
            <a:ext cx="258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2900000" y="3780000"/>
            <a:ext cx="1542000" cy="381000"/>
          </a:xfrm>
          <a:prstGeom prst="rect">
            <a:avLst/>
          </a:prstGeom>
          <a:solidFill>
            <a:srgbClr val="023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4460000" y="378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6020000" y="378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7580000" y="3780000"/>
            <a:ext cx="1542000" cy="3810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360000" y="3840000"/>
            <a:ext cx="2480000" cy="310000"/>
          </a:xfrm>
          <a:prstGeom prst="rect">
            <a:avLst/>
          </a:prstGeom>
          <a:noFill/>
        </p:spPr>
        <p:txBody>
          <a:bodyPr wrap="square">
            <a:spAutoFit/>
          </a:bodyPr>
          <a:lstStyle/>
          <a:p>
            <a:pPr algn="l"/>
            <a:r>
              <a:rPr sz="850" b="0" i="0">
                <a:solidFill>
                  <a:srgbClr val="FFFFFF"/>
                </a:solidFill>
                <a:latin typeface="Calibri"/>
              </a:rPr>
              <a:t>CURN/UROC ecosystem
access + BVLOS pathway</a:t>
            </a:r>
          </a:p>
        </p:txBody>
      </p:sp>
      <p:sp>
        <p:nvSpPr>
          <p:cNvPr id="106" name="TextBox 105"/>
          <p:cNvSpPr txBox="1"/>
          <p:nvPr/>
        </p:nvSpPr>
        <p:spPr>
          <a:xfrm>
            <a:off x="2940000" y="3820000"/>
            <a:ext cx="1480000" cy="200000"/>
          </a:xfrm>
          <a:prstGeom prst="rect">
            <a:avLst/>
          </a:prstGeom>
          <a:noFill/>
        </p:spPr>
        <p:txBody>
          <a:bodyPr wrap="square">
            <a:spAutoFit/>
          </a:bodyPr>
          <a:lstStyle/>
          <a:p>
            <a:pPr algn="ctr"/>
            <a:r>
              <a:rPr sz="1400" b="1" i="0">
                <a:solidFill>
                  <a:srgbClr val="02C39A"/>
                </a:solidFill>
                <a:latin typeface="Calibri"/>
              </a:rPr>
              <a:t>✔</a:t>
            </a:r>
          </a:p>
        </p:txBody>
      </p:sp>
      <p:sp>
        <p:nvSpPr>
          <p:cNvPr id="107" name="TextBox 106"/>
          <p:cNvSpPr txBox="1"/>
          <p:nvPr/>
        </p:nvSpPr>
        <p:spPr>
          <a:xfrm>
            <a:off x="2930000" y="4000000"/>
            <a:ext cx="1500000" cy="140000"/>
          </a:xfrm>
          <a:prstGeom prst="rect">
            <a:avLst/>
          </a:prstGeom>
          <a:noFill/>
        </p:spPr>
        <p:txBody>
          <a:bodyPr wrap="square">
            <a:spAutoFit/>
          </a:bodyPr>
          <a:lstStyle/>
          <a:p>
            <a:pPr algn="ctr"/>
            <a:r>
              <a:rPr sz="650" b="0" i="0">
                <a:solidFill>
                  <a:srgbClr val="CCE0EC"/>
                </a:solidFill>
                <a:latin typeface="Calibri"/>
              </a:rPr>
              <a:t>UROC applicant, CURN endpoint</a:t>
            </a:r>
          </a:p>
        </p:txBody>
      </p:sp>
      <p:sp>
        <p:nvSpPr>
          <p:cNvPr id="108" name="TextBox 107"/>
          <p:cNvSpPr txBox="1"/>
          <p:nvPr/>
        </p:nvSpPr>
        <p:spPr>
          <a:xfrm>
            <a:off x="4500000" y="3820000"/>
            <a:ext cx="1480000" cy="200000"/>
          </a:xfrm>
          <a:prstGeom prst="rect">
            <a:avLst/>
          </a:prstGeom>
          <a:noFill/>
        </p:spPr>
        <p:txBody>
          <a:bodyPr wrap="square">
            <a:spAutoFit/>
          </a:bodyPr>
          <a:lstStyle/>
          <a:p>
            <a:pPr algn="ctr"/>
            <a:r>
              <a:rPr sz="1400" b="1" i="0">
                <a:solidFill>
                  <a:srgbClr val="F5A623"/>
                </a:solidFill>
                <a:latin typeface="Calibri"/>
              </a:rPr>
              <a:t>~</a:t>
            </a:r>
          </a:p>
        </p:txBody>
      </p:sp>
      <p:sp>
        <p:nvSpPr>
          <p:cNvPr id="109" name="TextBox 108"/>
          <p:cNvSpPr txBox="1"/>
          <p:nvPr/>
        </p:nvSpPr>
        <p:spPr>
          <a:xfrm>
            <a:off x="4490000" y="4000000"/>
            <a:ext cx="1500000" cy="140000"/>
          </a:xfrm>
          <a:prstGeom prst="rect">
            <a:avLst/>
          </a:prstGeom>
          <a:noFill/>
        </p:spPr>
        <p:txBody>
          <a:bodyPr wrap="square">
            <a:spAutoFit/>
          </a:bodyPr>
          <a:lstStyle/>
          <a:p>
            <a:pPr algn="ctr"/>
            <a:r>
              <a:rPr sz="650" b="0" i="0">
                <a:solidFill>
                  <a:srgbClr val="88AACC"/>
                </a:solidFill>
                <a:latin typeface="Calibri"/>
              </a:rPr>
              <a:t>UROC affiliated (founding team)</a:t>
            </a:r>
          </a:p>
        </p:txBody>
      </p:sp>
      <p:sp>
        <p:nvSpPr>
          <p:cNvPr id="110" name="TextBox 109"/>
          <p:cNvSpPr txBox="1"/>
          <p:nvPr/>
        </p:nvSpPr>
        <p:spPr>
          <a:xfrm>
            <a:off x="6060000" y="3820000"/>
            <a:ext cx="1480000" cy="200000"/>
          </a:xfrm>
          <a:prstGeom prst="rect">
            <a:avLst/>
          </a:prstGeom>
          <a:noFill/>
        </p:spPr>
        <p:txBody>
          <a:bodyPr wrap="square">
            <a:spAutoFit/>
          </a:bodyPr>
          <a:lstStyle/>
          <a:p>
            <a:pPr algn="ctr"/>
            <a:r>
              <a:rPr sz="1400" b="1" i="0">
                <a:solidFill>
                  <a:srgbClr val="F5A623"/>
                </a:solidFill>
                <a:latin typeface="Calibri"/>
              </a:rPr>
              <a:t>~</a:t>
            </a:r>
          </a:p>
        </p:txBody>
      </p:sp>
      <p:sp>
        <p:nvSpPr>
          <p:cNvPr id="111" name="TextBox 110"/>
          <p:cNvSpPr txBox="1"/>
          <p:nvPr/>
        </p:nvSpPr>
        <p:spPr>
          <a:xfrm>
            <a:off x="6050000" y="4000000"/>
            <a:ext cx="1500000" cy="140000"/>
          </a:xfrm>
          <a:prstGeom prst="rect">
            <a:avLst/>
          </a:prstGeom>
          <a:noFill/>
        </p:spPr>
        <p:txBody>
          <a:bodyPr wrap="square">
            <a:spAutoFit/>
          </a:bodyPr>
          <a:lstStyle/>
          <a:p>
            <a:pPr algn="ctr"/>
            <a:r>
              <a:rPr sz="650" b="0" i="0">
                <a:solidFill>
                  <a:srgbClr val="88AACC"/>
                </a:solidFill>
                <a:latin typeface="Calibri"/>
              </a:rPr>
              <a:t>Active UROC partner</a:t>
            </a:r>
          </a:p>
        </p:txBody>
      </p:sp>
      <p:sp>
        <p:nvSpPr>
          <p:cNvPr id="112" name="TextBox 111"/>
          <p:cNvSpPr txBox="1"/>
          <p:nvPr/>
        </p:nvSpPr>
        <p:spPr>
          <a:xfrm>
            <a:off x="7620000" y="3820000"/>
            <a:ext cx="1480000" cy="200000"/>
          </a:xfrm>
          <a:prstGeom prst="rect">
            <a:avLst/>
          </a:prstGeom>
          <a:noFill/>
        </p:spPr>
        <p:txBody>
          <a:bodyPr wrap="square">
            <a:spAutoFit/>
          </a:bodyPr>
          <a:lstStyle/>
          <a:p>
            <a:pPr algn="ctr"/>
            <a:r>
              <a:rPr sz="1400" b="1" i="0">
                <a:solidFill>
                  <a:srgbClr val="666688"/>
                </a:solidFill>
                <a:latin typeface="Calibri"/>
              </a:rPr>
              <a:t>✘</a:t>
            </a:r>
          </a:p>
        </p:txBody>
      </p:sp>
      <p:sp>
        <p:nvSpPr>
          <p:cNvPr id="113" name="TextBox 112"/>
          <p:cNvSpPr txBox="1"/>
          <p:nvPr/>
        </p:nvSpPr>
        <p:spPr>
          <a:xfrm>
            <a:off x="7610000" y="4000000"/>
            <a:ext cx="1500000" cy="140000"/>
          </a:xfrm>
          <a:prstGeom prst="rect">
            <a:avLst/>
          </a:prstGeom>
          <a:noFill/>
        </p:spPr>
        <p:txBody>
          <a:bodyPr wrap="square">
            <a:spAutoFit/>
          </a:bodyPr>
          <a:lstStyle/>
          <a:p>
            <a:pPr algn="ctr"/>
            <a:r>
              <a:rPr sz="650" b="0" i="0">
                <a:solidFill>
                  <a:srgbClr val="88AACC"/>
                </a:solidFill>
                <a:latin typeface="Calibri"/>
              </a:rPr>
              <a:t>No Maryland airspace access</a:t>
            </a:r>
          </a:p>
        </p:txBody>
      </p:sp>
      <p:sp>
        <p:nvSpPr>
          <p:cNvPr id="114" name="TextBox 113"/>
          <p:cNvSpPr txBox="1"/>
          <p:nvPr/>
        </p:nvSpPr>
        <p:spPr>
          <a:xfrm>
            <a:off x="300000" y="4210000"/>
            <a:ext cx="3000000" cy="200000"/>
          </a:xfrm>
          <a:prstGeom prst="rect">
            <a:avLst/>
          </a:prstGeom>
          <a:noFill/>
        </p:spPr>
        <p:txBody>
          <a:bodyPr wrap="square">
            <a:spAutoFit/>
          </a:bodyPr>
          <a:lstStyle/>
          <a:p>
            <a:pPr algn="l"/>
            <a:r>
              <a:rPr sz="750" b="0" i="1">
                <a:solidFill>
                  <a:srgbClr val="7AB4C8"/>
                </a:solidFill>
                <a:latin typeface="Calibri"/>
              </a:rPr>
              <a:t>✔ = Full capability   ~ = Partial   ✘ = Not present</a:t>
            </a:r>
          </a:p>
        </p:txBody>
      </p:sp>
      <p:sp>
        <p:nvSpPr>
          <p:cNvPr id="115" name="TextBox 114"/>
          <p:cNvSpPr txBox="1"/>
          <p:nvPr/>
        </p:nvSpPr>
        <p:spPr>
          <a:xfrm>
            <a:off x="300000" y="4883500"/>
            <a:ext cx="8544000" cy="220000"/>
          </a:xfrm>
          <a:prstGeom prst="rect">
            <a:avLst/>
          </a:prstGeom>
          <a:noFill/>
        </p:spPr>
        <p:txBody>
          <a:bodyPr wrap="square">
            <a:spAutoFit/>
          </a:bodyPr>
          <a:lstStyle/>
          <a:p>
            <a:pPr algn="l"/>
            <a:r>
              <a:rPr sz="850" b="1" i="0">
                <a:solidFill>
                  <a:srgbClr val="028090"/>
                </a:solidFill>
                <a:latin typeface="Calibri"/>
              </a:rPr>
              <a:t>KAI-Netics is the only Maryland operator that is revenue-ready today, MWVOB-certified, multi-vertical, and building the mission governance layer no competitor has.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3A5F"/>
          </a:solidFill>
          <a:ln w="12700">
            <a:solidFill>
              <a:srgbClr val="1E3A5F"/>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Business Model &amp; Revenue Projections</a:t>
            </a:r>
            <a:endParaRPr lang="en-US" sz="2800" dirty="0"/>
          </a:p>
        </p:txBody>
      </p:sp>
      <p:sp>
        <p:nvSpPr>
          <p:cNvPr id="4" name="Text 2"/>
          <p:cNvSpPr/>
          <p:nvPr/>
        </p:nvSpPr>
        <p:spPr>
          <a:xfrm>
            <a:off x="274320" y="1115568"/>
            <a:ext cx="5029200" cy="329184"/>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Revenue Streams</a:t>
            </a:r>
            <a:endParaRPr lang="en-US" sz="1300" dirty="0"/>
          </a:p>
        </p:txBody>
      </p:sp>
      <p:sp>
        <p:nvSpPr>
          <p:cNvPr id="5" name="Shape 3"/>
          <p:cNvSpPr/>
          <p:nvPr/>
        </p:nvSpPr>
        <p:spPr>
          <a:xfrm>
            <a:off x="274320" y="1536192"/>
            <a:ext cx="5029200" cy="457200"/>
          </a:xfrm>
          <a:prstGeom prst="rect">
            <a:avLst/>
          </a:prstGeom>
          <a:solidFill>
            <a:srgbClr val="E8F8F7"/>
          </a:solidFill>
          <a:ln w="12700">
            <a:solidFill>
              <a:srgbClr val="E2E8ED"/>
            </a:solidFill>
            <a:prstDash val="solid"/>
          </a:ln>
        </p:spPr>
        <p:txBody>
          <a:bodyPr/>
          <a:lstStyle/>
          <a:p>
            <a:endParaRPr/>
          </a:p>
        </p:txBody>
      </p:sp>
      <p:sp>
        <p:nvSpPr>
          <p:cNvPr id="6" name="Shape 4"/>
          <p:cNvSpPr/>
          <p:nvPr/>
        </p:nvSpPr>
        <p:spPr>
          <a:xfrm>
            <a:off x="274320" y="1536192"/>
            <a:ext cx="109728" cy="457200"/>
          </a:xfrm>
          <a:prstGeom prst="rect">
            <a:avLst/>
          </a:prstGeom>
          <a:solidFill>
            <a:srgbClr val="028090"/>
          </a:solidFill>
          <a:ln w="12700">
            <a:solidFill>
              <a:srgbClr val="028090"/>
            </a:solidFill>
            <a:prstDash val="solid"/>
          </a:ln>
        </p:spPr>
        <p:txBody>
          <a:bodyPr/>
          <a:lstStyle/>
          <a:p>
            <a:endParaRPr/>
          </a:p>
        </p:txBody>
      </p:sp>
      <p:sp>
        <p:nvSpPr>
          <p:cNvPr id="7" name="Text 5"/>
          <p:cNvSpPr/>
          <p:nvPr/>
        </p:nvSpPr>
        <p:spPr>
          <a:xfrm>
            <a:off x="475488" y="1572768"/>
            <a:ext cx="2377440" cy="329184"/>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Per-delivery fee</a:t>
            </a:r>
            <a:endParaRPr lang="en-US" sz="1100" dirty="0"/>
          </a:p>
        </p:txBody>
      </p:sp>
      <p:sp>
        <p:nvSpPr>
          <p:cNvPr id="8" name="Text 6"/>
          <p:cNvSpPr/>
          <p:nvPr/>
        </p:nvSpPr>
        <p:spPr>
          <a:xfrm>
            <a:off x="2926080" y="1572768"/>
            <a:ext cx="1188720" cy="329184"/>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$15–$75</a:t>
            </a:r>
            <a:endParaRPr lang="en-US" sz="1050" dirty="0"/>
          </a:p>
        </p:txBody>
      </p:sp>
      <p:sp>
        <p:nvSpPr>
          <p:cNvPr id="9" name="Text 7"/>
          <p:cNvSpPr/>
          <p:nvPr/>
        </p:nvSpPr>
        <p:spPr>
          <a:xfrm>
            <a:off x="4206240" y="1572768"/>
            <a:ext cx="1005840" cy="329184"/>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Month 1+</a:t>
            </a:r>
            <a:endParaRPr lang="en-US" sz="950" dirty="0"/>
          </a:p>
        </p:txBody>
      </p:sp>
      <p:sp>
        <p:nvSpPr>
          <p:cNvPr id="10" name="Shape 8"/>
          <p:cNvSpPr/>
          <p:nvPr/>
        </p:nvSpPr>
        <p:spPr>
          <a:xfrm>
            <a:off x="274320" y="2066544"/>
            <a:ext cx="5029200" cy="457200"/>
          </a:xfrm>
          <a:prstGeom prst="rect">
            <a:avLst/>
          </a:prstGeom>
          <a:solidFill>
            <a:srgbClr val="FFFFFF"/>
          </a:solidFill>
          <a:ln w="12700">
            <a:solidFill>
              <a:srgbClr val="E2E8ED"/>
            </a:solidFill>
            <a:prstDash val="solid"/>
          </a:ln>
        </p:spPr>
        <p:txBody>
          <a:bodyPr/>
          <a:lstStyle/>
          <a:p>
            <a:endParaRPr/>
          </a:p>
        </p:txBody>
      </p:sp>
      <p:sp>
        <p:nvSpPr>
          <p:cNvPr id="11" name="Shape 9"/>
          <p:cNvSpPr/>
          <p:nvPr/>
        </p:nvSpPr>
        <p:spPr>
          <a:xfrm>
            <a:off x="274320" y="2066544"/>
            <a:ext cx="109728" cy="457200"/>
          </a:xfrm>
          <a:prstGeom prst="rect">
            <a:avLst/>
          </a:prstGeom>
          <a:solidFill>
            <a:srgbClr val="00A896"/>
          </a:solidFill>
          <a:ln w="12700">
            <a:solidFill>
              <a:srgbClr val="00A896"/>
            </a:solidFill>
            <a:prstDash val="solid"/>
          </a:ln>
        </p:spPr>
        <p:txBody>
          <a:bodyPr/>
          <a:lstStyle/>
          <a:p>
            <a:endParaRPr/>
          </a:p>
        </p:txBody>
      </p:sp>
      <p:sp>
        <p:nvSpPr>
          <p:cNvPr id="12" name="Text 10"/>
          <p:cNvSpPr/>
          <p:nvPr/>
        </p:nvSpPr>
        <p:spPr>
          <a:xfrm>
            <a:off x="475488" y="2103120"/>
            <a:ext cx="2377440" cy="329184"/>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Managed service SLA</a:t>
            </a:r>
            <a:endParaRPr lang="en-US" sz="1100" dirty="0"/>
          </a:p>
        </p:txBody>
      </p:sp>
      <p:sp>
        <p:nvSpPr>
          <p:cNvPr id="13" name="Text 11"/>
          <p:cNvSpPr/>
          <p:nvPr/>
        </p:nvSpPr>
        <p:spPr>
          <a:xfrm>
            <a:off x="2926080" y="2103120"/>
            <a:ext cx="1188720" cy="329184"/>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$8K–$15K/mo</a:t>
            </a:r>
            <a:endParaRPr lang="en-US" sz="1050" dirty="0"/>
          </a:p>
        </p:txBody>
      </p:sp>
      <p:sp>
        <p:nvSpPr>
          <p:cNvPr id="14" name="Text 12"/>
          <p:cNvSpPr/>
          <p:nvPr/>
        </p:nvSpPr>
        <p:spPr>
          <a:xfrm>
            <a:off x="4206240" y="2103120"/>
            <a:ext cx="1005840" cy="329184"/>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Month 3+</a:t>
            </a:r>
            <a:endParaRPr lang="en-US" sz="950" dirty="0"/>
          </a:p>
        </p:txBody>
      </p:sp>
      <p:sp>
        <p:nvSpPr>
          <p:cNvPr id="15" name="Shape 13"/>
          <p:cNvSpPr/>
          <p:nvPr/>
        </p:nvSpPr>
        <p:spPr>
          <a:xfrm>
            <a:off x="274320" y="2596896"/>
            <a:ext cx="5029200" cy="457200"/>
          </a:xfrm>
          <a:prstGeom prst="rect">
            <a:avLst/>
          </a:prstGeom>
          <a:solidFill>
            <a:srgbClr val="E8F8F7"/>
          </a:solidFill>
          <a:ln w="12700">
            <a:solidFill>
              <a:srgbClr val="E2E8ED"/>
            </a:solidFill>
            <a:prstDash val="solid"/>
          </a:ln>
        </p:spPr>
        <p:txBody>
          <a:bodyPr/>
          <a:lstStyle/>
          <a:p>
            <a:endParaRPr/>
          </a:p>
        </p:txBody>
      </p:sp>
      <p:sp>
        <p:nvSpPr>
          <p:cNvPr id="16" name="Shape 14"/>
          <p:cNvSpPr/>
          <p:nvPr/>
        </p:nvSpPr>
        <p:spPr>
          <a:xfrm>
            <a:off x="274320" y="2596896"/>
            <a:ext cx="109728" cy="457200"/>
          </a:xfrm>
          <a:prstGeom prst="rect">
            <a:avLst/>
          </a:prstGeom>
          <a:solidFill>
            <a:srgbClr val="015F6B"/>
          </a:solidFill>
          <a:ln w="12700">
            <a:solidFill>
              <a:srgbClr val="015F6B"/>
            </a:solidFill>
            <a:prstDash val="solid"/>
          </a:ln>
        </p:spPr>
        <p:txBody>
          <a:bodyPr/>
          <a:lstStyle/>
          <a:p>
            <a:endParaRPr/>
          </a:p>
        </p:txBody>
      </p:sp>
      <p:sp>
        <p:nvSpPr>
          <p:cNvPr id="17" name="Text 15"/>
          <p:cNvSpPr/>
          <p:nvPr/>
        </p:nvSpPr>
        <p:spPr>
          <a:xfrm>
            <a:off x="475488" y="2633472"/>
            <a:ext cx="2377440" cy="329184"/>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Government contract (MBE)</a:t>
            </a:r>
            <a:endParaRPr lang="en-US" sz="1100" dirty="0"/>
          </a:p>
        </p:txBody>
      </p:sp>
      <p:sp>
        <p:nvSpPr>
          <p:cNvPr id="18" name="Text 16"/>
          <p:cNvSpPr/>
          <p:nvPr/>
        </p:nvSpPr>
        <p:spPr>
          <a:xfrm>
            <a:off x="2926080" y="2633472"/>
            <a:ext cx="1188720" cy="329184"/>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GSA-rate</a:t>
            </a:r>
            <a:endParaRPr lang="en-US" sz="1050" dirty="0"/>
          </a:p>
        </p:txBody>
      </p:sp>
      <p:sp>
        <p:nvSpPr>
          <p:cNvPr id="19" name="Text 17"/>
          <p:cNvSpPr/>
          <p:nvPr/>
        </p:nvSpPr>
        <p:spPr>
          <a:xfrm>
            <a:off x="4206240" y="2633472"/>
            <a:ext cx="1005840" cy="329184"/>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Month 3–6</a:t>
            </a:r>
            <a:endParaRPr lang="en-US" sz="950" dirty="0"/>
          </a:p>
        </p:txBody>
      </p:sp>
      <p:sp>
        <p:nvSpPr>
          <p:cNvPr id="20" name="Shape 18"/>
          <p:cNvSpPr/>
          <p:nvPr/>
        </p:nvSpPr>
        <p:spPr>
          <a:xfrm>
            <a:off x="274320" y="3127248"/>
            <a:ext cx="5029200" cy="457200"/>
          </a:xfrm>
          <a:prstGeom prst="rect">
            <a:avLst/>
          </a:prstGeom>
          <a:solidFill>
            <a:srgbClr val="FFFFFF"/>
          </a:solidFill>
          <a:ln w="12700">
            <a:solidFill>
              <a:srgbClr val="E2E8ED"/>
            </a:solidFill>
            <a:prstDash val="solid"/>
          </a:ln>
        </p:spPr>
        <p:txBody>
          <a:bodyPr/>
          <a:lstStyle/>
          <a:p>
            <a:endParaRPr/>
          </a:p>
        </p:txBody>
      </p:sp>
      <p:sp>
        <p:nvSpPr>
          <p:cNvPr id="21" name="Shape 19"/>
          <p:cNvSpPr/>
          <p:nvPr/>
        </p:nvSpPr>
        <p:spPr>
          <a:xfrm>
            <a:off x="274320" y="3127248"/>
            <a:ext cx="109728" cy="457200"/>
          </a:xfrm>
          <a:prstGeom prst="rect">
            <a:avLst/>
          </a:prstGeom>
          <a:solidFill>
            <a:srgbClr val="028090"/>
          </a:solidFill>
          <a:ln w="12700">
            <a:solidFill>
              <a:srgbClr val="028090"/>
            </a:solidFill>
            <a:prstDash val="solid"/>
          </a:ln>
        </p:spPr>
        <p:txBody>
          <a:bodyPr/>
          <a:lstStyle/>
          <a:p>
            <a:endParaRPr/>
          </a:p>
        </p:txBody>
      </p:sp>
      <p:sp>
        <p:nvSpPr>
          <p:cNvPr id="22" name="Text 20"/>
          <p:cNvSpPr/>
          <p:nvPr/>
        </p:nvSpPr>
        <p:spPr>
          <a:xfrm>
            <a:off x="475488" y="3163824"/>
            <a:ext cx="2377440" cy="329184"/>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DFR program package</a:t>
            </a:r>
            <a:endParaRPr lang="en-US" sz="1100" dirty="0"/>
          </a:p>
        </p:txBody>
      </p:sp>
      <p:sp>
        <p:nvSpPr>
          <p:cNvPr id="23" name="Text 21"/>
          <p:cNvSpPr/>
          <p:nvPr/>
        </p:nvSpPr>
        <p:spPr>
          <a:xfrm>
            <a:off x="2926080" y="3163824"/>
            <a:ext cx="1188720" cy="329184"/>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$25K–$75K</a:t>
            </a:r>
            <a:endParaRPr lang="en-US" sz="1050" dirty="0"/>
          </a:p>
        </p:txBody>
      </p:sp>
      <p:sp>
        <p:nvSpPr>
          <p:cNvPr id="24" name="Text 22"/>
          <p:cNvSpPr/>
          <p:nvPr/>
        </p:nvSpPr>
        <p:spPr>
          <a:xfrm>
            <a:off x="4206240" y="3163824"/>
            <a:ext cx="1005840" cy="329184"/>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Month 6+</a:t>
            </a:r>
            <a:endParaRPr lang="en-US" sz="950" dirty="0"/>
          </a:p>
        </p:txBody>
      </p:sp>
      <p:sp>
        <p:nvSpPr>
          <p:cNvPr id="25" name="Shape 23"/>
          <p:cNvSpPr/>
          <p:nvPr/>
        </p:nvSpPr>
        <p:spPr>
          <a:xfrm>
            <a:off x="274320" y="3657600"/>
            <a:ext cx="5029200" cy="457200"/>
          </a:xfrm>
          <a:prstGeom prst="rect">
            <a:avLst/>
          </a:prstGeom>
          <a:solidFill>
            <a:srgbClr val="E8F8F7"/>
          </a:solidFill>
          <a:ln w="12700">
            <a:solidFill>
              <a:srgbClr val="E2E8ED"/>
            </a:solidFill>
            <a:prstDash val="solid"/>
          </a:ln>
        </p:spPr>
        <p:txBody>
          <a:bodyPr/>
          <a:lstStyle/>
          <a:p>
            <a:endParaRPr/>
          </a:p>
        </p:txBody>
      </p:sp>
      <p:sp>
        <p:nvSpPr>
          <p:cNvPr id="26" name="Shape 24"/>
          <p:cNvSpPr/>
          <p:nvPr/>
        </p:nvSpPr>
        <p:spPr>
          <a:xfrm>
            <a:off x="274320" y="3657600"/>
            <a:ext cx="109728" cy="457200"/>
          </a:xfrm>
          <a:prstGeom prst="rect">
            <a:avLst/>
          </a:prstGeom>
          <a:solidFill>
            <a:srgbClr val="00A896"/>
          </a:solidFill>
          <a:ln w="12700">
            <a:solidFill>
              <a:srgbClr val="00A896"/>
            </a:solidFill>
            <a:prstDash val="solid"/>
          </a:ln>
        </p:spPr>
        <p:txBody>
          <a:bodyPr/>
          <a:lstStyle/>
          <a:p>
            <a:endParaRPr/>
          </a:p>
        </p:txBody>
      </p:sp>
      <p:sp>
        <p:nvSpPr>
          <p:cNvPr id="27" name="Text 25"/>
          <p:cNvSpPr/>
          <p:nvPr/>
        </p:nvSpPr>
        <p:spPr>
          <a:xfrm>
            <a:off x="475488" y="3694176"/>
            <a:ext cx="2377440" cy="329184"/>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MONK licensing</a:t>
            </a:r>
            <a:endParaRPr lang="en-US" sz="1100" dirty="0"/>
          </a:p>
        </p:txBody>
      </p:sp>
      <p:sp>
        <p:nvSpPr>
          <p:cNvPr id="28" name="Text 26"/>
          <p:cNvSpPr/>
          <p:nvPr/>
        </p:nvSpPr>
        <p:spPr>
          <a:xfrm>
            <a:off x="2926080" y="3694176"/>
            <a:ext cx="1188720" cy="329184"/>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Per-unit (Yr 2+)</a:t>
            </a:r>
            <a:endParaRPr lang="en-US" sz="1050" dirty="0"/>
          </a:p>
        </p:txBody>
      </p:sp>
      <p:sp>
        <p:nvSpPr>
          <p:cNvPr id="29" name="Text 27"/>
          <p:cNvSpPr/>
          <p:nvPr/>
        </p:nvSpPr>
        <p:spPr>
          <a:xfrm>
            <a:off x="4206240" y="3694176"/>
            <a:ext cx="1005840" cy="329184"/>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Year 2</a:t>
            </a:r>
            <a:endParaRPr lang="en-US" sz="950" dirty="0"/>
          </a:p>
        </p:txBody>
      </p:sp>
      <p:sp>
        <p:nvSpPr>
          <p:cNvPr id="30" name="Text 28"/>
          <p:cNvSpPr/>
          <p:nvPr/>
        </p:nvSpPr>
        <p:spPr>
          <a:xfrm>
            <a:off x="5669280" y="1115568"/>
            <a:ext cx="3200400" cy="329184"/>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Revenue Milestones</a:t>
            </a:r>
            <a:endParaRPr lang="en-US" sz="1300" dirty="0"/>
          </a:p>
        </p:txBody>
      </p:sp>
      <p:sp>
        <p:nvSpPr>
          <p:cNvPr id="31" name="Shape 29"/>
          <p:cNvSpPr/>
          <p:nvPr/>
        </p:nvSpPr>
        <p:spPr>
          <a:xfrm>
            <a:off x="5669280" y="1536192"/>
            <a:ext cx="1481328" cy="896112"/>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32" name="Text 30"/>
          <p:cNvSpPr/>
          <p:nvPr/>
        </p:nvSpPr>
        <p:spPr>
          <a:xfrm>
            <a:off x="5669280" y="1645920"/>
            <a:ext cx="1481328" cy="492862"/>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First $</a:t>
            </a:r>
            <a:endParaRPr lang="en-US" sz="2800" dirty="0"/>
          </a:p>
        </p:txBody>
      </p:sp>
      <p:sp>
        <p:nvSpPr>
          <p:cNvPr id="33" name="Text 31"/>
          <p:cNvSpPr/>
          <p:nvPr/>
        </p:nvSpPr>
        <p:spPr>
          <a:xfrm>
            <a:off x="5669280" y="2029054"/>
            <a:ext cx="1481328" cy="34052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Mo 1–2</a:t>
            </a:r>
            <a:endParaRPr lang="en-US" sz="1000" dirty="0"/>
          </a:p>
        </p:txBody>
      </p:sp>
      <p:sp>
        <p:nvSpPr>
          <p:cNvPr id="34" name="Shape 32"/>
          <p:cNvSpPr/>
          <p:nvPr/>
        </p:nvSpPr>
        <p:spPr>
          <a:xfrm>
            <a:off x="7351776" y="1536192"/>
            <a:ext cx="1481328" cy="896112"/>
          </a:xfrm>
          <a:prstGeom prst="rect">
            <a:avLst/>
          </a:prstGeom>
          <a:solidFill>
            <a:srgbClr val="00A896"/>
          </a:solidFill>
          <a:ln w="12700">
            <a:solidFill>
              <a:srgbClr val="00A896"/>
            </a:solidFill>
            <a:prstDash val="solid"/>
          </a:ln>
          <a:effectLst>
            <a:outerShdw blurRad="101600" dist="38100" dir="8100000" algn="bl" rotWithShape="0">
              <a:srgbClr val="000000">
                <a:alpha val="12000"/>
              </a:srgbClr>
            </a:outerShdw>
          </a:effectLst>
        </p:spPr>
        <p:txBody>
          <a:bodyPr/>
          <a:lstStyle/>
          <a:p>
            <a:endParaRPr/>
          </a:p>
        </p:txBody>
      </p:sp>
      <p:sp>
        <p:nvSpPr>
          <p:cNvPr id="35" name="Text 33"/>
          <p:cNvSpPr/>
          <p:nvPr/>
        </p:nvSpPr>
        <p:spPr>
          <a:xfrm>
            <a:off x="7351776" y="1645920"/>
            <a:ext cx="1481328" cy="492862"/>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$100K</a:t>
            </a:r>
            <a:endParaRPr lang="en-US" sz="2800" dirty="0"/>
          </a:p>
        </p:txBody>
      </p:sp>
      <p:sp>
        <p:nvSpPr>
          <p:cNvPr id="36" name="Text 34"/>
          <p:cNvSpPr/>
          <p:nvPr/>
        </p:nvSpPr>
        <p:spPr>
          <a:xfrm>
            <a:off x="7351776" y="2029054"/>
            <a:ext cx="1481328" cy="34052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Mo 6</a:t>
            </a:r>
            <a:endParaRPr lang="en-US" sz="1000" dirty="0"/>
          </a:p>
        </p:txBody>
      </p:sp>
      <p:sp>
        <p:nvSpPr>
          <p:cNvPr id="37" name="Shape 35"/>
          <p:cNvSpPr/>
          <p:nvPr/>
        </p:nvSpPr>
        <p:spPr>
          <a:xfrm>
            <a:off x="5669280" y="2596896"/>
            <a:ext cx="1481328" cy="896112"/>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38" name="Text 36"/>
          <p:cNvSpPr/>
          <p:nvPr/>
        </p:nvSpPr>
        <p:spPr>
          <a:xfrm>
            <a:off x="5669280" y="2706624"/>
            <a:ext cx="1481328" cy="492862"/>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$175K</a:t>
            </a:r>
            <a:endParaRPr lang="en-US" sz="2800" dirty="0"/>
          </a:p>
        </p:txBody>
      </p:sp>
      <p:sp>
        <p:nvSpPr>
          <p:cNvPr id="39" name="Text 37"/>
          <p:cNvSpPr/>
          <p:nvPr/>
        </p:nvSpPr>
        <p:spPr>
          <a:xfrm>
            <a:off x="5669280" y="3089758"/>
            <a:ext cx="1481328" cy="34052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Mo 9</a:t>
            </a:r>
            <a:endParaRPr lang="en-US" sz="1000" dirty="0"/>
          </a:p>
        </p:txBody>
      </p:sp>
      <p:sp>
        <p:nvSpPr>
          <p:cNvPr id="40" name="Shape 38"/>
          <p:cNvSpPr/>
          <p:nvPr/>
        </p:nvSpPr>
        <p:spPr>
          <a:xfrm>
            <a:off x="7351776" y="2596896"/>
            <a:ext cx="1481328" cy="896112"/>
          </a:xfrm>
          <a:prstGeom prst="rect">
            <a:avLst/>
          </a:prstGeom>
          <a:solidFill>
            <a:srgbClr val="1E3A5F"/>
          </a:solidFill>
          <a:ln w="12700">
            <a:solidFill>
              <a:srgbClr val="1E3A5F"/>
            </a:solidFill>
            <a:prstDash val="solid"/>
          </a:ln>
          <a:effectLst>
            <a:outerShdw blurRad="101600" dist="38100" dir="8100000" algn="bl" rotWithShape="0">
              <a:srgbClr val="000000">
                <a:alpha val="12000"/>
              </a:srgbClr>
            </a:outerShdw>
          </a:effectLst>
        </p:spPr>
        <p:txBody>
          <a:bodyPr/>
          <a:lstStyle/>
          <a:p>
            <a:endParaRPr/>
          </a:p>
        </p:txBody>
      </p:sp>
      <p:sp>
        <p:nvSpPr>
          <p:cNvPr id="41" name="Text 39"/>
          <p:cNvSpPr/>
          <p:nvPr/>
        </p:nvSpPr>
        <p:spPr>
          <a:xfrm>
            <a:off x="7351776" y="2706624"/>
            <a:ext cx="1481328" cy="492862"/>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$248K</a:t>
            </a:r>
            <a:endParaRPr lang="en-US" sz="2800" dirty="0"/>
          </a:p>
        </p:txBody>
      </p:sp>
      <p:sp>
        <p:nvSpPr>
          <p:cNvPr id="42" name="Text 40"/>
          <p:cNvSpPr/>
          <p:nvPr/>
        </p:nvSpPr>
        <p:spPr>
          <a:xfrm>
            <a:off x="7351776" y="3089758"/>
            <a:ext cx="1481328" cy="340523"/>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Mo 12</a:t>
            </a:r>
            <a:endParaRPr lang="en-US" sz="1000" dirty="0"/>
          </a:p>
        </p:txBody>
      </p:sp>
      <p:sp>
        <p:nvSpPr>
          <p:cNvPr id="43" name="Shape 41"/>
          <p:cNvSpPr/>
          <p:nvPr/>
        </p:nvSpPr>
        <p:spPr>
          <a:xfrm>
            <a:off x="274320" y="4572000"/>
            <a:ext cx="8595360" cy="347472"/>
          </a:xfrm>
          <a:prstGeom prst="rect">
            <a:avLst/>
          </a:prstGeom>
          <a:solidFill>
            <a:srgbClr val="1E3A5F"/>
          </a:solidFill>
          <a:ln w="12700">
            <a:solidFill>
              <a:srgbClr val="1E3A5F"/>
            </a:solidFill>
            <a:prstDash val="solid"/>
          </a:ln>
        </p:spPr>
        <p:txBody>
          <a:bodyPr/>
          <a:lstStyle/>
          <a:p>
            <a:endParaRPr/>
          </a:p>
        </p:txBody>
      </p:sp>
      <p:sp>
        <p:nvSpPr>
          <p:cNvPr id="44" name="Text 42"/>
          <p:cNvSpPr/>
          <p:nvPr/>
        </p:nvSpPr>
        <p:spPr>
          <a:xfrm>
            <a:off x="402336" y="4608576"/>
            <a:ext cx="83210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EAF Grant Pipeline (Non-Dilutive):   EARN Maryland ~$125K  |  CDBG TBD  |  SBIR Phase I (pending reauth)  |  MEA Resilient MD (ongoing)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2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0000"/>
            <a:ext cx="8644000" cy="750000"/>
          </a:xfrm>
          <a:prstGeom prst="rect">
            <a:avLst/>
          </a:prstGeom>
          <a:noFill/>
        </p:spPr>
        <p:txBody>
          <a:bodyPr wrap="square">
            <a:spAutoFit/>
          </a:bodyPr>
          <a:lstStyle/>
          <a:p>
            <a:pPr algn="l"/>
            <a:r>
              <a:rPr sz="2600" b="1" i="0">
                <a:solidFill>
                  <a:srgbClr val="FFFFFF"/>
                </a:solidFill>
                <a:latin typeface="Calibri"/>
              </a:rPr>
              <a:t>Go-to-Market: Three-Phase Revenue Motion</a:t>
            </a:r>
          </a:p>
        </p:txBody>
      </p:sp>
      <p:sp>
        <p:nvSpPr>
          <p:cNvPr id="5" name="TextBox 4"/>
          <p:cNvSpPr txBox="1"/>
          <p:nvPr/>
        </p:nvSpPr>
        <p:spPr>
          <a:xfrm>
            <a:off x="365760" y="700000"/>
            <a:ext cx="8644000" cy="260000"/>
          </a:xfrm>
          <a:prstGeom prst="rect">
            <a:avLst/>
          </a:prstGeom>
          <a:noFill/>
        </p:spPr>
        <p:txBody>
          <a:bodyPr wrap="square">
            <a:spAutoFit/>
          </a:bodyPr>
          <a:lstStyle/>
          <a:p>
            <a:pPr algn="l"/>
            <a:r>
              <a:rPr sz="1000" b="0" i="1">
                <a:solidFill>
                  <a:srgbClr val="028090"/>
                </a:solidFill>
                <a:latin typeface="Calibri"/>
              </a:rPr>
              <a:t>Each phase funds the next. Non-dilutive path from POC to platform.</a:t>
            </a:r>
          </a:p>
        </p:txBody>
      </p:sp>
      <p:sp>
        <p:nvSpPr>
          <p:cNvPr id="6" name="Rectangle 5"/>
          <p:cNvSpPr/>
          <p:nvPr/>
        </p:nvSpPr>
        <p:spPr>
          <a:xfrm>
            <a:off x="522000" y="1050000"/>
            <a:ext cx="2580000" cy="3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22000" y="1050000"/>
            <a:ext cx="2580000" cy="55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2000" y="1130000"/>
            <a:ext cx="2480000" cy="230000"/>
          </a:xfrm>
          <a:prstGeom prst="rect">
            <a:avLst/>
          </a:prstGeom>
          <a:noFill/>
        </p:spPr>
        <p:txBody>
          <a:bodyPr wrap="square">
            <a:spAutoFit/>
          </a:bodyPr>
          <a:lstStyle/>
          <a:p>
            <a:pPr algn="l"/>
            <a:r>
              <a:rPr sz="1100" b="1" i="0">
                <a:solidFill>
                  <a:srgbClr val="028090"/>
                </a:solidFill>
                <a:latin typeface="Calibri"/>
              </a:rPr>
              <a:t>PHASE 1</a:t>
            </a:r>
          </a:p>
        </p:txBody>
      </p:sp>
      <p:sp>
        <p:nvSpPr>
          <p:cNvPr id="9" name="TextBox 8"/>
          <p:cNvSpPr txBox="1"/>
          <p:nvPr/>
        </p:nvSpPr>
        <p:spPr>
          <a:xfrm>
            <a:off x="582000" y="1350000"/>
            <a:ext cx="2480000" cy="190000"/>
          </a:xfrm>
          <a:prstGeom prst="rect">
            <a:avLst/>
          </a:prstGeom>
          <a:noFill/>
        </p:spPr>
        <p:txBody>
          <a:bodyPr wrap="square">
            <a:spAutoFit/>
          </a:bodyPr>
          <a:lstStyle/>
          <a:p>
            <a:pPr algn="l"/>
            <a:r>
              <a:rPr sz="850" b="0" i="1">
                <a:solidFill>
                  <a:srgbClr val="7AB4C8"/>
                </a:solidFill>
                <a:latin typeface="Calibri"/>
              </a:rPr>
              <a:t>NOW → MONTH 3</a:t>
            </a:r>
          </a:p>
        </p:txBody>
      </p:sp>
      <p:sp>
        <p:nvSpPr>
          <p:cNvPr id="10" name="Rectangle 9"/>
          <p:cNvSpPr/>
          <p:nvPr/>
        </p:nvSpPr>
        <p:spPr>
          <a:xfrm>
            <a:off x="582000" y="1550000"/>
            <a:ext cx="2460000" cy="9144"/>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2000" y="1610000"/>
            <a:ext cx="2480000" cy="230000"/>
          </a:xfrm>
          <a:prstGeom prst="rect">
            <a:avLst/>
          </a:prstGeom>
          <a:noFill/>
        </p:spPr>
        <p:txBody>
          <a:bodyPr wrap="square">
            <a:spAutoFit/>
          </a:bodyPr>
          <a:lstStyle/>
          <a:p>
            <a:pPr algn="l"/>
            <a:r>
              <a:rPr sz="1000" b="1" i="0">
                <a:solidFill>
                  <a:srgbClr val="FFFFFF"/>
                </a:solidFill>
                <a:latin typeface="Calibri"/>
              </a:rPr>
              <a:t>"Prove It"</a:t>
            </a:r>
          </a:p>
        </p:txBody>
      </p:sp>
      <p:sp>
        <p:nvSpPr>
          <p:cNvPr id="12" name="TextBox 11"/>
          <p:cNvSpPr txBox="1"/>
          <p:nvPr/>
        </p:nvSpPr>
        <p:spPr>
          <a:xfrm>
            <a:off x="581999" y="1870000"/>
            <a:ext cx="488919" cy="215444"/>
          </a:xfrm>
          <a:prstGeom prst="rect">
            <a:avLst/>
          </a:prstGeom>
          <a:noFill/>
        </p:spPr>
        <p:txBody>
          <a:bodyPr wrap="square">
            <a:spAutoFit/>
          </a:bodyPr>
          <a:lstStyle/>
          <a:p>
            <a:pPr algn="l"/>
            <a:r>
              <a:rPr sz="800" b="1" i="0" dirty="0">
                <a:solidFill>
                  <a:srgbClr val="028090"/>
                </a:solidFill>
                <a:latin typeface="Calibri"/>
              </a:rPr>
              <a:t>Target:</a:t>
            </a:r>
          </a:p>
        </p:txBody>
      </p:sp>
      <p:sp>
        <p:nvSpPr>
          <p:cNvPr id="13" name="TextBox 12"/>
          <p:cNvSpPr txBox="1"/>
          <p:nvPr/>
        </p:nvSpPr>
        <p:spPr>
          <a:xfrm>
            <a:off x="1022000" y="1870000"/>
            <a:ext cx="2000000" cy="380000"/>
          </a:xfrm>
          <a:prstGeom prst="rect">
            <a:avLst/>
          </a:prstGeom>
          <a:noFill/>
        </p:spPr>
        <p:txBody>
          <a:bodyPr wrap="square">
            <a:spAutoFit/>
          </a:bodyPr>
          <a:lstStyle/>
          <a:p>
            <a:pPr algn="l"/>
            <a:r>
              <a:rPr sz="800" b="0" i="0">
                <a:solidFill>
                  <a:srgbClr val="CCE0EC"/>
                </a:solidFill>
                <a:latin typeface="Calibri"/>
              </a:rPr>
              <a:t>UMMS Sparrows Point LOC
Pat Vizzard, VP Supply Chain</a:t>
            </a:r>
          </a:p>
        </p:txBody>
      </p:sp>
      <p:sp>
        <p:nvSpPr>
          <p:cNvPr id="14" name="TextBox 13"/>
          <p:cNvSpPr txBox="1"/>
          <p:nvPr/>
        </p:nvSpPr>
        <p:spPr>
          <a:xfrm>
            <a:off x="582000" y="2360000"/>
            <a:ext cx="440000" cy="380000"/>
          </a:xfrm>
          <a:prstGeom prst="rect">
            <a:avLst/>
          </a:prstGeom>
          <a:noFill/>
        </p:spPr>
        <p:txBody>
          <a:bodyPr wrap="square">
            <a:spAutoFit/>
          </a:bodyPr>
          <a:lstStyle/>
          <a:p>
            <a:pPr algn="l"/>
            <a:r>
              <a:rPr sz="800" b="1" i="0">
                <a:solidFill>
                  <a:srgbClr val="028090"/>
                </a:solidFill>
                <a:latin typeface="Calibri"/>
              </a:rPr>
              <a:t>Offer:</a:t>
            </a:r>
          </a:p>
        </p:txBody>
      </p:sp>
      <p:sp>
        <p:nvSpPr>
          <p:cNvPr id="15" name="TextBox 14"/>
          <p:cNvSpPr txBox="1"/>
          <p:nvPr/>
        </p:nvSpPr>
        <p:spPr>
          <a:xfrm>
            <a:off x="1022000" y="2360000"/>
            <a:ext cx="2000000" cy="380000"/>
          </a:xfrm>
          <a:prstGeom prst="rect">
            <a:avLst/>
          </a:prstGeom>
          <a:noFill/>
        </p:spPr>
        <p:txBody>
          <a:bodyPr wrap="square">
            <a:spAutoFit/>
          </a:bodyPr>
          <a:lstStyle/>
          <a:p>
            <a:pPr algn="l"/>
            <a:r>
              <a:rPr sz="800" b="0" i="0">
                <a:solidFill>
                  <a:srgbClr val="CCE0EC"/>
                </a:solidFill>
                <a:latin typeface="Calibri"/>
              </a:rPr>
              <a:t>30–60 day Part 107 POC
50+ deliveries, cost-plus</a:t>
            </a:r>
          </a:p>
        </p:txBody>
      </p:sp>
      <p:sp>
        <p:nvSpPr>
          <p:cNvPr id="16" name="TextBox 15"/>
          <p:cNvSpPr txBox="1"/>
          <p:nvPr/>
        </p:nvSpPr>
        <p:spPr>
          <a:xfrm>
            <a:off x="582000" y="2850000"/>
            <a:ext cx="612486" cy="215444"/>
          </a:xfrm>
          <a:prstGeom prst="rect">
            <a:avLst/>
          </a:prstGeom>
          <a:noFill/>
        </p:spPr>
        <p:txBody>
          <a:bodyPr wrap="square">
            <a:spAutoFit/>
          </a:bodyPr>
          <a:lstStyle/>
          <a:p>
            <a:pPr algn="l"/>
            <a:r>
              <a:rPr sz="800" b="1" i="0">
                <a:solidFill>
                  <a:srgbClr val="028090"/>
                </a:solidFill>
                <a:latin typeface="Calibri"/>
              </a:rPr>
              <a:t>Revenue:</a:t>
            </a:r>
          </a:p>
        </p:txBody>
      </p:sp>
      <p:sp>
        <p:nvSpPr>
          <p:cNvPr id="17" name="TextBox 16"/>
          <p:cNvSpPr txBox="1"/>
          <p:nvPr/>
        </p:nvSpPr>
        <p:spPr>
          <a:xfrm>
            <a:off x="1022000" y="2850000"/>
            <a:ext cx="2000000" cy="380000"/>
          </a:xfrm>
          <a:prstGeom prst="rect">
            <a:avLst/>
          </a:prstGeom>
          <a:noFill/>
        </p:spPr>
        <p:txBody>
          <a:bodyPr wrap="square">
            <a:spAutoFit/>
          </a:bodyPr>
          <a:lstStyle/>
          <a:p>
            <a:pPr algn="l"/>
            <a:r>
              <a:rPr sz="800" b="0" i="0">
                <a:solidFill>
                  <a:srgbClr val="CCE0EC"/>
                </a:solidFill>
                <a:latin typeface="Calibri"/>
              </a:rPr>
              <a:t>$2,500–$5,000 pilot fee</a:t>
            </a:r>
          </a:p>
        </p:txBody>
      </p:sp>
      <p:sp>
        <p:nvSpPr>
          <p:cNvPr id="18" name="TextBox 17"/>
          <p:cNvSpPr txBox="1"/>
          <p:nvPr/>
        </p:nvSpPr>
        <p:spPr>
          <a:xfrm>
            <a:off x="582000" y="3340000"/>
            <a:ext cx="612486" cy="215444"/>
          </a:xfrm>
          <a:prstGeom prst="rect">
            <a:avLst/>
          </a:prstGeom>
          <a:noFill/>
        </p:spPr>
        <p:txBody>
          <a:bodyPr wrap="square">
            <a:spAutoFit/>
          </a:bodyPr>
          <a:lstStyle/>
          <a:p>
            <a:pPr algn="l"/>
            <a:r>
              <a:rPr sz="800" b="1" i="0" dirty="0">
                <a:solidFill>
                  <a:srgbClr val="028090"/>
                </a:solidFill>
                <a:latin typeface="Calibri"/>
              </a:rPr>
              <a:t>Unlock:</a:t>
            </a:r>
          </a:p>
        </p:txBody>
      </p:sp>
      <p:sp>
        <p:nvSpPr>
          <p:cNvPr id="19" name="TextBox 18"/>
          <p:cNvSpPr txBox="1"/>
          <p:nvPr/>
        </p:nvSpPr>
        <p:spPr>
          <a:xfrm>
            <a:off x="1022000" y="3340000"/>
            <a:ext cx="2000000" cy="380000"/>
          </a:xfrm>
          <a:prstGeom prst="rect">
            <a:avLst/>
          </a:prstGeom>
          <a:noFill/>
        </p:spPr>
        <p:txBody>
          <a:bodyPr wrap="square">
            <a:spAutoFit/>
          </a:bodyPr>
          <a:lstStyle/>
          <a:p>
            <a:pPr algn="l"/>
            <a:r>
              <a:rPr sz="800" b="0" i="0">
                <a:solidFill>
                  <a:srgbClr val="CCE0EC"/>
                </a:solidFill>
                <a:latin typeface="Calibri"/>
              </a:rPr>
              <a:t>Proof of delivery → SLA</a:t>
            </a:r>
          </a:p>
        </p:txBody>
      </p:sp>
      <p:sp>
        <p:nvSpPr>
          <p:cNvPr id="20" name="Rectangle 19"/>
          <p:cNvSpPr/>
          <p:nvPr/>
        </p:nvSpPr>
        <p:spPr>
          <a:xfrm>
            <a:off x="3282000" y="1050000"/>
            <a:ext cx="2580000" cy="3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82000" y="1050000"/>
            <a:ext cx="2580000" cy="55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42000" y="1130000"/>
            <a:ext cx="2480000" cy="230000"/>
          </a:xfrm>
          <a:prstGeom prst="rect">
            <a:avLst/>
          </a:prstGeom>
          <a:noFill/>
        </p:spPr>
        <p:txBody>
          <a:bodyPr wrap="square">
            <a:spAutoFit/>
          </a:bodyPr>
          <a:lstStyle/>
          <a:p>
            <a:pPr algn="l"/>
            <a:r>
              <a:rPr sz="1100" b="1" i="0">
                <a:solidFill>
                  <a:srgbClr val="F5A623"/>
                </a:solidFill>
                <a:latin typeface="Calibri"/>
              </a:rPr>
              <a:t>PHASE 2</a:t>
            </a:r>
          </a:p>
        </p:txBody>
      </p:sp>
      <p:sp>
        <p:nvSpPr>
          <p:cNvPr id="23" name="TextBox 22"/>
          <p:cNvSpPr txBox="1"/>
          <p:nvPr/>
        </p:nvSpPr>
        <p:spPr>
          <a:xfrm>
            <a:off x="3342000" y="1350000"/>
            <a:ext cx="2480000" cy="190000"/>
          </a:xfrm>
          <a:prstGeom prst="rect">
            <a:avLst/>
          </a:prstGeom>
          <a:noFill/>
        </p:spPr>
        <p:txBody>
          <a:bodyPr wrap="square">
            <a:spAutoFit/>
          </a:bodyPr>
          <a:lstStyle/>
          <a:p>
            <a:pPr algn="l"/>
            <a:r>
              <a:rPr sz="850" b="0" i="1">
                <a:solidFill>
                  <a:srgbClr val="7AB4C8"/>
                </a:solidFill>
                <a:latin typeface="Calibri"/>
              </a:rPr>
              <a:t>MONTH 3 → MONTH 9</a:t>
            </a:r>
          </a:p>
        </p:txBody>
      </p:sp>
      <p:sp>
        <p:nvSpPr>
          <p:cNvPr id="24" name="Rectangle 23"/>
          <p:cNvSpPr/>
          <p:nvPr/>
        </p:nvSpPr>
        <p:spPr>
          <a:xfrm>
            <a:off x="3342000" y="1550000"/>
            <a:ext cx="2460000" cy="914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42000" y="1610000"/>
            <a:ext cx="2480000" cy="230000"/>
          </a:xfrm>
          <a:prstGeom prst="rect">
            <a:avLst/>
          </a:prstGeom>
          <a:noFill/>
        </p:spPr>
        <p:txBody>
          <a:bodyPr wrap="square">
            <a:spAutoFit/>
          </a:bodyPr>
          <a:lstStyle/>
          <a:p>
            <a:pPr algn="l"/>
            <a:r>
              <a:rPr sz="1000" b="1" i="0">
                <a:solidFill>
                  <a:srgbClr val="FFFFFF"/>
                </a:solidFill>
                <a:latin typeface="Calibri"/>
              </a:rPr>
              <a:t>"Scale It"</a:t>
            </a:r>
          </a:p>
        </p:txBody>
      </p:sp>
      <p:sp>
        <p:nvSpPr>
          <p:cNvPr id="26" name="TextBox 25"/>
          <p:cNvSpPr txBox="1"/>
          <p:nvPr/>
        </p:nvSpPr>
        <p:spPr>
          <a:xfrm>
            <a:off x="3342000" y="1870000"/>
            <a:ext cx="700000" cy="215444"/>
          </a:xfrm>
          <a:prstGeom prst="rect">
            <a:avLst/>
          </a:prstGeom>
          <a:noFill/>
        </p:spPr>
        <p:txBody>
          <a:bodyPr wrap="square">
            <a:spAutoFit/>
          </a:bodyPr>
          <a:lstStyle/>
          <a:p>
            <a:pPr algn="l"/>
            <a:r>
              <a:rPr sz="800" b="1" i="0" dirty="0">
                <a:solidFill>
                  <a:srgbClr val="F5A623"/>
                </a:solidFill>
                <a:latin typeface="Calibri"/>
              </a:rPr>
              <a:t>Targets:</a:t>
            </a:r>
          </a:p>
        </p:txBody>
      </p:sp>
      <p:sp>
        <p:nvSpPr>
          <p:cNvPr id="27" name="TextBox 26"/>
          <p:cNvSpPr txBox="1"/>
          <p:nvPr/>
        </p:nvSpPr>
        <p:spPr>
          <a:xfrm>
            <a:off x="3782000" y="1870000"/>
            <a:ext cx="2000000" cy="380000"/>
          </a:xfrm>
          <a:prstGeom prst="rect">
            <a:avLst/>
          </a:prstGeom>
          <a:noFill/>
        </p:spPr>
        <p:txBody>
          <a:bodyPr wrap="square">
            <a:spAutoFit/>
          </a:bodyPr>
          <a:lstStyle/>
          <a:p>
            <a:pPr algn="l"/>
            <a:r>
              <a:rPr sz="800" b="0" i="0">
                <a:solidFill>
                  <a:srgbClr val="CCE0EC"/>
                </a:solidFill>
                <a:latin typeface="Calibri"/>
              </a:rPr>
              <a:t>UMMS SLA + Hopkins labs
+ MedStar outreach</a:t>
            </a:r>
          </a:p>
        </p:txBody>
      </p:sp>
      <p:sp>
        <p:nvSpPr>
          <p:cNvPr id="28" name="TextBox 27"/>
          <p:cNvSpPr txBox="1"/>
          <p:nvPr/>
        </p:nvSpPr>
        <p:spPr>
          <a:xfrm>
            <a:off x="3342000" y="2360000"/>
            <a:ext cx="440000" cy="380000"/>
          </a:xfrm>
          <a:prstGeom prst="rect">
            <a:avLst/>
          </a:prstGeom>
          <a:noFill/>
        </p:spPr>
        <p:txBody>
          <a:bodyPr wrap="square">
            <a:spAutoFit/>
          </a:bodyPr>
          <a:lstStyle/>
          <a:p>
            <a:pPr algn="l"/>
            <a:r>
              <a:rPr sz="800" b="1" i="0">
                <a:solidFill>
                  <a:srgbClr val="F5A623"/>
                </a:solidFill>
                <a:latin typeface="Calibri"/>
              </a:rPr>
              <a:t>Offer:</a:t>
            </a:r>
          </a:p>
        </p:txBody>
      </p:sp>
      <p:sp>
        <p:nvSpPr>
          <p:cNvPr id="29" name="TextBox 28"/>
          <p:cNvSpPr txBox="1"/>
          <p:nvPr/>
        </p:nvSpPr>
        <p:spPr>
          <a:xfrm>
            <a:off x="3782000" y="2360000"/>
            <a:ext cx="2000000" cy="380000"/>
          </a:xfrm>
          <a:prstGeom prst="rect">
            <a:avLst/>
          </a:prstGeom>
          <a:noFill/>
        </p:spPr>
        <p:txBody>
          <a:bodyPr wrap="square">
            <a:spAutoFit/>
          </a:bodyPr>
          <a:lstStyle/>
          <a:p>
            <a:pPr algn="l"/>
            <a:r>
              <a:rPr sz="800" b="0" i="0">
                <a:solidFill>
                  <a:srgbClr val="CCE0EC"/>
                </a:solidFill>
                <a:latin typeface="Calibri"/>
              </a:rPr>
              <a:t>Managed SLA $8K–$15K/MRR
DFR package $25–75K</a:t>
            </a:r>
          </a:p>
        </p:txBody>
      </p:sp>
      <p:sp>
        <p:nvSpPr>
          <p:cNvPr id="30" name="TextBox 29"/>
          <p:cNvSpPr txBox="1"/>
          <p:nvPr/>
        </p:nvSpPr>
        <p:spPr>
          <a:xfrm>
            <a:off x="3342000" y="2850000"/>
            <a:ext cx="603924" cy="215444"/>
          </a:xfrm>
          <a:prstGeom prst="rect">
            <a:avLst/>
          </a:prstGeom>
          <a:noFill/>
        </p:spPr>
        <p:txBody>
          <a:bodyPr wrap="square">
            <a:spAutoFit/>
          </a:bodyPr>
          <a:lstStyle/>
          <a:p>
            <a:pPr algn="l"/>
            <a:r>
              <a:rPr sz="800" b="1" i="0">
                <a:solidFill>
                  <a:srgbClr val="F5A623"/>
                </a:solidFill>
                <a:latin typeface="Calibri"/>
              </a:rPr>
              <a:t>Revenue:</a:t>
            </a:r>
          </a:p>
        </p:txBody>
      </p:sp>
      <p:sp>
        <p:nvSpPr>
          <p:cNvPr id="31" name="TextBox 30"/>
          <p:cNvSpPr txBox="1"/>
          <p:nvPr/>
        </p:nvSpPr>
        <p:spPr>
          <a:xfrm>
            <a:off x="3782000" y="2850000"/>
            <a:ext cx="2000000" cy="380000"/>
          </a:xfrm>
          <a:prstGeom prst="rect">
            <a:avLst/>
          </a:prstGeom>
          <a:noFill/>
        </p:spPr>
        <p:txBody>
          <a:bodyPr wrap="square">
            <a:spAutoFit/>
          </a:bodyPr>
          <a:lstStyle/>
          <a:p>
            <a:pPr algn="l"/>
            <a:r>
              <a:rPr sz="800" b="0" i="0">
                <a:solidFill>
                  <a:srgbClr val="CCE0EC"/>
                </a:solidFill>
                <a:latin typeface="Calibri"/>
              </a:rPr>
              <a:t>$100K by Month 6</a:t>
            </a:r>
          </a:p>
        </p:txBody>
      </p:sp>
      <p:sp>
        <p:nvSpPr>
          <p:cNvPr id="32" name="TextBox 31"/>
          <p:cNvSpPr txBox="1"/>
          <p:nvPr/>
        </p:nvSpPr>
        <p:spPr>
          <a:xfrm>
            <a:off x="3342000" y="3340000"/>
            <a:ext cx="760000" cy="215444"/>
          </a:xfrm>
          <a:prstGeom prst="rect">
            <a:avLst/>
          </a:prstGeom>
          <a:noFill/>
        </p:spPr>
        <p:txBody>
          <a:bodyPr wrap="square">
            <a:spAutoFit/>
          </a:bodyPr>
          <a:lstStyle/>
          <a:p>
            <a:pPr algn="l"/>
            <a:r>
              <a:rPr sz="800" b="1" i="0" dirty="0">
                <a:solidFill>
                  <a:srgbClr val="F5A623"/>
                </a:solidFill>
                <a:latin typeface="Calibri"/>
              </a:rPr>
              <a:t>Unlock:</a:t>
            </a:r>
          </a:p>
        </p:txBody>
      </p:sp>
      <p:sp>
        <p:nvSpPr>
          <p:cNvPr id="33" name="TextBox 32"/>
          <p:cNvSpPr txBox="1"/>
          <p:nvPr/>
        </p:nvSpPr>
        <p:spPr>
          <a:xfrm>
            <a:off x="3782000" y="3340000"/>
            <a:ext cx="2000000" cy="380000"/>
          </a:xfrm>
          <a:prstGeom prst="rect">
            <a:avLst/>
          </a:prstGeom>
          <a:noFill/>
        </p:spPr>
        <p:txBody>
          <a:bodyPr wrap="square">
            <a:spAutoFit/>
          </a:bodyPr>
          <a:lstStyle/>
          <a:p>
            <a:pPr algn="l"/>
            <a:r>
              <a:rPr sz="800" b="0" i="0">
                <a:solidFill>
                  <a:srgbClr val="CCE0EC"/>
                </a:solidFill>
                <a:latin typeface="Calibri"/>
              </a:rPr>
              <a:t>MBE + SAM.gov → govt contracts</a:t>
            </a:r>
          </a:p>
        </p:txBody>
      </p:sp>
      <p:sp>
        <p:nvSpPr>
          <p:cNvPr id="34" name="Rectangle 33"/>
          <p:cNvSpPr/>
          <p:nvPr/>
        </p:nvSpPr>
        <p:spPr>
          <a:xfrm>
            <a:off x="6042000" y="1050000"/>
            <a:ext cx="2580000" cy="320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042000" y="1050000"/>
            <a:ext cx="2580000" cy="55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02000" y="1130000"/>
            <a:ext cx="2480000" cy="230000"/>
          </a:xfrm>
          <a:prstGeom prst="rect">
            <a:avLst/>
          </a:prstGeom>
          <a:noFill/>
        </p:spPr>
        <p:txBody>
          <a:bodyPr wrap="square">
            <a:spAutoFit/>
          </a:bodyPr>
          <a:lstStyle/>
          <a:p>
            <a:pPr algn="l"/>
            <a:r>
              <a:rPr sz="1100" b="1" i="0">
                <a:solidFill>
                  <a:srgbClr val="02C39A"/>
                </a:solidFill>
                <a:latin typeface="Calibri"/>
              </a:rPr>
              <a:t>PHASE 3</a:t>
            </a:r>
          </a:p>
        </p:txBody>
      </p:sp>
      <p:sp>
        <p:nvSpPr>
          <p:cNvPr id="37" name="TextBox 36"/>
          <p:cNvSpPr txBox="1"/>
          <p:nvPr/>
        </p:nvSpPr>
        <p:spPr>
          <a:xfrm>
            <a:off x="6102000" y="1350000"/>
            <a:ext cx="2480000" cy="190000"/>
          </a:xfrm>
          <a:prstGeom prst="rect">
            <a:avLst/>
          </a:prstGeom>
          <a:noFill/>
        </p:spPr>
        <p:txBody>
          <a:bodyPr wrap="square">
            <a:spAutoFit/>
          </a:bodyPr>
          <a:lstStyle/>
          <a:p>
            <a:pPr algn="l"/>
            <a:r>
              <a:rPr sz="850" b="0" i="1">
                <a:solidFill>
                  <a:srgbClr val="7AB4C8"/>
                </a:solidFill>
                <a:latin typeface="Calibri"/>
              </a:rPr>
              <a:t>MONTH 9 → YEAR 2</a:t>
            </a:r>
          </a:p>
        </p:txBody>
      </p:sp>
      <p:sp>
        <p:nvSpPr>
          <p:cNvPr id="38" name="Rectangle 37"/>
          <p:cNvSpPr/>
          <p:nvPr/>
        </p:nvSpPr>
        <p:spPr>
          <a:xfrm>
            <a:off x="6102000" y="1550000"/>
            <a:ext cx="2460000" cy="9144"/>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02000" y="1610000"/>
            <a:ext cx="2480000" cy="230000"/>
          </a:xfrm>
          <a:prstGeom prst="rect">
            <a:avLst/>
          </a:prstGeom>
          <a:noFill/>
        </p:spPr>
        <p:txBody>
          <a:bodyPr wrap="square">
            <a:spAutoFit/>
          </a:bodyPr>
          <a:lstStyle/>
          <a:p>
            <a:pPr algn="l"/>
            <a:r>
              <a:rPr sz="1000" b="1" i="0">
                <a:solidFill>
                  <a:srgbClr val="FFFFFF"/>
                </a:solidFill>
                <a:latin typeface="Calibri"/>
              </a:rPr>
              <a:t>"Platform It"</a:t>
            </a:r>
          </a:p>
        </p:txBody>
      </p:sp>
      <p:sp>
        <p:nvSpPr>
          <p:cNvPr id="40" name="TextBox 39"/>
          <p:cNvSpPr txBox="1"/>
          <p:nvPr/>
        </p:nvSpPr>
        <p:spPr>
          <a:xfrm>
            <a:off x="6102000" y="1870000"/>
            <a:ext cx="690096" cy="215444"/>
          </a:xfrm>
          <a:prstGeom prst="rect">
            <a:avLst/>
          </a:prstGeom>
          <a:noFill/>
        </p:spPr>
        <p:txBody>
          <a:bodyPr wrap="square">
            <a:spAutoFit/>
          </a:bodyPr>
          <a:lstStyle/>
          <a:p>
            <a:pPr algn="l"/>
            <a:r>
              <a:rPr sz="800" b="1" i="0" dirty="0">
                <a:solidFill>
                  <a:srgbClr val="02C39A"/>
                </a:solidFill>
                <a:latin typeface="Calibri"/>
              </a:rPr>
              <a:t>Targets:</a:t>
            </a:r>
          </a:p>
        </p:txBody>
      </p:sp>
      <p:sp>
        <p:nvSpPr>
          <p:cNvPr id="41" name="TextBox 40"/>
          <p:cNvSpPr txBox="1"/>
          <p:nvPr/>
        </p:nvSpPr>
        <p:spPr>
          <a:xfrm>
            <a:off x="6542000" y="1870000"/>
            <a:ext cx="2000000" cy="380000"/>
          </a:xfrm>
          <a:prstGeom prst="rect">
            <a:avLst/>
          </a:prstGeom>
          <a:noFill/>
        </p:spPr>
        <p:txBody>
          <a:bodyPr wrap="square">
            <a:spAutoFit/>
          </a:bodyPr>
          <a:lstStyle/>
          <a:p>
            <a:pPr algn="l"/>
            <a:r>
              <a:rPr sz="800" b="0" i="0">
                <a:solidFill>
                  <a:srgbClr val="CCE0EC"/>
                </a:solidFill>
                <a:latin typeface="Calibri"/>
              </a:rPr>
              <a:t>Multi-site health systems
Baltimore City DFR
MDSHA infrastructure</a:t>
            </a:r>
          </a:p>
        </p:txBody>
      </p:sp>
      <p:sp>
        <p:nvSpPr>
          <p:cNvPr id="42" name="TextBox 41"/>
          <p:cNvSpPr txBox="1"/>
          <p:nvPr/>
        </p:nvSpPr>
        <p:spPr>
          <a:xfrm>
            <a:off x="6102000" y="2360000"/>
            <a:ext cx="440000" cy="380000"/>
          </a:xfrm>
          <a:prstGeom prst="rect">
            <a:avLst/>
          </a:prstGeom>
          <a:noFill/>
        </p:spPr>
        <p:txBody>
          <a:bodyPr wrap="square">
            <a:spAutoFit/>
          </a:bodyPr>
          <a:lstStyle/>
          <a:p>
            <a:pPr algn="l"/>
            <a:r>
              <a:rPr sz="800" b="1" i="0">
                <a:solidFill>
                  <a:srgbClr val="02C39A"/>
                </a:solidFill>
                <a:latin typeface="Calibri"/>
              </a:rPr>
              <a:t>Offer:</a:t>
            </a:r>
          </a:p>
        </p:txBody>
      </p:sp>
      <p:sp>
        <p:nvSpPr>
          <p:cNvPr id="43" name="TextBox 42"/>
          <p:cNvSpPr txBox="1"/>
          <p:nvPr/>
        </p:nvSpPr>
        <p:spPr>
          <a:xfrm>
            <a:off x="6542000" y="2360000"/>
            <a:ext cx="2000000" cy="380000"/>
          </a:xfrm>
          <a:prstGeom prst="rect">
            <a:avLst/>
          </a:prstGeom>
          <a:noFill/>
        </p:spPr>
        <p:txBody>
          <a:bodyPr wrap="square">
            <a:spAutoFit/>
          </a:bodyPr>
          <a:lstStyle/>
          <a:p>
            <a:pPr algn="l"/>
            <a:r>
              <a:rPr sz="800" b="0" i="0">
                <a:solidFill>
                  <a:srgbClr val="CCE0EC"/>
                </a:solidFill>
                <a:latin typeface="Calibri"/>
              </a:rPr>
              <a:t>DaI platform + MONK licensing
CAKO workforce moat</a:t>
            </a:r>
          </a:p>
        </p:txBody>
      </p:sp>
      <p:sp>
        <p:nvSpPr>
          <p:cNvPr id="44" name="TextBox 43"/>
          <p:cNvSpPr txBox="1"/>
          <p:nvPr/>
        </p:nvSpPr>
        <p:spPr>
          <a:xfrm>
            <a:off x="6102000" y="2850000"/>
            <a:ext cx="718930" cy="215444"/>
          </a:xfrm>
          <a:prstGeom prst="rect">
            <a:avLst/>
          </a:prstGeom>
          <a:noFill/>
        </p:spPr>
        <p:txBody>
          <a:bodyPr wrap="square">
            <a:spAutoFit/>
          </a:bodyPr>
          <a:lstStyle/>
          <a:p>
            <a:pPr algn="l"/>
            <a:r>
              <a:rPr sz="800" b="1" i="0" dirty="0">
                <a:solidFill>
                  <a:srgbClr val="02C39A"/>
                </a:solidFill>
                <a:latin typeface="Calibri"/>
              </a:rPr>
              <a:t>Revenue:</a:t>
            </a:r>
          </a:p>
        </p:txBody>
      </p:sp>
      <p:sp>
        <p:nvSpPr>
          <p:cNvPr id="45" name="TextBox 44"/>
          <p:cNvSpPr txBox="1"/>
          <p:nvPr/>
        </p:nvSpPr>
        <p:spPr>
          <a:xfrm>
            <a:off x="6542000" y="2850000"/>
            <a:ext cx="2000000" cy="380000"/>
          </a:xfrm>
          <a:prstGeom prst="rect">
            <a:avLst/>
          </a:prstGeom>
          <a:noFill/>
        </p:spPr>
        <p:txBody>
          <a:bodyPr wrap="square">
            <a:spAutoFit/>
          </a:bodyPr>
          <a:lstStyle/>
          <a:p>
            <a:pPr algn="l"/>
            <a:r>
              <a:rPr sz="800" b="0" i="0">
                <a:solidFill>
                  <a:srgbClr val="CCE0EC"/>
                </a:solidFill>
                <a:latin typeface="Calibri"/>
              </a:rPr>
              <a:t>$248K Y1 → SBIR Phase I</a:t>
            </a:r>
          </a:p>
        </p:txBody>
      </p:sp>
      <p:sp>
        <p:nvSpPr>
          <p:cNvPr id="46" name="TextBox 45"/>
          <p:cNvSpPr txBox="1"/>
          <p:nvPr/>
        </p:nvSpPr>
        <p:spPr>
          <a:xfrm>
            <a:off x="6101999" y="3340000"/>
            <a:ext cx="690097" cy="215444"/>
          </a:xfrm>
          <a:prstGeom prst="rect">
            <a:avLst/>
          </a:prstGeom>
          <a:noFill/>
        </p:spPr>
        <p:txBody>
          <a:bodyPr wrap="square">
            <a:spAutoFit/>
          </a:bodyPr>
          <a:lstStyle/>
          <a:p>
            <a:pPr algn="l"/>
            <a:r>
              <a:rPr sz="800" b="1" i="0" dirty="0">
                <a:solidFill>
                  <a:srgbClr val="02C39A"/>
                </a:solidFill>
                <a:latin typeface="Calibri"/>
              </a:rPr>
              <a:t>Unlock:</a:t>
            </a:r>
          </a:p>
        </p:txBody>
      </p:sp>
      <p:sp>
        <p:nvSpPr>
          <p:cNvPr id="47" name="TextBox 46"/>
          <p:cNvSpPr txBox="1"/>
          <p:nvPr/>
        </p:nvSpPr>
        <p:spPr>
          <a:xfrm>
            <a:off x="6542000" y="3340000"/>
            <a:ext cx="2000000" cy="380000"/>
          </a:xfrm>
          <a:prstGeom prst="rect">
            <a:avLst/>
          </a:prstGeom>
          <a:noFill/>
        </p:spPr>
        <p:txBody>
          <a:bodyPr wrap="square">
            <a:spAutoFit/>
          </a:bodyPr>
          <a:lstStyle/>
          <a:p>
            <a:pPr algn="l"/>
            <a:r>
              <a:rPr sz="800" b="0" i="0">
                <a:solidFill>
                  <a:srgbClr val="CCE0EC"/>
                </a:solidFill>
                <a:latin typeface="Calibri"/>
              </a:rPr>
              <a:t>MONK IP + CAKO = compounding moat</a:t>
            </a:r>
          </a:p>
        </p:txBody>
      </p:sp>
      <p:sp>
        <p:nvSpPr>
          <p:cNvPr id="48" name="TextBox 47"/>
          <p:cNvSpPr txBox="1"/>
          <p:nvPr/>
        </p:nvSpPr>
        <p:spPr>
          <a:xfrm>
            <a:off x="3142000" y="2550000"/>
            <a:ext cx="180000" cy="200000"/>
          </a:xfrm>
          <a:prstGeom prst="rect">
            <a:avLst/>
          </a:prstGeom>
          <a:noFill/>
        </p:spPr>
        <p:txBody>
          <a:bodyPr wrap="square">
            <a:spAutoFit/>
          </a:bodyPr>
          <a:lstStyle/>
          <a:p>
            <a:pPr algn="ctr"/>
            <a:r>
              <a:rPr sz="1400" b="1" i="0">
                <a:solidFill>
                  <a:srgbClr val="028090"/>
                </a:solidFill>
                <a:latin typeface="Calibri"/>
              </a:rPr>
              <a:t>▶</a:t>
            </a:r>
          </a:p>
        </p:txBody>
      </p:sp>
      <p:sp>
        <p:nvSpPr>
          <p:cNvPr id="49" name="TextBox 48"/>
          <p:cNvSpPr txBox="1"/>
          <p:nvPr/>
        </p:nvSpPr>
        <p:spPr>
          <a:xfrm>
            <a:off x="5902000" y="2550000"/>
            <a:ext cx="180000" cy="200000"/>
          </a:xfrm>
          <a:prstGeom prst="rect">
            <a:avLst/>
          </a:prstGeom>
          <a:noFill/>
        </p:spPr>
        <p:txBody>
          <a:bodyPr wrap="square">
            <a:spAutoFit/>
          </a:bodyPr>
          <a:lstStyle/>
          <a:p>
            <a:pPr algn="ctr"/>
            <a:r>
              <a:rPr sz="1400" b="1" i="0">
                <a:solidFill>
                  <a:srgbClr val="028090"/>
                </a:solidFill>
                <a:latin typeface="Calibri"/>
              </a:rPr>
              <a:t>▶</a:t>
            </a:r>
          </a:p>
        </p:txBody>
      </p:sp>
      <p:sp>
        <p:nvSpPr>
          <p:cNvPr id="50" name="TextBox 49"/>
          <p:cNvSpPr txBox="1"/>
          <p:nvPr/>
        </p:nvSpPr>
        <p:spPr>
          <a:xfrm>
            <a:off x="522000" y="4863500"/>
            <a:ext cx="8100000" cy="220000"/>
          </a:xfrm>
          <a:prstGeom prst="rect">
            <a:avLst/>
          </a:prstGeom>
          <a:noFill/>
        </p:spPr>
        <p:txBody>
          <a:bodyPr wrap="square">
            <a:spAutoFit/>
          </a:bodyPr>
          <a:lstStyle/>
          <a:p>
            <a:pPr algn="ctr"/>
            <a:r>
              <a:rPr sz="800" b="0" i="1">
                <a:solidFill>
                  <a:srgbClr val="7AB4C8"/>
                </a:solidFill>
                <a:latin typeface="Calibri"/>
              </a:rPr>
              <a:t>EAF grants fund CAKO → CAKO graduates scale FP → FP revenue funds MONK → MONK IP drives SBIR + licensing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8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0000" y="60000"/>
            <a:ext cx="8744000" cy="700000"/>
          </a:xfrm>
          <a:prstGeom prst="rect">
            <a:avLst/>
          </a:prstGeom>
          <a:noFill/>
        </p:spPr>
        <p:txBody>
          <a:bodyPr wrap="square">
            <a:spAutoFit/>
          </a:bodyPr>
          <a:lstStyle/>
          <a:p>
            <a:pPr algn="l"/>
            <a:r>
              <a:rPr sz="2400" b="1" i="0">
                <a:solidFill>
                  <a:srgbClr val="FFFFFF"/>
                </a:solidFill>
                <a:latin typeface="Calibri"/>
              </a:rPr>
              <a:t>KAI-Netics Leadership &amp; Advisory Team</a:t>
            </a:r>
          </a:p>
        </p:txBody>
      </p:sp>
      <p:sp>
        <p:nvSpPr>
          <p:cNvPr id="5" name="Rectangle 4"/>
          <p:cNvSpPr/>
          <p:nvPr/>
        </p:nvSpPr>
        <p:spPr>
          <a:xfrm>
            <a:off x="200000" y="1000000"/>
            <a:ext cx="4172000" cy="138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00000" y="1000000"/>
            <a:ext cx="18000" cy="138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0000" y="1070000"/>
            <a:ext cx="4072000" cy="260000"/>
          </a:xfrm>
          <a:prstGeom prst="rect">
            <a:avLst/>
          </a:prstGeom>
          <a:noFill/>
        </p:spPr>
        <p:txBody>
          <a:bodyPr wrap="square">
            <a:spAutoFit/>
          </a:bodyPr>
          <a:lstStyle/>
          <a:p>
            <a:pPr algn="l"/>
            <a:r>
              <a:rPr sz="1200" b="1" i="0">
                <a:solidFill>
                  <a:srgbClr val="FFFFFF"/>
                </a:solidFill>
                <a:latin typeface="Calibri"/>
              </a:rPr>
              <a:t>Kevin Alexander Smith</a:t>
            </a:r>
          </a:p>
        </p:txBody>
      </p:sp>
      <p:sp>
        <p:nvSpPr>
          <p:cNvPr id="8" name="TextBox 7"/>
          <p:cNvSpPr txBox="1"/>
          <p:nvPr/>
        </p:nvSpPr>
        <p:spPr>
          <a:xfrm>
            <a:off x="250000" y="1330000"/>
            <a:ext cx="4072000" cy="200000"/>
          </a:xfrm>
          <a:prstGeom prst="rect">
            <a:avLst/>
          </a:prstGeom>
          <a:noFill/>
        </p:spPr>
        <p:txBody>
          <a:bodyPr wrap="square">
            <a:spAutoFit/>
          </a:bodyPr>
          <a:lstStyle/>
          <a:p>
            <a:pPr algn="l"/>
            <a:r>
              <a:rPr sz="900" b="0" i="1">
                <a:solidFill>
                  <a:srgbClr val="028090"/>
                </a:solidFill>
                <a:latin typeface="Calibri"/>
              </a:rPr>
              <a:t>CEO &amp; Founder | Kevin Alexander International LLC dba KAI-Netics</a:t>
            </a:r>
          </a:p>
        </p:txBody>
      </p:sp>
      <p:sp>
        <p:nvSpPr>
          <p:cNvPr id="9" name="TextBox 8"/>
          <p:cNvSpPr txBox="1"/>
          <p:nvPr/>
        </p:nvSpPr>
        <p:spPr>
          <a:xfrm>
            <a:off x="250000" y="1510000"/>
            <a:ext cx="4072000" cy="180000"/>
          </a:xfrm>
          <a:prstGeom prst="rect">
            <a:avLst/>
          </a:prstGeom>
          <a:noFill/>
        </p:spPr>
        <p:txBody>
          <a:bodyPr wrap="square">
            <a:spAutoFit/>
          </a:bodyPr>
          <a:lstStyle/>
          <a:p>
            <a:pPr algn="l"/>
            <a:r>
              <a:rPr sz="850" b="0" i="0">
                <a:solidFill>
                  <a:srgbClr val="B0C8D8"/>
                </a:solidFill>
                <a:latin typeface="Calibri"/>
              </a:rPr>
              <a:t>Baltimore, MD</a:t>
            </a:r>
          </a:p>
        </p:txBody>
      </p:sp>
      <p:sp>
        <p:nvSpPr>
          <p:cNvPr id="10" name="TextBox 9"/>
          <p:cNvSpPr txBox="1"/>
          <p:nvPr/>
        </p:nvSpPr>
        <p:spPr>
          <a:xfrm>
            <a:off x="250000" y="1660000"/>
            <a:ext cx="4072000" cy="180000"/>
          </a:xfrm>
          <a:prstGeom prst="rect">
            <a:avLst/>
          </a:prstGeom>
          <a:noFill/>
        </p:spPr>
        <p:txBody>
          <a:bodyPr wrap="square">
            <a:spAutoFit/>
          </a:bodyPr>
          <a:lstStyle/>
          <a:p>
            <a:pPr algn="l"/>
            <a:r>
              <a:rPr sz="800" b="0" i="0">
                <a:solidFill>
                  <a:srgbClr val="CCE0EC"/>
                </a:solidFill>
                <a:latin typeface="Calibri"/>
              </a:rPr>
              <a:t>• CISSP · PMP · CCNA · Security+ · MCSE · FAA Part 107 #5250157</a:t>
            </a:r>
          </a:p>
        </p:txBody>
      </p:sp>
      <p:sp>
        <p:nvSpPr>
          <p:cNvPr id="11" name="TextBox 10"/>
          <p:cNvSpPr txBox="1"/>
          <p:nvPr/>
        </p:nvSpPr>
        <p:spPr>
          <a:xfrm>
            <a:off x="250000" y="1850000"/>
            <a:ext cx="4072000" cy="180000"/>
          </a:xfrm>
          <a:prstGeom prst="rect">
            <a:avLst/>
          </a:prstGeom>
          <a:noFill/>
        </p:spPr>
        <p:txBody>
          <a:bodyPr wrap="square">
            <a:spAutoFit/>
          </a:bodyPr>
          <a:lstStyle/>
          <a:p>
            <a:pPr algn="l"/>
            <a:r>
              <a:rPr sz="800" b="0" i="0">
                <a:solidFill>
                  <a:srgbClr val="CCE0EC"/>
                </a:solidFill>
                <a:latin typeface="Calibri"/>
              </a:rPr>
              <a:t>• 33-year IT/cybersecurity career | TSA, CMS, Medline</a:t>
            </a:r>
          </a:p>
        </p:txBody>
      </p:sp>
      <p:sp>
        <p:nvSpPr>
          <p:cNvPr id="12" name="TextBox 11"/>
          <p:cNvSpPr txBox="1"/>
          <p:nvPr/>
        </p:nvSpPr>
        <p:spPr>
          <a:xfrm>
            <a:off x="250000" y="2040000"/>
            <a:ext cx="4072000" cy="180000"/>
          </a:xfrm>
          <a:prstGeom prst="rect">
            <a:avLst/>
          </a:prstGeom>
          <a:noFill/>
        </p:spPr>
        <p:txBody>
          <a:bodyPr wrap="square">
            <a:spAutoFit/>
          </a:bodyPr>
          <a:lstStyle/>
          <a:p>
            <a:pPr algn="l"/>
            <a:r>
              <a:rPr sz="800" b="0" i="0">
                <a:solidFill>
                  <a:srgbClr val="CCE0EC"/>
                </a:solidFill>
                <a:latin typeface="Calibri"/>
              </a:rPr>
              <a:t>• UMGC current student | MONK architect &amp; chief BD officer</a:t>
            </a:r>
          </a:p>
        </p:txBody>
      </p:sp>
      <p:sp>
        <p:nvSpPr>
          <p:cNvPr id="13" name="Rectangle 12"/>
          <p:cNvSpPr/>
          <p:nvPr/>
        </p:nvSpPr>
        <p:spPr>
          <a:xfrm>
            <a:off x="4572000" y="1000000"/>
            <a:ext cx="4172000" cy="138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0" y="1000000"/>
            <a:ext cx="18000" cy="138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22000" y="1070000"/>
            <a:ext cx="4072000" cy="260000"/>
          </a:xfrm>
          <a:prstGeom prst="rect">
            <a:avLst/>
          </a:prstGeom>
          <a:noFill/>
        </p:spPr>
        <p:txBody>
          <a:bodyPr wrap="square">
            <a:spAutoFit/>
          </a:bodyPr>
          <a:lstStyle/>
          <a:p>
            <a:pPr algn="l"/>
            <a:r>
              <a:rPr sz="1200" b="1" i="0">
                <a:solidFill>
                  <a:srgbClr val="FFFFFF"/>
                </a:solidFill>
                <a:latin typeface="Calibri"/>
              </a:rPr>
              <a:t>Dr. Alexander Kott, PhD</a:t>
            </a:r>
          </a:p>
        </p:txBody>
      </p:sp>
      <p:sp>
        <p:nvSpPr>
          <p:cNvPr id="16" name="TextBox 15"/>
          <p:cNvSpPr txBox="1"/>
          <p:nvPr/>
        </p:nvSpPr>
        <p:spPr>
          <a:xfrm>
            <a:off x="4622000" y="1330000"/>
            <a:ext cx="4072000" cy="200000"/>
          </a:xfrm>
          <a:prstGeom prst="rect">
            <a:avLst/>
          </a:prstGeom>
          <a:noFill/>
        </p:spPr>
        <p:txBody>
          <a:bodyPr wrap="square">
            <a:spAutoFit/>
          </a:bodyPr>
          <a:lstStyle/>
          <a:p>
            <a:pPr algn="l"/>
            <a:r>
              <a:rPr sz="900" b="0" i="1">
                <a:solidFill>
                  <a:srgbClr val="F5A623"/>
                </a:solidFill>
                <a:latin typeface="Calibri"/>
              </a:rPr>
              <a:t>Technical Advisor &amp; SCORE Mentor</a:t>
            </a:r>
          </a:p>
        </p:txBody>
      </p:sp>
      <p:sp>
        <p:nvSpPr>
          <p:cNvPr id="17" name="TextBox 16"/>
          <p:cNvSpPr txBox="1"/>
          <p:nvPr/>
        </p:nvSpPr>
        <p:spPr>
          <a:xfrm>
            <a:off x="4622000" y="1510000"/>
            <a:ext cx="4072000" cy="180000"/>
          </a:xfrm>
          <a:prstGeom prst="rect">
            <a:avLst/>
          </a:prstGeom>
          <a:noFill/>
        </p:spPr>
        <p:txBody>
          <a:bodyPr wrap="square">
            <a:spAutoFit/>
          </a:bodyPr>
          <a:lstStyle/>
          <a:p>
            <a:pPr algn="l"/>
            <a:r>
              <a:rPr sz="850" b="0" i="0">
                <a:solidFill>
                  <a:srgbClr val="B0C8D8"/>
                </a:solidFill>
                <a:latin typeface="Calibri"/>
              </a:rPr>
              <a:t>Former Chief Scientist, U.S. Army Research Laboratory</a:t>
            </a:r>
          </a:p>
        </p:txBody>
      </p:sp>
      <p:sp>
        <p:nvSpPr>
          <p:cNvPr id="18" name="TextBox 17"/>
          <p:cNvSpPr txBox="1"/>
          <p:nvPr/>
        </p:nvSpPr>
        <p:spPr>
          <a:xfrm>
            <a:off x="4622000" y="1660000"/>
            <a:ext cx="4072000" cy="180000"/>
          </a:xfrm>
          <a:prstGeom prst="rect">
            <a:avLst/>
          </a:prstGeom>
          <a:noFill/>
        </p:spPr>
        <p:txBody>
          <a:bodyPr wrap="square">
            <a:spAutoFit/>
          </a:bodyPr>
          <a:lstStyle/>
          <a:p>
            <a:pPr algn="l"/>
            <a:r>
              <a:rPr sz="800" b="0" i="0">
                <a:solidFill>
                  <a:srgbClr val="CCE0EC"/>
                </a:solidFill>
                <a:latin typeface="Calibri"/>
              </a:rPr>
              <a:t>• Expert in autonomous systems governance &amp; AI</a:t>
            </a:r>
          </a:p>
        </p:txBody>
      </p:sp>
      <p:sp>
        <p:nvSpPr>
          <p:cNvPr id="19" name="TextBox 18"/>
          <p:cNvSpPr txBox="1"/>
          <p:nvPr/>
        </p:nvSpPr>
        <p:spPr>
          <a:xfrm>
            <a:off x="4622000" y="1850000"/>
            <a:ext cx="4072000" cy="180000"/>
          </a:xfrm>
          <a:prstGeom prst="rect">
            <a:avLst/>
          </a:prstGeom>
          <a:noFill/>
        </p:spPr>
        <p:txBody>
          <a:bodyPr wrap="square">
            <a:spAutoFit/>
          </a:bodyPr>
          <a:lstStyle/>
          <a:p>
            <a:pPr algn="l"/>
            <a:r>
              <a:rPr sz="800" b="0" i="0">
                <a:solidFill>
                  <a:srgbClr val="CCE0EC"/>
                </a:solidFill>
                <a:latin typeface="Calibri"/>
              </a:rPr>
              <a:t>• Advisor to Heven Drones | ARL-connected advisory</a:t>
            </a:r>
          </a:p>
        </p:txBody>
      </p:sp>
      <p:sp>
        <p:nvSpPr>
          <p:cNvPr id="20" name="TextBox 19"/>
          <p:cNvSpPr txBox="1"/>
          <p:nvPr/>
        </p:nvSpPr>
        <p:spPr>
          <a:xfrm>
            <a:off x="4622000" y="2040000"/>
            <a:ext cx="4072000" cy="180000"/>
          </a:xfrm>
          <a:prstGeom prst="rect">
            <a:avLst/>
          </a:prstGeom>
          <a:noFill/>
        </p:spPr>
        <p:txBody>
          <a:bodyPr wrap="square">
            <a:spAutoFit/>
          </a:bodyPr>
          <a:lstStyle/>
          <a:p>
            <a:pPr algn="l"/>
            <a:r>
              <a:rPr sz="800" b="0" i="0">
                <a:solidFill>
                  <a:srgbClr val="CCE0EC"/>
                </a:solidFill>
                <a:latin typeface="Calibri"/>
              </a:rPr>
              <a:t>• Validates MONK architecture for DoD/DHS conversations</a:t>
            </a:r>
          </a:p>
        </p:txBody>
      </p:sp>
      <p:sp>
        <p:nvSpPr>
          <p:cNvPr id="21" name="TextBox 20"/>
          <p:cNvSpPr txBox="1"/>
          <p:nvPr/>
        </p:nvSpPr>
        <p:spPr>
          <a:xfrm>
            <a:off x="200000" y="2500000"/>
            <a:ext cx="8744000" cy="220000"/>
          </a:xfrm>
          <a:prstGeom prst="rect">
            <a:avLst/>
          </a:prstGeom>
          <a:noFill/>
        </p:spPr>
        <p:txBody>
          <a:bodyPr wrap="square">
            <a:spAutoFit/>
          </a:bodyPr>
          <a:lstStyle/>
          <a:p>
            <a:pPr algn="l"/>
            <a:r>
              <a:rPr sz="950" b="1" i="0">
                <a:solidFill>
                  <a:srgbClr val="7AB4C8"/>
                </a:solidFill>
                <a:latin typeface="Calibri"/>
              </a:rPr>
              <a:t>EAF Board of Directors &amp; Academic Advisory</a:t>
            </a:r>
          </a:p>
        </p:txBody>
      </p:sp>
      <p:sp>
        <p:nvSpPr>
          <p:cNvPr id="22" name="Rectangle 21"/>
          <p:cNvSpPr/>
          <p:nvPr/>
        </p:nvSpPr>
        <p:spPr>
          <a:xfrm>
            <a:off x="200000" y="2690000"/>
            <a:ext cx="8744000" cy="9144"/>
          </a:xfrm>
          <a:prstGeom prst="rect">
            <a:avLst/>
          </a:prstGeom>
          <a:solidFill>
            <a:srgbClr val="2A5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00000" y="2760000"/>
            <a:ext cx="2768000" cy="105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0000" y="2760000"/>
            <a:ext cx="18000" cy="105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0000" y="2830000"/>
            <a:ext cx="2668000" cy="260000"/>
          </a:xfrm>
          <a:prstGeom prst="rect">
            <a:avLst/>
          </a:prstGeom>
          <a:noFill/>
        </p:spPr>
        <p:txBody>
          <a:bodyPr wrap="square">
            <a:spAutoFit/>
          </a:bodyPr>
          <a:lstStyle/>
          <a:p>
            <a:pPr algn="l"/>
            <a:r>
              <a:rPr sz="1100" b="1" i="0">
                <a:solidFill>
                  <a:srgbClr val="FFFFFF"/>
                </a:solidFill>
                <a:latin typeface="Calibri"/>
              </a:rPr>
              <a:t>Maurice Ellis</a:t>
            </a:r>
          </a:p>
        </p:txBody>
      </p:sp>
      <p:sp>
        <p:nvSpPr>
          <p:cNvPr id="26" name="TextBox 25"/>
          <p:cNvSpPr txBox="1"/>
          <p:nvPr/>
        </p:nvSpPr>
        <p:spPr>
          <a:xfrm>
            <a:off x="250000" y="3090000"/>
            <a:ext cx="2668000" cy="200000"/>
          </a:xfrm>
          <a:prstGeom prst="rect">
            <a:avLst/>
          </a:prstGeom>
          <a:noFill/>
        </p:spPr>
        <p:txBody>
          <a:bodyPr wrap="square">
            <a:spAutoFit/>
          </a:bodyPr>
          <a:lstStyle/>
          <a:p>
            <a:pPr algn="l"/>
            <a:r>
              <a:rPr sz="900" b="0" i="1">
                <a:solidFill>
                  <a:srgbClr val="02C39A"/>
                </a:solidFill>
                <a:latin typeface="Calibri"/>
              </a:rPr>
              <a:t>EAF Board Member | Professional Pilot</a:t>
            </a:r>
          </a:p>
        </p:txBody>
      </p:sp>
      <p:sp>
        <p:nvSpPr>
          <p:cNvPr id="27" name="TextBox 26"/>
          <p:cNvSpPr txBox="1"/>
          <p:nvPr/>
        </p:nvSpPr>
        <p:spPr>
          <a:xfrm>
            <a:off x="250000" y="3420000"/>
            <a:ext cx="2668000" cy="180000"/>
          </a:xfrm>
          <a:prstGeom prst="rect">
            <a:avLst/>
          </a:prstGeom>
          <a:noFill/>
        </p:spPr>
        <p:txBody>
          <a:bodyPr wrap="square">
            <a:spAutoFit/>
          </a:bodyPr>
          <a:lstStyle/>
          <a:p>
            <a:pPr algn="l"/>
            <a:r>
              <a:rPr sz="800" b="0" i="0">
                <a:solidFill>
                  <a:srgbClr val="CCE0EC"/>
                </a:solidFill>
                <a:latin typeface="Calibri"/>
              </a:rPr>
              <a:t>• Licensed commercial pilot — operational credibility</a:t>
            </a:r>
          </a:p>
        </p:txBody>
      </p:sp>
      <p:sp>
        <p:nvSpPr>
          <p:cNvPr id="28" name="TextBox 27"/>
          <p:cNvSpPr txBox="1"/>
          <p:nvPr/>
        </p:nvSpPr>
        <p:spPr>
          <a:xfrm>
            <a:off x="250000" y="3610000"/>
            <a:ext cx="2668000" cy="180000"/>
          </a:xfrm>
          <a:prstGeom prst="rect">
            <a:avLst/>
          </a:prstGeom>
          <a:noFill/>
        </p:spPr>
        <p:txBody>
          <a:bodyPr wrap="square">
            <a:spAutoFit/>
          </a:bodyPr>
          <a:lstStyle/>
          <a:p>
            <a:pPr algn="l"/>
            <a:r>
              <a:rPr sz="800" b="0" i="0">
                <a:solidFill>
                  <a:srgbClr val="CCE0EC"/>
                </a:solidFill>
                <a:latin typeface="Calibri"/>
              </a:rPr>
              <a:t>• Supports CAKO curriculum and flight standards</a:t>
            </a:r>
          </a:p>
        </p:txBody>
      </p:sp>
      <p:sp>
        <p:nvSpPr>
          <p:cNvPr id="29" name="Rectangle 28"/>
          <p:cNvSpPr/>
          <p:nvPr/>
        </p:nvSpPr>
        <p:spPr>
          <a:xfrm>
            <a:off x="3088000" y="2760000"/>
            <a:ext cx="2768000" cy="105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088000" y="2760000"/>
            <a:ext cx="18000" cy="105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138000" y="2830000"/>
            <a:ext cx="2668000" cy="260000"/>
          </a:xfrm>
          <a:prstGeom prst="rect">
            <a:avLst/>
          </a:prstGeom>
          <a:noFill/>
        </p:spPr>
        <p:txBody>
          <a:bodyPr wrap="square">
            <a:spAutoFit/>
          </a:bodyPr>
          <a:lstStyle/>
          <a:p>
            <a:pPr algn="l"/>
            <a:r>
              <a:rPr sz="1100" b="1" i="0">
                <a:solidFill>
                  <a:srgbClr val="FFFFFF"/>
                </a:solidFill>
                <a:latin typeface="Calibri"/>
              </a:rPr>
              <a:t>James L. Scott, Esq.</a:t>
            </a:r>
          </a:p>
        </p:txBody>
      </p:sp>
      <p:sp>
        <p:nvSpPr>
          <p:cNvPr id="32" name="TextBox 31"/>
          <p:cNvSpPr txBox="1"/>
          <p:nvPr/>
        </p:nvSpPr>
        <p:spPr>
          <a:xfrm>
            <a:off x="3138000" y="3090000"/>
            <a:ext cx="2668000" cy="200000"/>
          </a:xfrm>
          <a:prstGeom prst="rect">
            <a:avLst/>
          </a:prstGeom>
          <a:noFill/>
        </p:spPr>
        <p:txBody>
          <a:bodyPr wrap="square">
            <a:spAutoFit/>
          </a:bodyPr>
          <a:lstStyle/>
          <a:p>
            <a:pPr algn="l"/>
            <a:r>
              <a:rPr sz="900" b="0" i="1">
                <a:solidFill>
                  <a:srgbClr val="02C39A"/>
                </a:solidFill>
                <a:latin typeface="Calibri"/>
              </a:rPr>
              <a:t>EAF Board Member | Attorney</a:t>
            </a:r>
          </a:p>
        </p:txBody>
      </p:sp>
      <p:sp>
        <p:nvSpPr>
          <p:cNvPr id="33" name="TextBox 32"/>
          <p:cNvSpPr txBox="1"/>
          <p:nvPr/>
        </p:nvSpPr>
        <p:spPr>
          <a:xfrm>
            <a:off x="3138000" y="3270000"/>
            <a:ext cx="2668000" cy="180000"/>
          </a:xfrm>
          <a:prstGeom prst="rect">
            <a:avLst/>
          </a:prstGeom>
          <a:noFill/>
        </p:spPr>
        <p:txBody>
          <a:bodyPr wrap="square">
            <a:spAutoFit/>
          </a:bodyPr>
          <a:lstStyle/>
          <a:p>
            <a:pPr algn="l"/>
            <a:r>
              <a:rPr sz="850" b="0" i="0">
                <a:solidFill>
                  <a:srgbClr val="B0C8D8"/>
                </a:solidFill>
                <a:latin typeface="Calibri"/>
              </a:rPr>
              <a:t>Mobley &amp; Brown, LLP — Baltimore</a:t>
            </a:r>
          </a:p>
        </p:txBody>
      </p:sp>
      <p:sp>
        <p:nvSpPr>
          <p:cNvPr id="34" name="TextBox 33"/>
          <p:cNvSpPr txBox="1"/>
          <p:nvPr/>
        </p:nvSpPr>
        <p:spPr>
          <a:xfrm>
            <a:off x="3138000" y="3420000"/>
            <a:ext cx="2668000" cy="180000"/>
          </a:xfrm>
          <a:prstGeom prst="rect">
            <a:avLst/>
          </a:prstGeom>
          <a:noFill/>
        </p:spPr>
        <p:txBody>
          <a:bodyPr wrap="square">
            <a:spAutoFit/>
          </a:bodyPr>
          <a:lstStyle/>
          <a:p>
            <a:pPr algn="l"/>
            <a:r>
              <a:rPr sz="800" b="0" i="0">
                <a:solidFill>
                  <a:srgbClr val="CCE0EC"/>
                </a:solidFill>
                <a:latin typeface="Calibri"/>
              </a:rPr>
              <a:t>• Reviews all red team and government contracts</a:t>
            </a:r>
          </a:p>
        </p:txBody>
      </p:sp>
      <p:sp>
        <p:nvSpPr>
          <p:cNvPr id="35" name="TextBox 34"/>
          <p:cNvSpPr txBox="1"/>
          <p:nvPr/>
        </p:nvSpPr>
        <p:spPr>
          <a:xfrm>
            <a:off x="3138000" y="3610000"/>
            <a:ext cx="2668000" cy="180000"/>
          </a:xfrm>
          <a:prstGeom prst="rect">
            <a:avLst/>
          </a:prstGeom>
          <a:noFill/>
        </p:spPr>
        <p:txBody>
          <a:bodyPr wrap="square">
            <a:spAutoFit/>
          </a:bodyPr>
          <a:lstStyle/>
          <a:p>
            <a:pPr algn="l"/>
            <a:r>
              <a:rPr sz="800" b="0" i="0">
                <a:solidFill>
                  <a:srgbClr val="CCE0EC"/>
                </a:solidFill>
                <a:latin typeface="Calibri"/>
              </a:rPr>
              <a:t>• Legal oversight for EAF nonprofit compliance</a:t>
            </a:r>
          </a:p>
        </p:txBody>
      </p:sp>
      <p:sp>
        <p:nvSpPr>
          <p:cNvPr id="36" name="Rectangle 35"/>
          <p:cNvSpPr/>
          <p:nvPr/>
        </p:nvSpPr>
        <p:spPr>
          <a:xfrm>
            <a:off x="5976000" y="2760000"/>
            <a:ext cx="2768000" cy="105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76000" y="2760000"/>
            <a:ext cx="18000" cy="1050000"/>
          </a:xfrm>
          <a:prstGeom prst="rect">
            <a:avLst/>
          </a:prstGeom>
          <a:solidFill>
            <a:srgbClr val="7B6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26000" y="2830000"/>
            <a:ext cx="2668000" cy="260000"/>
          </a:xfrm>
          <a:prstGeom prst="rect">
            <a:avLst/>
          </a:prstGeom>
          <a:noFill/>
        </p:spPr>
        <p:txBody>
          <a:bodyPr wrap="square">
            <a:spAutoFit/>
          </a:bodyPr>
          <a:lstStyle/>
          <a:p>
            <a:pPr algn="l"/>
            <a:r>
              <a:rPr sz="1100" b="1" i="0">
                <a:solidFill>
                  <a:srgbClr val="FFFFFF"/>
                </a:solidFill>
                <a:latin typeface="Calibri"/>
              </a:rPr>
              <a:t>Dr. Lauren Segura, PhD</a:t>
            </a:r>
          </a:p>
        </p:txBody>
      </p:sp>
      <p:sp>
        <p:nvSpPr>
          <p:cNvPr id="39" name="TextBox 38"/>
          <p:cNvSpPr txBox="1"/>
          <p:nvPr/>
        </p:nvSpPr>
        <p:spPr>
          <a:xfrm>
            <a:off x="6026000" y="3011739"/>
            <a:ext cx="2668000" cy="200000"/>
          </a:xfrm>
          <a:prstGeom prst="rect">
            <a:avLst/>
          </a:prstGeom>
          <a:noFill/>
        </p:spPr>
        <p:txBody>
          <a:bodyPr wrap="square">
            <a:spAutoFit/>
          </a:bodyPr>
          <a:lstStyle/>
          <a:p>
            <a:pPr algn="l"/>
            <a:r>
              <a:rPr sz="900" b="0" i="1" dirty="0">
                <a:solidFill>
                  <a:srgbClr val="7B68EE"/>
                </a:solidFill>
                <a:latin typeface="Calibri"/>
              </a:rPr>
              <a:t>Academic Advisor | UMGC Dean</a:t>
            </a:r>
          </a:p>
        </p:txBody>
      </p:sp>
      <p:sp>
        <p:nvSpPr>
          <p:cNvPr id="40" name="TextBox 39"/>
          <p:cNvSpPr txBox="1"/>
          <p:nvPr/>
        </p:nvSpPr>
        <p:spPr>
          <a:xfrm>
            <a:off x="6026000" y="3220572"/>
            <a:ext cx="2668000" cy="180000"/>
          </a:xfrm>
          <a:prstGeom prst="rect">
            <a:avLst/>
          </a:prstGeom>
          <a:noFill/>
        </p:spPr>
        <p:txBody>
          <a:bodyPr wrap="square">
            <a:spAutoFit/>
          </a:bodyPr>
          <a:lstStyle/>
          <a:p>
            <a:pPr algn="l"/>
            <a:r>
              <a:rPr sz="850" b="0" i="0" dirty="0">
                <a:solidFill>
                  <a:srgbClr val="B0C8D8"/>
                </a:solidFill>
                <a:latin typeface="Calibri"/>
              </a:rPr>
              <a:t>School of Integrative &amp; Professional Studies</a:t>
            </a:r>
          </a:p>
        </p:txBody>
      </p:sp>
      <p:sp>
        <p:nvSpPr>
          <p:cNvPr id="41" name="TextBox 40"/>
          <p:cNvSpPr txBox="1"/>
          <p:nvPr/>
        </p:nvSpPr>
        <p:spPr>
          <a:xfrm>
            <a:off x="6026000" y="3358215"/>
            <a:ext cx="2668000" cy="180000"/>
          </a:xfrm>
          <a:prstGeom prst="rect">
            <a:avLst/>
          </a:prstGeom>
          <a:noFill/>
        </p:spPr>
        <p:txBody>
          <a:bodyPr wrap="square">
            <a:spAutoFit/>
          </a:bodyPr>
          <a:lstStyle/>
          <a:p>
            <a:pPr algn="l"/>
            <a:r>
              <a:rPr sz="800" b="0" i="0" dirty="0">
                <a:solidFill>
                  <a:srgbClr val="CCE0EC"/>
                </a:solidFill>
                <a:latin typeface="Calibri"/>
              </a:rPr>
              <a:t>• Workforce development &amp; career readiness — FBI, Strayer</a:t>
            </a:r>
          </a:p>
        </p:txBody>
      </p:sp>
      <p:sp>
        <p:nvSpPr>
          <p:cNvPr id="42" name="TextBox 41"/>
          <p:cNvSpPr txBox="1"/>
          <p:nvPr/>
        </p:nvSpPr>
        <p:spPr>
          <a:xfrm>
            <a:off x="6026000" y="3610000"/>
            <a:ext cx="2668000" cy="180000"/>
          </a:xfrm>
          <a:prstGeom prst="rect">
            <a:avLst/>
          </a:prstGeom>
          <a:noFill/>
        </p:spPr>
        <p:txBody>
          <a:bodyPr wrap="square">
            <a:spAutoFit/>
          </a:bodyPr>
          <a:lstStyle/>
          <a:p>
            <a:pPr algn="l"/>
            <a:r>
              <a:rPr sz="800" b="0" i="0">
                <a:solidFill>
                  <a:srgbClr val="CCE0EC"/>
                </a:solidFill>
                <a:latin typeface="Calibri"/>
              </a:rPr>
              <a:t>• UMGC connection supports CAKO academic credentialing</a:t>
            </a:r>
          </a:p>
        </p:txBody>
      </p:sp>
      <p:sp>
        <p:nvSpPr>
          <p:cNvPr id="43" name="TextBox 42"/>
          <p:cNvSpPr txBox="1"/>
          <p:nvPr/>
        </p:nvSpPr>
        <p:spPr>
          <a:xfrm>
            <a:off x="200000" y="4893500"/>
            <a:ext cx="8744000" cy="200000"/>
          </a:xfrm>
          <a:prstGeom prst="rect">
            <a:avLst/>
          </a:prstGeom>
          <a:noFill/>
        </p:spPr>
        <p:txBody>
          <a:bodyPr wrap="square">
            <a:spAutoFit/>
          </a:bodyPr>
          <a:lstStyle/>
          <a:p>
            <a:pPr algn="l"/>
            <a:r>
              <a:rPr sz="750" b="0" i="1">
                <a:solidFill>
                  <a:srgbClr val="7AB4C8"/>
                </a:solidFill>
                <a:latin typeface="Calibri"/>
              </a:rPr>
              <a:t>KAI-Netics Equity &amp; Autonomy Foundry (EAF) — 501c3 Pending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0000" y="60000"/>
            <a:ext cx="8644000" cy="720000"/>
          </a:xfrm>
          <a:prstGeom prst="rect">
            <a:avLst/>
          </a:prstGeom>
          <a:noFill/>
        </p:spPr>
        <p:txBody>
          <a:bodyPr wrap="square">
            <a:spAutoFit/>
          </a:bodyPr>
          <a:lstStyle/>
          <a:p>
            <a:pPr algn="l"/>
            <a:r>
              <a:rPr sz="2200" b="1" i="0">
                <a:solidFill>
                  <a:srgbClr val="FFFFFF"/>
                </a:solidFill>
                <a:latin typeface="Calibri"/>
              </a:rPr>
              <a:t>Risks We Have Identified — And How We Mitigate Them</a:t>
            </a:r>
          </a:p>
        </p:txBody>
      </p:sp>
      <p:sp>
        <p:nvSpPr>
          <p:cNvPr id="5" name="TextBox 4"/>
          <p:cNvSpPr txBox="1"/>
          <p:nvPr/>
        </p:nvSpPr>
        <p:spPr>
          <a:xfrm>
            <a:off x="300000" y="680000"/>
            <a:ext cx="8644000" cy="250000"/>
          </a:xfrm>
          <a:prstGeom prst="rect">
            <a:avLst/>
          </a:prstGeom>
          <a:noFill/>
        </p:spPr>
        <p:txBody>
          <a:bodyPr wrap="square">
            <a:spAutoFit/>
          </a:bodyPr>
          <a:lstStyle/>
          <a:p>
            <a:pPr algn="l"/>
            <a:r>
              <a:rPr sz="1000" b="0" i="1">
                <a:solidFill>
                  <a:srgbClr val="028090"/>
                </a:solidFill>
                <a:latin typeface="Calibri"/>
              </a:rPr>
              <a:t>Credibility is built by naming risks before they're named for you.</a:t>
            </a:r>
          </a:p>
        </p:txBody>
      </p:sp>
      <p:sp>
        <p:nvSpPr>
          <p:cNvPr id="6" name="Rectangle 5"/>
          <p:cNvSpPr/>
          <p:nvPr/>
        </p:nvSpPr>
        <p:spPr>
          <a:xfrm>
            <a:off x="300000" y="1060000"/>
            <a:ext cx="8544000" cy="64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00000" y="1060000"/>
            <a:ext cx="12000" cy="64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900000" y="1120000"/>
            <a:ext cx="9144" cy="520000"/>
          </a:xfrm>
          <a:prstGeom prst="rect">
            <a:avLst/>
          </a:prstGeom>
          <a:solidFill>
            <a:srgbClr val="2A5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0000" y="1120000"/>
            <a:ext cx="3460000" cy="200000"/>
          </a:xfrm>
          <a:prstGeom prst="rect">
            <a:avLst/>
          </a:prstGeom>
          <a:noFill/>
        </p:spPr>
        <p:txBody>
          <a:bodyPr wrap="square">
            <a:spAutoFit/>
          </a:bodyPr>
          <a:lstStyle/>
          <a:p>
            <a:pPr algn="l"/>
            <a:r>
              <a:rPr sz="900" b="1" i="0">
                <a:solidFill>
                  <a:srgbClr val="028090"/>
                </a:solidFill>
                <a:latin typeface="Calibri"/>
              </a:rPr>
              <a:t>⚠  UROC / CURN Access</a:t>
            </a:r>
          </a:p>
        </p:txBody>
      </p:sp>
      <p:sp>
        <p:nvSpPr>
          <p:cNvPr id="10" name="TextBox 9"/>
          <p:cNvSpPr txBox="1"/>
          <p:nvPr/>
        </p:nvSpPr>
        <p:spPr>
          <a:xfrm>
            <a:off x="380000" y="1340000"/>
            <a:ext cx="3460000" cy="300000"/>
          </a:xfrm>
          <a:prstGeom prst="rect">
            <a:avLst/>
          </a:prstGeom>
          <a:noFill/>
        </p:spPr>
        <p:txBody>
          <a:bodyPr wrap="square">
            <a:spAutoFit/>
          </a:bodyPr>
          <a:lstStyle/>
          <a:p>
            <a:pPr algn="l"/>
            <a:r>
              <a:rPr sz="800" b="0" i="1">
                <a:solidFill>
                  <a:srgbClr val="99BBCC"/>
                </a:solidFill>
                <a:latin typeface="Calibri"/>
              </a:rPr>
              <a:t>DroneUp is the active UROC partner. KAI-Netics is an applicant, not yet inside.</a:t>
            </a:r>
          </a:p>
        </p:txBody>
      </p:sp>
      <p:sp>
        <p:nvSpPr>
          <p:cNvPr id="11" name="TextBox 10"/>
          <p:cNvSpPr txBox="1"/>
          <p:nvPr/>
        </p:nvSpPr>
        <p:spPr>
          <a:xfrm>
            <a:off x="3980000" y="1120000"/>
            <a:ext cx="4804000" cy="200000"/>
          </a:xfrm>
          <a:prstGeom prst="rect">
            <a:avLst/>
          </a:prstGeom>
          <a:noFill/>
        </p:spPr>
        <p:txBody>
          <a:bodyPr wrap="square">
            <a:spAutoFit/>
          </a:bodyPr>
          <a:lstStyle/>
          <a:p>
            <a:pPr algn="l"/>
            <a:r>
              <a:rPr sz="900" b="1" i="0">
                <a:solidFill>
                  <a:srgbClr val="02C39A"/>
                </a:solidFill>
                <a:latin typeface="Calibri"/>
              </a:rPr>
              <a:t>✔  Mitigation</a:t>
            </a:r>
          </a:p>
        </p:txBody>
      </p:sp>
      <p:sp>
        <p:nvSpPr>
          <p:cNvPr id="12" name="TextBox 11"/>
          <p:cNvSpPr txBox="1"/>
          <p:nvPr/>
        </p:nvSpPr>
        <p:spPr>
          <a:xfrm>
            <a:off x="3980000" y="1340000"/>
            <a:ext cx="4804000" cy="300000"/>
          </a:xfrm>
          <a:prstGeom prst="rect">
            <a:avLst/>
          </a:prstGeom>
          <a:noFill/>
        </p:spPr>
        <p:txBody>
          <a:bodyPr wrap="square">
            <a:spAutoFit/>
          </a:bodyPr>
          <a:lstStyle/>
          <a:p>
            <a:pPr algn="l"/>
            <a:r>
              <a:rPr sz="800" b="0" i="0">
                <a:solidFill>
                  <a:srgbClr val="CCE0EC"/>
                </a:solidFill>
                <a:latin typeface="Calibri"/>
              </a:rPr>
              <a:t>UROC internship application in progress. Dr. Amukele (Hopkins) provides independent pathway into medical campus network. CURN is public airspace — no operator owns exclusive access.</a:t>
            </a:r>
          </a:p>
        </p:txBody>
      </p:sp>
      <p:sp>
        <p:nvSpPr>
          <p:cNvPr id="13" name="Rectangle 12"/>
          <p:cNvSpPr/>
          <p:nvPr/>
        </p:nvSpPr>
        <p:spPr>
          <a:xfrm>
            <a:off x="300000" y="1780000"/>
            <a:ext cx="8544000" cy="64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00000" y="1780000"/>
            <a:ext cx="12000" cy="64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900000" y="1840000"/>
            <a:ext cx="9144" cy="520000"/>
          </a:xfrm>
          <a:prstGeom prst="rect">
            <a:avLst/>
          </a:prstGeom>
          <a:solidFill>
            <a:srgbClr val="2A5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0000" y="1840000"/>
            <a:ext cx="3460000" cy="200000"/>
          </a:xfrm>
          <a:prstGeom prst="rect">
            <a:avLst/>
          </a:prstGeom>
          <a:noFill/>
        </p:spPr>
        <p:txBody>
          <a:bodyPr wrap="square">
            <a:spAutoFit/>
          </a:bodyPr>
          <a:lstStyle/>
          <a:p>
            <a:pPr algn="l"/>
            <a:r>
              <a:rPr sz="900" b="1" i="0">
                <a:solidFill>
                  <a:srgbClr val="F5A623"/>
                </a:solidFill>
                <a:latin typeface="Calibri"/>
              </a:rPr>
              <a:t>⚠  MissionGO Medical Credibility</a:t>
            </a:r>
          </a:p>
        </p:txBody>
      </p:sp>
      <p:sp>
        <p:nvSpPr>
          <p:cNvPr id="17" name="TextBox 16"/>
          <p:cNvSpPr txBox="1"/>
          <p:nvPr/>
        </p:nvSpPr>
        <p:spPr>
          <a:xfrm>
            <a:off x="380000" y="2060000"/>
            <a:ext cx="3460000" cy="300000"/>
          </a:xfrm>
          <a:prstGeom prst="rect">
            <a:avLst/>
          </a:prstGeom>
          <a:noFill/>
        </p:spPr>
        <p:txBody>
          <a:bodyPr wrap="square">
            <a:spAutoFit/>
          </a:bodyPr>
          <a:lstStyle/>
          <a:p>
            <a:pPr algn="l"/>
            <a:r>
              <a:rPr sz="800" b="0" i="1">
                <a:solidFill>
                  <a:srgbClr val="99BBCC"/>
                </a:solidFill>
                <a:latin typeface="Calibri"/>
              </a:rPr>
              <a:t>MissionGO performed the first drone kidney delivery in Baltimore and has deep UMMS/Hopkins relationships.</a:t>
            </a:r>
          </a:p>
        </p:txBody>
      </p:sp>
      <p:sp>
        <p:nvSpPr>
          <p:cNvPr id="18" name="TextBox 17"/>
          <p:cNvSpPr txBox="1"/>
          <p:nvPr/>
        </p:nvSpPr>
        <p:spPr>
          <a:xfrm>
            <a:off x="3980000" y="1840000"/>
            <a:ext cx="4804000" cy="200000"/>
          </a:xfrm>
          <a:prstGeom prst="rect">
            <a:avLst/>
          </a:prstGeom>
          <a:noFill/>
        </p:spPr>
        <p:txBody>
          <a:bodyPr wrap="square">
            <a:spAutoFit/>
          </a:bodyPr>
          <a:lstStyle/>
          <a:p>
            <a:pPr algn="l"/>
            <a:r>
              <a:rPr sz="900" b="1" i="0">
                <a:solidFill>
                  <a:srgbClr val="02C39A"/>
                </a:solidFill>
                <a:latin typeface="Calibri"/>
              </a:rPr>
              <a:t>✔  Mitigation</a:t>
            </a:r>
          </a:p>
        </p:txBody>
      </p:sp>
      <p:sp>
        <p:nvSpPr>
          <p:cNvPr id="19" name="TextBox 18"/>
          <p:cNvSpPr txBox="1"/>
          <p:nvPr/>
        </p:nvSpPr>
        <p:spPr>
          <a:xfrm>
            <a:off x="3980000" y="2060000"/>
            <a:ext cx="4804000" cy="300000"/>
          </a:xfrm>
          <a:prstGeom prst="rect">
            <a:avLst/>
          </a:prstGeom>
          <a:noFill/>
        </p:spPr>
        <p:txBody>
          <a:bodyPr wrap="square">
            <a:spAutoFit/>
          </a:bodyPr>
          <a:lstStyle/>
          <a:p>
            <a:pPr algn="l"/>
            <a:r>
              <a:rPr sz="800" b="0" i="0">
                <a:solidFill>
                  <a:srgbClr val="CCE0EC"/>
                </a:solidFill>
                <a:latin typeface="Calibri"/>
              </a:rPr>
              <a:t>MissionGO cannot fly commercially until FAA Type Certification completes (2027+). KAI-Netics can start the UMMS POC under Part 107 today — building revenue and relationship equity first.</a:t>
            </a:r>
          </a:p>
        </p:txBody>
      </p:sp>
      <p:sp>
        <p:nvSpPr>
          <p:cNvPr id="20" name="Rectangle 19"/>
          <p:cNvSpPr/>
          <p:nvPr/>
        </p:nvSpPr>
        <p:spPr>
          <a:xfrm>
            <a:off x="300000" y="2500000"/>
            <a:ext cx="8544000" cy="64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00000" y="2500000"/>
            <a:ext cx="12000" cy="64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900000" y="2560000"/>
            <a:ext cx="9144" cy="520000"/>
          </a:xfrm>
          <a:prstGeom prst="rect">
            <a:avLst/>
          </a:prstGeom>
          <a:solidFill>
            <a:srgbClr val="2A5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0000" y="2560000"/>
            <a:ext cx="3460000" cy="200000"/>
          </a:xfrm>
          <a:prstGeom prst="rect">
            <a:avLst/>
          </a:prstGeom>
          <a:noFill/>
        </p:spPr>
        <p:txBody>
          <a:bodyPr wrap="square">
            <a:spAutoFit/>
          </a:bodyPr>
          <a:lstStyle/>
          <a:p>
            <a:pPr algn="l"/>
            <a:r>
              <a:rPr sz="900" b="1" i="0">
                <a:solidFill>
                  <a:srgbClr val="02C39A"/>
                </a:solidFill>
                <a:latin typeface="Calibri"/>
              </a:rPr>
              <a:t>⚠  Solo Founder Execution Risk</a:t>
            </a:r>
          </a:p>
        </p:txBody>
      </p:sp>
      <p:sp>
        <p:nvSpPr>
          <p:cNvPr id="24" name="TextBox 23"/>
          <p:cNvSpPr txBox="1"/>
          <p:nvPr/>
        </p:nvSpPr>
        <p:spPr>
          <a:xfrm>
            <a:off x="380000" y="2780000"/>
            <a:ext cx="3460000" cy="300000"/>
          </a:xfrm>
          <a:prstGeom prst="rect">
            <a:avLst/>
          </a:prstGeom>
          <a:noFill/>
        </p:spPr>
        <p:txBody>
          <a:bodyPr wrap="square">
            <a:spAutoFit/>
          </a:bodyPr>
          <a:lstStyle/>
          <a:p>
            <a:pPr algn="l"/>
            <a:r>
              <a:rPr sz="800" b="0" i="1">
                <a:solidFill>
                  <a:srgbClr val="99BBCC"/>
                </a:solidFill>
                <a:latin typeface="Calibri"/>
              </a:rPr>
              <a:t>Kevin is the sole BD officer, MONK architect, and EAF director simultaneously.</a:t>
            </a:r>
          </a:p>
        </p:txBody>
      </p:sp>
      <p:sp>
        <p:nvSpPr>
          <p:cNvPr id="25" name="TextBox 24"/>
          <p:cNvSpPr txBox="1"/>
          <p:nvPr/>
        </p:nvSpPr>
        <p:spPr>
          <a:xfrm>
            <a:off x="3980000" y="2560000"/>
            <a:ext cx="4804000" cy="200000"/>
          </a:xfrm>
          <a:prstGeom prst="rect">
            <a:avLst/>
          </a:prstGeom>
          <a:noFill/>
        </p:spPr>
        <p:txBody>
          <a:bodyPr wrap="square">
            <a:spAutoFit/>
          </a:bodyPr>
          <a:lstStyle/>
          <a:p>
            <a:pPr algn="l"/>
            <a:r>
              <a:rPr sz="900" b="1" i="0">
                <a:solidFill>
                  <a:srgbClr val="02C39A"/>
                </a:solidFill>
                <a:latin typeface="Calibri"/>
              </a:rPr>
              <a:t>✔  Mitigation</a:t>
            </a:r>
          </a:p>
        </p:txBody>
      </p:sp>
      <p:sp>
        <p:nvSpPr>
          <p:cNvPr id="26" name="TextBox 25"/>
          <p:cNvSpPr txBox="1"/>
          <p:nvPr/>
        </p:nvSpPr>
        <p:spPr>
          <a:xfrm>
            <a:off x="3980000" y="2780000"/>
            <a:ext cx="4804000" cy="300000"/>
          </a:xfrm>
          <a:prstGeom prst="rect">
            <a:avLst/>
          </a:prstGeom>
          <a:noFill/>
        </p:spPr>
        <p:txBody>
          <a:bodyPr wrap="square">
            <a:spAutoFit/>
          </a:bodyPr>
          <a:lstStyle/>
          <a:p>
            <a:pPr algn="l"/>
            <a:r>
              <a:rPr sz="800" b="0" i="0">
                <a:solidFill>
                  <a:srgbClr val="CCE0EC"/>
                </a:solidFill>
                <a:latin typeface="Calibri"/>
              </a:rPr>
              <a:t>EAF graduates deliver all operational services. Kevin's roles are explicitly bounded: contracts and MONK. Dr. Kott (SCORE Mentor), James Scott Esq., and the EAF board provide governance.</a:t>
            </a:r>
          </a:p>
        </p:txBody>
      </p:sp>
      <p:sp>
        <p:nvSpPr>
          <p:cNvPr id="27" name="Rectangle 26"/>
          <p:cNvSpPr/>
          <p:nvPr/>
        </p:nvSpPr>
        <p:spPr>
          <a:xfrm>
            <a:off x="300000" y="3220000"/>
            <a:ext cx="8544000" cy="64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00000" y="3220000"/>
            <a:ext cx="12000" cy="640000"/>
          </a:xfrm>
          <a:prstGeom prst="rect">
            <a:avLst/>
          </a:prstGeom>
          <a:solidFill>
            <a:srgbClr val="7B6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900000" y="3280000"/>
            <a:ext cx="9144" cy="520000"/>
          </a:xfrm>
          <a:prstGeom prst="rect">
            <a:avLst/>
          </a:prstGeom>
          <a:solidFill>
            <a:srgbClr val="2A5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0000" y="3280000"/>
            <a:ext cx="3460000" cy="200000"/>
          </a:xfrm>
          <a:prstGeom prst="rect">
            <a:avLst/>
          </a:prstGeom>
          <a:noFill/>
        </p:spPr>
        <p:txBody>
          <a:bodyPr wrap="square">
            <a:spAutoFit/>
          </a:bodyPr>
          <a:lstStyle/>
          <a:p>
            <a:pPr algn="l"/>
            <a:r>
              <a:rPr sz="900" b="1" i="0">
                <a:solidFill>
                  <a:srgbClr val="7B68EE"/>
                </a:solidFill>
                <a:latin typeface="Calibri"/>
              </a:rPr>
              <a:t>⚠  501c3 Determination Pending</a:t>
            </a:r>
          </a:p>
        </p:txBody>
      </p:sp>
      <p:sp>
        <p:nvSpPr>
          <p:cNvPr id="31" name="TextBox 30"/>
          <p:cNvSpPr txBox="1"/>
          <p:nvPr/>
        </p:nvSpPr>
        <p:spPr>
          <a:xfrm>
            <a:off x="380000" y="3500000"/>
            <a:ext cx="3460000" cy="300000"/>
          </a:xfrm>
          <a:prstGeom prst="rect">
            <a:avLst/>
          </a:prstGeom>
          <a:noFill/>
        </p:spPr>
        <p:txBody>
          <a:bodyPr wrap="square">
            <a:spAutoFit/>
          </a:bodyPr>
          <a:lstStyle/>
          <a:p>
            <a:pPr algn="l"/>
            <a:r>
              <a:rPr sz="800" b="0" i="1">
                <a:solidFill>
                  <a:srgbClr val="99BBCC"/>
                </a:solidFill>
                <a:latin typeface="Calibri"/>
              </a:rPr>
              <a:t>EAF's IRS Form 1023 is in preparation. Some grants require a 501c3 determination letter.</a:t>
            </a:r>
          </a:p>
        </p:txBody>
      </p:sp>
      <p:sp>
        <p:nvSpPr>
          <p:cNvPr id="32" name="TextBox 31"/>
          <p:cNvSpPr txBox="1"/>
          <p:nvPr/>
        </p:nvSpPr>
        <p:spPr>
          <a:xfrm>
            <a:off x="3980000" y="3280000"/>
            <a:ext cx="4804000" cy="200000"/>
          </a:xfrm>
          <a:prstGeom prst="rect">
            <a:avLst/>
          </a:prstGeom>
          <a:noFill/>
        </p:spPr>
        <p:txBody>
          <a:bodyPr wrap="square">
            <a:spAutoFit/>
          </a:bodyPr>
          <a:lstStyle/>
          <a:p>
            <a:pPr algn="l"/>
            <a:r>
              <a:rPr sz="900" b="1" i="0">
                <a:solidFill>
                  <a:srgbClr val="02C39A"/>
                </a:solidFill>
                <a:latin typeface="Calibri"/>
              </a:rPr>
              <a:t>✔  Mitigation</a:t>
            </a:r>
          </a:p>
        </p:txBody>
      </p:sp>
      <p:sp>
        <p:nvSpPr>
          <p:cNvPr id="33" name="TextBox 32"/>
          <p:cNvSpPr txBox="1"/>
          <p:nvPr/>
        </p:nvSpPr>
        <p:spPr>
          <a:xfrm>
            <a:off x="3980000" y="3500000"/>
            <a:ext cx="4804000" cy="300000"/>
          </a:xfrm>
          <a:prstGeom prst="rect">
            <a:avLst/>
          </a:prstGeom>
          <a:noFill/>
        </p:spPr>
        <p:txBody>
          <a:bodyPr wrap="square">
            <a:spAutoFit/>
          </a:bodyPr>
          <a:lstStyle/>
          <a:p>
            <a:pPr algn="l"/>
            <a:r>
              <a:rPr sz="800" b="0" i="0">
                <a:solidFill>
                  <a:srgbClr val="CCE0EC"/>
                </a:solidFill>
                <a:latin typeface="Calibri"/>
              </a:rPr>
              <a:t>Maryland state grants (EARN, CDBG) do not require federal determination. IRS Form 1023 filing targeted Q2 2026. TEDCO Builder Fund and SBIR apply through FP, not EAF.</a:t>
            </a:r>
          </a:p>
        </p:txBody>
      </p:sp>
      <p:sp>
        <p:nvSpPr>
          <p:cNvPr id="34" name="TextBox 33"/>
          <p:cNvSpPr txBox="1"/>
          <p:nvPr/>
        </p:nvSpPr>
        <p:spPr>
          <a:xfrm>
            <a:off x="300000" y="4883500"/>
            <a:ext cx="8544000" cy="200000"/>
          </a:xfrm>
          <a:prstGeom prst="rect">
            <a:avLst/>
          </a:prstGeom>
          <a:noFill/>
        </p:spPr>
        <p:txBody>
          <a:bodyPr wrap="square">
            <a:spAutoFit/>
          </a:bodyPr>
          <a:lstStyle/>
          <a:p>
            <a:pPr algn="l"/>
            <a:r>
              <a:rPr sz="850" b="0" i="1">
                <a:solidFill>
                  <a:srgbClr val="028090"/>
                </a:solidFill>
                <a:latin typeface="Calibri"/>
              </a:rPr>
              <a:t>KAI-Netics is not without risk. But every identified risk has a named mitigation and a specific timeline. That is what execution looks like.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2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80000"/>
            <a:ext cx="8644000" cy="700000"/>
          </a:xfrm>
          <a:prstGeom prst="rect">
            <a:avLst/>
          </a:prstGeom>
          <a:noFill/>
        </p:spPr>
        <p:txBody>
          <a:bodyPr wrap="square">
            <a:spAutoFit/>
          </a:bodyPr>
          <a:lstStyle/>
          <a:p>
            <a:pPr algn="l"/>
            <a:r>
              <a:rPr sz="2800" b="1" i="0">
                <a:solidFill>
                  <a:srgbClr val="FFFFFF"/>
                </a:solidFill>
                <a:latin typeface="Calibri"/>
              </a:rPr>
              <a:t>The Ask</a:t>
            </a:r>
          </a:p>
        </p:txBody>
      </p:sp>
      <p:sp>
        <p:nvSpPr>
          <p:cNvPr id="5" name="TextBox 4"/>
          <p:cNvSpPr txBox="1"/>
          <p:nvPr/>
        </p:nvSpPr>
        <p:spPr>
          <a:xfrm>
            <a:off x="365760" y="700000"/>
            <a:ext cx="8644000" cy="260000"/>
          </a:xfrm>
          <a:prstGeom prst="rect">
            <a:avLst/>
          </a:prstGeom>
          <a:noFill/>
        </p:spPr>
        <p:txBody>
          <a:bodyPr wrap="square">
            <a:spAutoFit/>
          </a:bodyPr>
          <a:lstStyle/>
          <a:p>
            <a:pPr algn="l"/>
            <a:r>
              <a:rPr sz="1100" b="0" i="1">
                <a:solidFill>
                  <a:srgbClr val="028090"/>
                </a:solidFill>
                <a:latin typeface="Calibri"/>
              </a:rPr>
              <a:t>KAI-Netics is ready to execute. Here is where MEIA accelerates our path.</a:t>
            </a:r>
          </a:p>
        </p:txBody>
      </p:sp>
      <p:sp>
        <p:nvSpPr>
          <p:cNvPr id="6" name="Rectangle 5"/>
          <p:cNvSpPr/>
          <p:nvPr/>
        </p:nvSpPr>
        <p:spPr>
          <a:xfrm>
            <a:off x="200000" y="1100000"/>
            <a:ext cx="4100000" cy="138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00000" y="1100000"/>
            <a:ext cx="4100000" cy="5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0000" y="1180000"/>
            <a:ext cx="4000000" cy="250000"/>
          </a:xfrm>
          <a:prstGeom prst="rect">
            <a:avLst/>
          </a:prstGeom>
          <a:noFill/>
        </p:spPr>
        <p:txBody>
          <a:bodyPr wrap="square">
            <a:spAutoFit/>
          </a:bodyPr>
          <a:lstStyle/>
          <a:p>
            <a:pPr algn="l"/>
            <a:r>
              <a:rPr sz="1100" b="1" i="0">
                <a:solidFill>
                  <a:srgbClr val="028090"/>
                </a:solidFill>
                <a:latin typeface="Calibri"/>
              </a:rPr>
              <a:t>Customer Introductions</a:t>
            </a:r>
          </a:p>
        </p:txBody>
      </p:sp>
      <p:sp>
        <p:nvSpPr>
          <p:cNvPr id="9" name="TextBox 8"/>
          <p:cNvSpPr txBox="1"/>
          <p:nvPr/>
        </p:nvSpPr>
        <p:spPr>
          <a:xfrm>
            <a:off x="260000" y="1440000"/>
            <a:ext cx="4000000" cy="980000"/>
          </a:xfrm>
          <a:prstGeom prst="rect">
            <a:avLst/>
          </a:prstGeom>
          <a:noFill/>
        </p:spPr>
        <p:txBody>
          <a:bodyPr wrap="square">
            <a:spAutoFit/>
          </a:bodyPr>
          <a:lstStyle/>
          <a:p>
            <a:pPr algn="l"/>
            <a:r>
              <a:rPr sz="950" b="0" i="0">
                <a:solidFill>
                  <a:srgbClr val="CCE0EC"/>
                </a:solidFill>
                <a:latin typeface="Calibri"/>
              </a:rPr>
              <a:t>Warm introductions to UMMS, Hopkins, and MedStar supply chain leadership — converting our LOC outreach into a structured POC conversation and validating the medical delivery use case with decision makers.</a:t>
            </a:r>
          </a:p>
        </p:txBody>
      </p:sp>
      <p:sp>
        <p:nvSpPr>
          <p:cNvPr id="10" name="Rectangle 9"/>
          <p:cNvSpPr/>
          <p:nvPr/>
        </p:nvSpPr>
        <p:spPr>
          <a:xfrm>
            <a:off x="4744000" y="1100000"/>
            <a:ext cx="4100000" cy="138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44000" y="1100000"/>
            <a:ext cx="4100000" cy="5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04000" y="1180000"/>
            <a:ext cx="4000000" cy="250000"/>
          </a:xfrm>
          <a:prstGeom prst="rect">
            <a:avLst/>
          </a:prstGeom>
          <a:noFill/>
        </p:spPr>
        <p:txBody>
          <a:bodyPr wrap="square">
            <a:spAutoFit/>
          </a:bodyPr>
          <a:lstStyle/>
          <a:p>
            <a:pPr algn="l"/>
            <a:r>
              <a:rPr sz="1100" b="1" i="0">
                <a:solidFill>
                  <a:srgbClr val="F5A623"/>
                </a:solidFill>
                <a:latin typeface="Calibri"/>
              </a:rPr>
              <a:t>Energy Executive in Residence (EEIR)</a:t>
            </a:r>
          </a:p>
        </p:txBody>
      </p:sp>
      <p:sp>
        <p:nvSpPr>
          <p:cNvPr id="13" name="TextBox 12"/>
          <p:cNvSpPr txBox="1"/>
          <p:nvPr/>
        </p:nvSpPr>
        <p:spPr>
          <a:xfrm>
            <a:off x="4804000" y="1440000"/>
            <a:ext cx="4000000" cy="980000"/>
          </a:xfrm>
          <a:prstGeom prst="rect">
            <a:avLst/>
          </a:prstGeom>
          <a:noFill/>
        </p:spPr>
        <p:txBody>
          <a:bodyPr wrap="square">
            <a:spAutoFit/>
          </a:bodyPr>
          <a:lstStyle/>
          <a:p>
            <a:pPr algn="l"/>
            <a:r>
              <a:rPr sz="950" b="0" i="0">
                <a:solidFill>
                  <a:srgbClr val="CCE0EC"/>
                </a:solidFill>
                <a:latin typeface="Calibri"/>
              </a:rPr>
              <a:t>A supply chain or aviation-domain EEIR to stress-test our go-to-market motion, refine pricing strategy, and open doors in Maryland's health system and infrastructure procurement networks.</a:t>
            </a:r>
          </a:p>
        </p:txBody>
      </p:sp>
      <p:sp>
        <p:nvSpPr>
          <p:cNvPr id="14" name="Rectangle 13"/>
          <p:cNvSpPr/>
          <p:nvPr/>
        </p:nvSpPr>
        <p:spPr>
          <a:xfrm>
            <a:off x="200000" y="2620000"/>
            <a:ext cx="4100000" cy="138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0000" y="2620000"/>
            <a:ext cx="4100000" cy="5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0000" y="2700000"/>
            <a:ext cx="4000000" cy="250000"/>
          </a:xfrm>
          <a:prstGeom prst="rect">
            <a:avLst/>
          </a:prstGeom>
          <a:noFill/>
        </p:spPr>
        <p:txBody>
          <a:bodyPr wrap="square">
            <a:spAutoFit/>
          </a:bodyPr>
          <a:lstStyle/>
          <a:p>
            <a:pPr algn="l"/>
            <a:r>
              <a:rPr sz="1100" b="1" i="0">
                <a:solidFill>
                  <a:srgbClr val="02C39A"/>
                </a:solidFill>
                <a:latin typeface="Calibri"/>
              </a:rPr>
              <a:t>Climate Technology Founders Fund</a:t>
            </a:r>
          </a:p>
        </p:txBody>
      </p:sp>
      <p:sp>
        <p:nvSpPr>
          <p:cNvPr id="17" name="TextBox 16"/>
          <p:cNvSpPr txBox="1"/>
          <p:nvPr/>
        </p:nvSpPr>
        <p:spPr>
          <a:xfrm>
            <a:off x="260000" y="2960000"/>
            <a:ext cx="4000000" cy="980000"/>
          </a:xfrm>
          <a:prstGeom prst="rect">
            <a:avLst/>
          </a:prstGeom>
          <a:noFill/>
        </p:spPr>
        <p:txBody>
          <a:bodyPr wrap="square">
            <a:spAutoFit/>
          </a:bodyPr>
          <a:lstStyle/>
          <a:p>
            <a:pPr algn="l"/>
            <a:r>
              <a:rPr sz="950" b="0" i="0">
                <a:solidFill>
                  <a:srgbClr val="CCE0EC"/>
                </a:solidFill>
                <a:latin typeface="Calibri"/>
              </a:rPr>
              <a:t>Introduction to CTFF and MEIA's investor network to begin positioning KAI-Netics for early-stage capital aligned to our GHG reduction mission and green collar workforce model.</a:t>
            </a:r>
          </a:p>
        </p:txBody>
      </p:sp>
      <p:sp>
        <p:nvSpPr>
          <p:cNvPr id="18" name="Rectangle 17"/>
          <p:cNvSpPr/>
          <p:nvPr/>
        </p:nvSpPr>
        <p:spPr>
          <a:xfrm>
            <a:off x="4744000" y="2620000"/>
            <a:ext cx="4100000" cy="138000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744000" y="2620000"/>
            <a:ext cx="4100000" cy="50000"/>
          </a:xfrm>
          <a:prstGeom prst="rect">
            <a:avLst/>
          </a:prstGeom>
          <a:solidFill>
            <a:srgbClr val="7B6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04000" y="2700000"/>
            <a:ext cx="4000000" cy="250000"/>
          </a:xfrm>
          <a:prstGeom prst="rect">
            <a:avLst/>
          </a:prstGeom>
          <a:noFill/>
        </p:spPr>
        <p:txBody>
          <a:bodyPr wrap="square">
            <a:spAutoFit/>
          </a:bodyPr>
          <a:lstStyle/>
          <a:p>
            <a:pPr algn="l"/>
            <a:r>
              <a:rPr sz="1100" b="1" i="0">
                <a:solidFill>
                  <a:srgbClr val="7B68EE"/>
                </a:solidFill>
                <a:latin typeface="Calibri"/>
              </a:rPr>
              <a:t>Grant Navigation</a:t>
            </a:r>
          </a:p>
        </p:txBody>
      </p:sp>
      <p:sp>
        <p:nvSpPr>
          <p:cNvPr id="21" name="TextBox 20"/>
          <p:cNvSpPr txBox="1"/>
          <p:nvPr/>
        </p:nvSpPr>
        <p:spPr>
          <a:xfrm>
            <a:off x="4804000" y="2960000"/>
            <a:ext cx="4000000" cy="980000"/>
          </a:xfrm>
          <a:prstGeom prst="rect">
            <a:avLst/>
          </a:prstGeom>
          <a:noFill/>
        </p:spPr>
        <p:txBody>
          <a:bodyPr wrap="square">
            <a:spAutoFit/>
          </a:bodyPr>
          <a:lstStyle/>
          <a:p>
            <a:pPr algn="l"/>
            <a:r>
              <a:rPr sz="950" b="0" i="0">
                <a:solidFill>
                  <a:srgbClr val="CCE0EC"/>
                </a:solidFill>
                <a:latin typeface="Calibri"/>
              </a:rPr>
              <a:t>Guidance on EARN Maryland, CDBG, and MEA Resilient MD applications supporting EAF's CAKO program — Maryland's first Part 107 workforce pipeline in climate-vulnerable communities.</a:t>
            </a:r>
          </a:p>
        </p:txBody>
      </p:sp>
      <p:sp>
        <p:nvSpPr>
          <p:cNvPr id="22" name="TextBox 21"/>
          <p:cNvSpPr txBox="1"/>
          <p:nvPr/>
        </p:nvSpPr>
        <p:spPr>
          <a:xfrm>
            <a:off x="200000" y="4863500"/>
            <a:ext cx="8744000" cy="220000"/>
          </a:xfrm>
          <a:prstGeom prst="rect">
            <a:avLst/>
          </a:prstGeom>
          <a:noFill/>
        </p:spPr>
        <p:txBody>
          <a:bodyPr wrap="square">
            <a:spAutoFit/>
          </a:bodyPr>
          <a:lstStyle/>
          <a:p>
            <a:pPr algn="ctr"/>
            <a:r>
              <a:rPr sz="900" b="0" i="1">
                <a:solidFill>
                  <a:srgbClr val="7AB4C8"/>
                </a:solidFill>
                <a:latin typeface="Calibri"/>
              </a:rPr>
              <a:t>Kevin Alexander Smith  |  kas@kevin-llc.com  |  443.257.6836  |  kevin-llc.com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4889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2111750"/>
            <a:ext cx="9144000" cy="380000"/>
          </a:xfrm>
          <a:prstGeom prst="rect">
            <a:avLst/>
          </a:prstGeom>
          <a:noFill/>
        </p:spPr>
        <p:txBody>
          <a:bodyPr wrap="square">
            <a:spAutoFit/>
          </a:bodyPr>
          <a:lstStyle/>
          <a:p>
            <a:pPr algn="ctr"/>
            <a:r>
              <a:rPr sz="3600" b="1" i="0">
                <a:solidFill>
                  <a:srgbClr val="028090"/>
                </a:solidFill>
                <a:latin typeface="Calibri"/>
              </a:rPr>
              <a:t>APPENDIX</a:t>
            </a:r>
          </a:p>
        </p:txBody>
      </p:sp>
      <p:sp>
        <p:nvSpPr>
          <p:cNvPr id="5" name="TextBox 4"/>
          <p:cNvSpPr txBox="1"/>
          <p:nvPr/>
        </p:nvSpPr>
        <p:spPr>
          <a:xfrm>
            <a:off x="0" y="2671750"/>
            <a:ext cx="9144000" cy="260000"/>
          </a:xfrm>
          <a:prstGeom prst="rect">
            <a:avLst/>
          </a:prstGeom>
          <a:noFill/>
        </p:spPr>
        <p:txBody>
          <a:bodyPr wrap="square">
            <a:spAutoFit/>
          </a:bodyPr>
          <a:lstStyle/>
          <a:p>
            <a:pPr algn="ctr"/>
            <a:r>
              <a:rPr sz="1300" b="0" i="1">
                <a:solidFill>
                  <a:srgbClr val="7AB4C8"/>
                </a:solidFill>
                <a:latin typeface="Calibri"/>
              </a:rPr>
              <a:t>Supporting detail — available on request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w="12700">
            <a:solidFill>
              <a:srgbClr val="028090"/>
            </a:solidFill>
            <a:prstDash val="solid"/>
          </a:ln>
        </p:spPr>
        <p:txBody>
          <a:bodyPr/>
          <a:lstStyle/>
          <a:p>
            <a:endParaRPr/>
          </a:p>
        </p:txBody>
      </p:sp>
      <p:sp>
        <p:nvSpPr>
          <p:cNvPr id="3" name="Text 1"/>
          <p:cNvSpPr/>
          <p:nvPr/>
        </p:nvSpPr>
        <p:spPr>
          <a:xfrm>
            <a:off x="365760" y="164592"/>
            <a:ext cx="8412480" cy="65836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Solution: Drone Infrastructure Operator at the CURN Baltimore Endpoint</a:t>
            </a:r>
            <a:endParaRPr lang="en-US" sz="2800" dirty="0"/>
          </a:p>
        </p:txBody>
      </p:sp>
      <p:sp>
        <p:nvSpPr>
          <p:cNvPr id="4" name="Shape 2"/>
          <p:cNvSpPr/>
          <p:nvPr/>
        </p:nvSpPr>
        <p:spPr>
          <a:xfrm>
            <a:off x="274320" y="1188720"/>
            <a:ext cx="4114800" cy="3474720"/>
          </a:xfrm>
          <a:prstGeom prst="rect">
            <a:avLst/>
          </a:prstGeom>
          <a:solidFill>
            <a:srgbClr val="015F6B"/>
          </a:solidFill>
          <a:ln w="12700">
            <a:solidFill>
              <a:srgbClr val="015F6B"/>
            </a:solidFill>
            <a:prstDash val="solid"/>
          </a:ln>
          <a:effectLst>
            <a:outerShdw blurRad="101600" dist="38100" dir="8100000" algn="bl" rotWithShape="0">
              <a:srgbClr val="000000">
                <a:alpha val="12000"/>
              </a:srgbClr>
            </a:outerShdw>
          </a:effectLst>
        </p:spPr>
        <p:txBody>
          <a:bodyPr/>
          <a:lstStyle/>
          <a:p>
            <a:endParaRPr/>
          </a:p>
        </p:txBody>
      </p:sp>
      <p:sp>
        <p:nvSpPr>
          <p:cNvPr id="5" name="Text 3"/>
          <p:cNvSpPr/>
          <p:nvPr/>
        </p:nvSpPr>
        <p:spPr>
          <a:xfrm>
            <a:off x="274320" y="1234440"/>
            <a:ext cx="4114800" cy="475488"/>
          </a:xfrm>
          <a:prstGeom prst="rect">
            <a:avLst/>
          </a:prstGeom>
          <a:noFill/>
          <a:ln/>
        </p:spPr>
        <p:txBody>
          <a:bodyPr wrap="square" rtlCol="0" anchor="ctr"/>
          <a:lstStyle/>
          <a:p>
            <a:pPr marL="0" indent="0" algn="ctr">
              <a:buNone/>
            </a:pPr>
            <a:r>
              <a:rPr lang="en-US" sz="2000" b="1" kern="0" spc="400" dirty="0">
                <a:solidFill>
                  <a:srgbClr val="FFFFFF"/>
                </a:solidFill>
                <a:latin typeface="Calibri" pitchFamily="34" charset="0"/>
                <a:ea typeface="Calibri" pitchFamily="34" charset="-122"/>
                <a:cs typeface="Calibri" pitchFamily="34" charset="-120"/>
              </a:rPr>
              <a:t>CURN</a:t>
            </a:r>
            <a:endParaRPr lang="en-US" sz="2000" dirty="0"/>
          </a:p>
        </p:txBody>
      </p:sp>
      <p:sp>
        <p:nvSpPr>
          <p:cNvPr id="6" name="Text 4"/>
          <p:cNvSpPr/>
          <p:nvPr/>
        </p:nvSpPr>
        <p:spPr>
          <a:xfrm>
            <a:off x="274320" y="1664208"/>
            <a:ext cx="4114800" cy="274320"/>
          </a:xfrm>
          <a:prstGeom prst="rect">
            <a:avLst/>
          </a:prstGeom>
          <a:noFill/>
          <a:ln/>
        </p:spPr>
        <p:txBody>
          <a:bodyPr wrap="square"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Chesapeake UAS Route Network</a:t>
            </a:r>
            <a:endParaRPr lang="en-US" sz="1000" dirty="0"/>
          </a:p>
        </p:txBody>
      </p:sp>
      <p:sp>
        <p:nvSpPr>
          <p:cNvPr id="7" name="Shape 5"/>
          <p:cNvSpPr/>
          <p:nvPr/>
        </p:nvSpPr>
        <p:spPr>
          <a:xfrm>
            <a:off x="457200" y="2029968"/>
            <a:ext cx="164592" cy="164592"/>
          </a:xfrm>
          <a:prstGeom prst="ellipse">
            <a:avLst/>
          </a:prstGeom>
          <a:solidFill>
            <a:srgbClr val="00A896"/>
          </a:solidFill>
          <a:ln w="12700">
            <a:solidFill>
              <a:srgbClr val="00A896"/>
            </a:solidFill>
            <a:prstDash val="solid"/>
          </a:ln>
        </p:spPr>
        <p:txBody>
          <a:bodyPr/>
          <a:lstStyle/>
          <a:p>
            <a:endParaRPr/>
          </a:p>
        </p:txBody>
      </p:sp>
      <p:sp>
        <p:nvSpPr>
          <p:cNvPr id="8" name="Text 6"/>
          <p:cNvSpPr/>
          <p:nvPr/>
        </p:nvSpPr>
        <p:spPr>
          <a:xfrm>
            <a:off x="694944" y="1993392"/>
            <a:ext cx="347472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UMD University of Maryland Regional Operations Center (UROC) -led Beyond Visual Line Of Site (BVLOS) drone corridors over Chesapeake Bay</a:t>
            </a:r>
            <a:endParaRPr lang="en-US" sz="1050" dirty="0"/>
          </a:p>
        </p:txBody>
      </p:sp>
      <p:sp>
        <p:nvSpPr>
          <p:cNvPr id="9" name="Shape 7"/>
          <p:cNvSpPr/>
          <p:nvPr/>
        </p:nvSpPr>
        <p:spPr>
          <a:xfrm>
            <a:off x="457200" y="2487168"/>
            <a:ext cx="164592" cy="164592"/>
          </a:xfrm>
          <a:prstGeom prst="ellipse">
            <a:avLst/>
          </a:prstGeom>
          <a:solidFill>
            <a:srgbClr val="00A896"/>
          </a:solidFill>
          <a:ln w="12700">
            <a:solidFill>
              <a:srgbClr val="00A896"/>
            </a:solidFill>
            <a:prstDash val="solid"/>
          </a:ln>
        </p:spPr>
        <p:txBody>
          <a:bodyPr/>
          <a:lstStyle/>
          <a:p>
            <a:endParaRPr/>
          </a:p>
        </p:txBody>
      </p:sp>
      <p:sp>
        <p:nvSpPr>
          <p:cNvPr id="10" name="Text 8"/>
          <p:cNvSpPr/>
          <p:nvPr/>
        </p:nvSpPr>
        <p:spPr>
          <a:xfrm>
            <a:off x="694944" y="2450592"/>
            <a:ext cx="347472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$1.3M Maryland Commerce funded</a:t>
            </a:r>
            <a:endParaRPr lang="en-US" sz="1050" dirty="0"/>
          </a:p>
        </p:txBody>
      </p:sp>
      <p:sp>
        <p:nvSpPr>
          <p:cNvPr id="11" name="Shape 9"/>
          <p:cNvSpPr/>
          <p:nvPr/>
        </p:nvSpPr>
        <p:spPr>
          <a:xfrm>
            <a:off x="457200" y="2944368"/>
            <a:ext cx="164592" cy="164592"/>
          </a:xfrm>
          <a:prstGeom prst="ellipse">
            <a:avLst/>
          </a:prstGeom>
          <a:solidFill>
            <a:srgbClr val="00A896"/>
          </a:solidFill>
          <a:ln w="12700">
            <a:solidFill>
              <a:srgbClr val="00A896"/>
            </a:solidFill>
            <a:prstDash val="solid"/>
          </a:ln>
        </p:spPr>
        <p:txBody>
          <a:bodyPr/>
          <a:lstStyle/>
          <a:p>
            <a:endParaRPr/>
          </a:p>
        </p:txBody>
      </p:sp>
      <p:sp>
        <p:nvSpPr>
          <p:cNvPr id="12" name="Text 10"/>
          <p:cNvSpPr/>
          <p:nvPr/>
        </p:nvSpPr>
        <p:spPr>
          <a:xfrm>
            <a:off x="694944" y="2907792"/>
            <a:ext cx="347472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FAA + Navy + DHS + ARL partnerships</a:t>
            </a:r>
            <a:endParaRPr lang="en-US" sz="1050" dirty="0"/>
          </a:p>
        </p:txBody>
      </p:sp>
      <p:sp>
        <p:nvSpPr>
          <p:cNvPr id="13" name="Shape 11"/>
          <p:cNvSpPr/>
          <p:nvPr/>
        </p:nvSpPr>
        <p:spPr>
          <a:xfrm>
            <a:off x="457200" y="3401568"/>
            <a:ext cx="164592" cy="164592"/>
          </a:xfrm>
          <a:prstGeom prst="ellipse">
            <a:avLst/>
          </a:prstGeom>
          <a:solidFill>
            <a:srgbClr val="00A896"/>
          </a:solidFill>
          <a:ln w="12700">
            <a:solidFill>
              <a:srgbClr val="00A896"/>
            </a:solidFill>
            <a:prstDash val="solid"/>
          </a:ln>
        </p:spPr>
        <p:txBody>
          <a:bodyPr/>
          <a:lstStyle/>
          <a:p>
            <a:endParaRPr/>
          </a:p>
        </p:txBody>
      </p:sp>
      <p:sp>
        <p:nvSpPr>
          <p:cNvPr id="14" name="Text 12"/>
          <p:cNvSpPr/>
          <p:nvPr/>
        </p:nvSpPr>
        <p:spPr>
          <a:xfrm>
            <a:off x="694944" y="3364992"/>
            <a:ext cx="347472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Routes over water = minimal crash risk</a:t>
            </a:r>
            <a:endParaRPr lang="en-US" sz="1050" dirty="0"/>
          </a:p>
        </p:txBody>
      </p:sp>
      <p:sp>
        <p:nvSpPr>
          <p:cNvPr id="15" name="Shape 13"/>
          <p:cNvSpPr/>
          <p:nvPr/>
        </p:nvSpPr>
        <p:spPr>
          <a:xfrm>
            <a:off x="457200" y="3858768"/>
            <a:ext cx="164592" cy="164592"/>
          </a:xfrm>
          <a:prstGeom prst="ellipse">
            <a:avLst/>
          </a:prstGeom>
          <a:solidFill>
            <a:srgbClr val="00A896"/>
          </a:solidFill>
          <a:ln w="12700">
            <a:solidFill>
              <a:srgbClr val="00A896"/>
            </a:solidFill>
            <a:prstDash val="solid"/>
          </a:ln>
        </p:spPr>
        <p:txBody>
          <a:bodyPr/>
          <a:lstStyle/>
          <a:p>
            <a:endParaRPr/>
          </a:p>
        </p:txBody>
      </p:sp>
      <p:sp>
        <p:nvSpPr>
          <p:cNvPr id="16" name="Text 14"/>
          <p:cNvSpPr/>
          <p:nvPr/>
        </p:nvSpPr>
        <p:spPr>
          <a:xfrm>
            <a:off x="694944" y="3822192"/>
            <a:ext cx="3474720" cy="2743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Baltimore endpoint = KAI-Netics operating zone</a:t>
            </a:r>
            <a:endParaRPr lang="en-US" sz="1050" dirty="0"/>
          </a:p>
        </p:txBody>
      </p:sp>
      <p:sp>
        <p:nvSpPr>
          <p:cNvPr id="17" name="Text 15"/>
          <p:cNvSpPr/>
          <p:nvPr/>
        </p:nvSpPr>
        <p:spPr>
          <a:xfrm>
            <a:off x="4663440" y="1188720"/>
            <a:ext cx="4206240" cy="347472"/>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Delivery Network Tiers</a:t>
            </a:r>
            <a:endParaRPr lang="en-US" sz="1400" dirty="0"/>
          </a:p>
        </p:txBody>
      </p:sp>
      <p:sp>
        <p:nvSpPr>
          <p:cNvPr id="18" name="Shape 16"/>
          <p:cNvSpPr/>
          <p:nvPr/>
        </p:nvSpPr>
        <p:spPr>
          <a:xfrm>
            <a:off x="4663440" y="1664208"/>
            <a:ext cx="4206240" cy="969264"/>
          </a:xfrm>
          <a:prstGeom prst="rect">
            <a:avLst/>
          </a:prstGeom>
          <a:solidFill>
            <a:srgbClr val="1E3A5F"/>
          </a:solidFill>
          <a:ln w="25400">
            <a:solidFill>
              <a:srgbClr val="028090"/>
            </a:solidFill>
            <a:prstDash val="solid"/>
          </a:ln>
          <a:effectLst>
            <a:outerShdw blurRad="101600" dist="38100" dir="8100000" algn="bl" rotWithShape="0">
              <a:srgbClr val="000000">
                <a:alpha val="12000"/>
              </a:srgbClr>
            </a:outerShdw>
          </a:effectLst>
        </p:spPr>
        <p:txBody>
          <a:bodyPr/>
          <a:lstStyle/>
          <a:p>
            <a:endParaRPr/>
          </a:p>
        </p:txBody>
      </p:sp>
      <p:sp>
        <p:nvSpPr>
          <p:cNvPr id="19" name="Shape 17"/>
          <p:cNvSpPr/>
          <p:nvPr/>
        </p:nvSpPr>
        <p:spPr>
          <a:xfrm>
            <a:off x="4663440" y="1664208"/>
            <a:ext cx="1280160" cy="329184"/>
          </a:xfrm>
          <a:prstGeom prst="rect">
            <a:avLst/>
          </a:prstGeom>
          <a:solidFill>
            <a:srgbClr val="028090"/>
          </a:solidFill>
          <a:ln w="12700">
            <a:solidFill>
              <a:srgbClr val="028090"/>
            </a:solidFill>
            <a:prstDash val="solid"/>
          </a:ln>
        </p:spPr>
        <p:txBody>
          <a:bodyPr/>
          <a:lstStyle/>
          <a:p>
            <a:endParaRPr/>
          </a:p>
        </p:txBody>
      </p:sp>
      <p:sp>
        <p:nvSpPr>
          <p:cNvPr id="20" name="Text 18"/>
          <p:cNvSpPr/>
          <p:nvPr/>
        </p:nvSpPr>
        <p:spPr>
          <a:xfrm>
            <a:off x="4663440" y="1664208"/>
            <a:ext cx="1280160" cy="32918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TIER 1 — NOW</a:t>
            </a:r>
            <a:endParaRPr lang="en-US" sz="800" dirty="0"/>
          </a:p>
        </p:txBody>
      </p:sp>
      <p:sp>
        <p:nvSpPr>
          <p:cNvPr id="21" name="Text 19"/>
          <p:cNvSpPr/>
          <p:nvPr/>
        </p:nvSpPr>
        <p:spPr>
          <a:xfrm>
            <a:off x="4736592" y="2029968"/>
            <a:ext cx="4005072"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Medical supply  •  Lab specimens  •  Pharmacy  •  Resiliency hubs  •  Gov't small supply</a:t>
            </a:r>
            <a:endParaRPr lang="en-US" sz="1000" dirty="0"/>
          </a:p>
        </p:txBody>
      </p:sp>
      <p:sp>
        <p:nvSpPr>
          <p:cNvPr id="22" name="Shape 20"/>
          <p:cNvSpPr/>
          <p:nvPr/>
        </p:nvSpPr>
        <p:spPr>
          <a:xfrm>
            <a:off x="4663440" y="2743200"/>
            <a:ext cx="4206240" cy="969264"/>
          </a:xfrm>
          <a:prstGeom prst="rect">
            <a:avLst/>
          </a:prstGeom>
          <a:solidFill>
            <a:srgbClr val="1E3A5F"/>
          </a:solidFill>
          <a:ln w="25400">
            <a:solidFill>
              <a:srgbClr val="00A896"/>
            </a:solidFill>
            <a:prstDash val="solid"/>
          </a:ln>
          <a:effectLst>
            <a:outerShdw blurRad="101600" dist="38100" dir="8100000" algn="bl" rotWithShape="0">
              <a:srgbClr val="000000">
                <a:alpha val="12000"/>
              </a:srgbClr>
            </a:outerShdw>
          </a:effectLst>
        </p:spPr>
        <p:txBody>
          <a:bodyPr/>
          <a:lstStyle/>
          <a:p>
            <a:endParaRPr/>
          </a:p>
        </p:txBody>
      </p:sp>
      <p:sp>
        <p:nvSpPr>
          <p:cNvPr id="23" name="Shape 21"/>
          <p:cNvSpPr/>
          <p:nvPr/>
        </p:nvSpPr>
        <p:spPr>
          <a:xfrm>
            <a:off x="4663440" y="2743200"/>
            <a:ext cx="1280160" cy="329184"/>
          </a:xfrm>
          <a:prstGeom prst="rect">
            <a:avLst/>
          </a:prstGeom>
          <a:solidFill>
            <a:srgbClr val="00A896"/>
          </a:solidFill>
          <a:ln w="12700">
            <a:solidFill>
              <a:srgbClr val="00A896"/>
            </a:solidFill>
            <a:prstDash val="solid"/>
          </a:ln>
        </p:spPr>
        <p:txBody>
          <a:bodyPr/>
          <a:lstStyle/>
          <a:p>
            <a:endParaRPr/>
          </a:p>
        </p:txBody>
      </p:sp>
      <p:sp>
        <p:nvSpPr>
          <p:cNvPr id="24" name="Text 22"/>
          <p:cNvSpPr/>
          <p:nvPr/>
        </p:nvSpPr>
        <p:spPr>
          <a:xfrm>
            <a:off x="4663440" y="2743200"/>
            <a:ext cx="1280160" cy="32918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TIER 2 — 6–12 MO</a:t>
            </a:r>
            <a:endParaRPr lang="en-US" sz="800" dirty="0"/>
          </a:p>
        </p:txBody>
      </p:sp>
      <p:sp>
        <p:nvSpPr>
          <p:cNvPr id="25" name="Text 23"/>
          <p:cNvSpPr/>
          <p:nvPr/>
        </p:nvSpPr>
        <p:spPr>
          <a:xfrm>
            <a:off x="4736592" y="3108960"/>
            <a:ext cx="4005072"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Campus delivery (Johns Hopkins, etc.)  •  Food desert last-mile  •  Port of Baltimore  •  Legal courier</a:t>
            </a:r>
            <a:endParaRPr lang="en-US" sz="1000" dirty="0"/>
          </a:p>
        </p:txBody>
      </p:sp>
      <p:sp>
        <p:nvSpPr>
          <p:cNvPr id="26" name="Shape 24"/>
          <p:cNvSpPr/>
          <p:nvPr/>
        </p:nvSpPr>
        <p:spPr>
          <a:xfrm>
            <a:off x="4663440" y="3822192"/>
            <a:ext cx="4206240" cy="969264"/>
          </a:xfrm>
          <a:prstGeom prst="rect">
            <a:avLst/>
          </a:prstGeom>
          <a:solidFill>
            <a:srgbClr val="1E3A5F"/>
          </a:solidFill>
          <a:ln w="25400">
            <a:solidFill>
              <a:srgbClr val="94A3B8"/>
            </a:solidFill>
            <a:prstDash val="solid"/>
          </a:ln>
          <a:effectLst>
            <a:outerShdw blurRad="101600" dist="38100" dir="8100000" algn="bl" rotWithShape="0">
              <a:srgbClr val="000000">
                <a:alpha val="12000"/>
              </a:srgbClr>
            </a:outerShdw>
          </a:effectLst>
        </p:spPr>
        <p:txBody>
          <a:bodyPr/>
          <a:lstStyle/>
          <a:p>
            <a:endParaRPr/>
          </a:p>
        </p:txBody>
      </p:sp>
      <p:sp>
        <p:nvSpPr>
          <p:cNvPr id="27" name="Shape 25"/>
          <p:cNvSpPr/>
          <p:nvPr/>
        </p:nvSpPr>
        <p:spPr>
          <a:xfrm>
            <a:off x="4663440" y="3822192"/>
            <a:ext cx="1280160" cy="329184"/>
          </a:xfrm>
          <a:prstGeom prst="rect">
            <a:avLst/>
          </a:prstGeom>
          <a:solidFill>
            <a:srgbClr val="94A3B8"/>
          </a:solidFill>
          <a:ln w="12700">
            <a:solidFill>
              <a:srgbClr val="94A3B8"/>
            </a:solidFill>
            <a:prstDash val="solid"/>
          </a:ln>
        </p:spPr>
        <p:txBody>
          <a:bodyPr/>
          <a:lstStyle/>
          <a:p>
            <a:endParaRPr/>
          </a:p>
        </p:txBody>
      </p:sp>
      <p:sp>
        <p:nvSpPr>
          <p:cNvPr id="28" name="Text 26"/>
          <p:cNvSpPr/>
          <p:nvPr/>
        </p:nvSpPr>
        <p:spPr>
          <a:xfrm>
            <a:off x="4663440" y="3822192"/>
            <a:ext cx="1280160" cy="32918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TIER 3 — POST-108</a:t>
            </a:r>
            <a:endParaRPr lang="en-US" sz="800" dirty="0"/>
          </a:p>
        </p:txBody>
      </p:sp>
      <p:sp>
        <p:nvSpPr>
          <p:cNvPr id="29" name="Text 27"/>
          <p:cNvSpPr/>
          <p:nvPr/>
        </p:nvSpPr>
        <p:spPr>
          <a:xfrm>
            <a:off x="4736592" y="4187952"/>
            <a:ext cx="4005072" cy="5486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Rural Eastern Shore  •  Organ transport  •  Full CURN carrier license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000"/>
            <a:ext cx="8778240" cy="760000"/>
          </a:xfrm>
          <a:prstGeom prst="rect">
            <a:avLst/>
          </a:prstGeom>
          <a:noFill/>
        </p:spPr>
        <p:txBody>
          <a:bodyPr wrap="square">
            <a:spAutoFit/>
          </a:bodyPr>
          <a:lstStyle/>
          <a:p>
            <a:pPr algn="l"/>
            <a:r>
              <a:rPr sz="2200" b="1" i="0">
                <a:solidFill>
                  <a:srgbClr val="FFFFFF"/>
                </a:solidFill>
                <a:latin typeface="Calibri"/>
              </a:rPr>
              <a:t>From Airspace to Doorstep: CURN → Pad → Last Mile</a:t>
            </a:r>
          </a:p>
        </p:txBody>
      </p:sp>
      <p:sp>
        <p:nvSpPr>
          <p:cNvPr id="5" name="Rectangle 4"/>
          <p:cNvSpPr/>
          <p:nvPr/>
        </p:nvSpPr>
        <p:spPr>
          <a:xfrm>
            <a:off x="183600" y="1300000"/>
            <a:ext cx="2000000" cy="3421192"/>
          </a:xfrm>
          <a:prstGeom prst="rect">
            <a:avLst/>
          </a:prstGeom>
          <a:solidFill>
            <a:srgbClr val="1E3A5F"/>
          </a:solidFill>
          <a:ln w="1905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00720" y="1060000"/>
            <a:ext cx="365760" cy="36576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0720" y="1060000"/>
            <a:ext cx="365760" cy="365760"/>
          </a:xfrm>
          <a:prstGeom prst="rect">
            <a:avLst/>
          </a:prstGeom>
          <a:noFill/>
        </p:spPr>
        <p:txBody>
          <a:bodyPr wrap="square">
            <a:spAutoFit/>
          </a:bodyPr>
          <a:lstStyle/>
          <a:p>
            <a:pPr algn="ctr"/>
            <a:r>
              <a:rPr sz="1600" b="1" i="0">
                <a:solidFill>
                  <a:srgbClr val="FFFFFF"/>
                </a:solidFill>
                <a:latin typeface="Calibri"/>
              </a:rPr>
              <a:t>1</a:t>
            </a:r>
          </a:p>
        </p:txBody>
      </p:sp>
      <p:sp>
        <p:nvSpPr>
          <p:cNvPr id="8" name="TextBox 7"/>
          <p:cNvSpPr txBox="1"/>
          <p:nvPr/>
        </p:nvSpPr>
        <p:spPr>
          <a:xfrm>
            <a:off x="183600" y="1320000"/>
            <a:ext cx="2000000" cy="240000"/>
          </a:xfrm>
          <a:prstGeom prst="rect">
            <a:avLst/>
          </a:prstGeom>
          <a:noFill/>
        </p:spPr>
        <p:txBody>
          <a:bodyPr wrap="square">
            <a:spAutoFit/>
          </a:bodyPr>
          <a:lstStyle/>
          <a:p>
            <a:pPr algn="ctr"/>
            <a:r>
              <a:rPr sz="1200" b="1" i="0">
                <a:solidFill>
                  <a:srgbClr val="028090"/>
                </a:solidFill>
                <a:latin typeface="Calibri"/>
              </a:rPr>
              <a:t>CURN Corridor</a:t>
            </a:r>
          </a:p>
        </p:txBody>
      </p:sp>
      <p:sp>
        <p:nvSpPr>
          <p:cNvPr id="9" name="TextBox 8"/>
          <p:cNvSpPr txBox="1"/>
          <p:nvPr/>
        </p:nvSpPr>
        <p:spPr>
          <a:xfrm>
            <a:off x="244560" y="1580000"/>
            <a:ext cx="1880000" cy="310000"/>
          </a:xfrm>
          <a:prstGeom prst="rect">
            <a:avLst/>
          </a:prstGeom>
          <a:noFill/>
        </p:spPr>
        <p:txBody>
          <a:bodyPr wrap="square">
            <a:spAutoFit/>
          </a:bodyPr>
          <a:lstStyle/>
          <a:p>
            <a:pPr algn="l"/>
            <a:r>
              <a:rPr sz="900" b="0" i="0">
                <a:solidFill>
                  <a:srgbClr val="CADCFC"/>
                </a:solidFill>
                <a:latin typeface="Calibri"/>
              </a:rPr>
              <a:t>FAA-authorized BVLOS drone highways — Chesapeake Bay corridor</a:t>
            </a:r>
          </a:p>
        </p:txBody>
      </p:sp>
      <p:sp>
        <p:nvSpPr>
          <p:cNvPr id="10" name="TextBox 9"/>
          <p:cNvSpPr txBox="1"/>
          <p:nvPr/>
        </p:nvSpPr>
        <p:spPr>
          <a:xfrm>
            <a:off x="244560" y="2130000"/>
            <a:ext cx="1880000" cy="310000"/>
          </a:xfrm>
          <a:prstGeom prst="rect">
            <a:avLst/>
          </a:prstGeom>
          <a:noFill/>
        </p:spPr>
        <p:txBody>
          <a:bodyPr wrap="square">
            <a:spAutoFit/>
          </a:bodyPr>
          <a:lstStyle/>
          <a:p>
            <a:pPr algn="l"/>
            <a:r>
              <a:rPr sz="900" b="0" i="0" dirty="0">
                <a:solidFill>
                  <a:srgbClr val="CADCFC"/>
                </a:solidFill>
                <a:latin typeface="Calibri"/>
              </a:rPr>
              <a:t>UMD UROC owns it: $1.3M state-funded infrastructure</a:t>
            </a:r>
          </a:p>
        </p:txBody>
      </p:sp>
      <p:sp>
        <p:nvSpPr>
          <p:cNvPr id="11" name="TextBox 10"/>
          <p:cNvSpPr txBox="1"/>
          <p:nvPr/>
        </p:nvSpPr>
        <p:spPr>
          <a:xfrm>
            <a:off x="244560" y="2566601"/>
            <a:ext cx="1880000" cy="310000"/>
          </a:xfrm>
          <a:prstGeom prst="rect">
            <a:avLst/>
          </a:prstGeom>
          <a:noFill/>
        </p:spPr>
        <p:txBody>
          <a:bodyPr wrap="square">
            <a:spAutoFit/>
          </a:bodyPr>
          <a:lstStyle/>
          <a:p>
            <a:pPr algn="l"/>
            <a:r>
              <a:rPr sz="900" b="0" i="0" dirty="0">
                <a:solidFill>
                  <a:srgbClr val="CADCFC"/>
                </a:solidFill>
                <a:latin typeface="Calibri"/>
              </a:rPr>
              <a:t>KAI-</a:t>
            </a:r>
            <a:r>
              <a:rPr sz="900" b="0" i="0" dirty="0" err="1">
                <a:solidFill>
                  <a:srgbClr val="CADCFC"/>
                </a:solidFill>
                <a:latin typeface="Calibri"/>
              </a:rPr>
              <a:t>Netics</a:t>
            </a:r>
            <a:r>
              <a:rPr sz="900" b="0" i="0" dirty="0">
                <a:solidFill>
                  <a:srgbClr val="CADCFC"/>
                </a:solidFill>
                <a:latin typeface="Calibri"/>
              </a:rPr>
              <a:t>: First commercial 3PL at Baltimore endpoint</a:t>
            </a:r>
          </a:p>
        </p:txBody>
      </p:sp>
      <p:sp>
        <p:nvSpPr>
          <p:cNvPr id="12" name="TextBox 11"/>
          <p:cNvSpPr txBox="1"/>
          <p:nvPr/>
        </p:nvSpPr>
        <p:spPr>
          <a:xfrm>
            <a:off x="244560" y="2954300"/>
            <a:ext cx="1880000" cy="310000"/>
          </a:xfrm>
          <a:prstGeom prst="rect">
            <a:avLst/>
          </a:prstGeom>
          <a:noFill/>
        </p:spPr>
        <p:txBody>
          <a:bodyPr wrap="square">
            <a:spAutoFit/>
          </a:bodyPr>
          <a:lstStyle/>
          <a:p>
            <a:pPr algn="l"/>
            <a:r>
              <a:rPr sz="900" b="0" i="0" dirty="0">
                <a:solidFill>
                  <a:srgbClr val="CADCFC"/>
                </a:solidFill>
                <a:latin typeface="Calibri"/>
              </a:rPr>
              <a:t>MONK: Signs mission + validates corridor access before every flight</a:t>
            </a:r>
          </a:p>
        </p:txBody>
      </p:sp>
      <p:sp>
        <p:nvSpPr>
          <p:cNvPr id="13" name="Can 12"/>
          <p:cNvSpPr/>
          <p:nvPr/>
        </p:nvSpPr>
        <p:spPr>
          <a:xfrm>
            <a:off x="2213600" y="3035700"/>
            <a:ext cx="198933" cy="228600"/>
          </a:xfrm>
          <a:prstGeom prst="can">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442533" y="1300000"/>
            <a:ext cx="2000000" cy="3421192"/>
          </a:xfrm>
          <a:prstGeom prst="rect">
            <a:avLst/>
          </a:prstGeom>
          <a:solidFill>
            <a:srgbClr val="1E3A5F"/>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259653" y="1060000"/>
            <a:ext cx="365760" cy="36576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59653" y="1060000"/>
            <a:ext cx="365760" cy="365760"/>
          </a:xfrm>
          <a:prstGeom prst="rect">
            <a:avLst/>
          </a:prstGeom>
          <a:noFill/>
        </p:spPr>
        <p:txBody>
          <a:bodyPr wrap="square">
            <a:spAutoFit/>
          </a:bodyPr>
          <a:lstStyle/>
          <a:p>
            <a:pPr algn="ctr"/>
            <a:r>
              <a:rPr sz="1600" b="1" i="0">
                <a:solidFill>
                  <a:srgbClr val="FFFFFF"/>
                </a:solidFill>
                <a:latin typeface="Calibri"/>
              </a:rPr>
              <a:t>2</a:t>
            </a:r>
          </a:p>
        </p:txBody>
      </p:sp>
      <p:sp>
        <p:nvSpPr>
          <p:cNvPr id="17" name="TextBox 16"/>
          <p:cNvSpPr txBox="1"/>
          <p:nvPr/>
        </p:nvSpPr>
        <p:spPr>
          <a:xfrm>
            <a:off x="2442533" y="1320000"/>
            <a:ext cx="2000000" cy="240000"/>
          </a:xfrm>
          <a:prstGeom prst="rect">
            <a:avLst/>
          </a:prstGeom>
          <a:noFill/>
        </p:spPr>
        <p:txBody>
          <a:bodyPr wrap="square">
            <a:spAutoFit/>
          </a:bodyPr>
          <a:lstStyle/>
          <a:p>
            <a:pPr algn="ctr"/>
            <a:r>
              <a:rPr sz="1200" b="1" i="0">
                <a:solidFill>
                  <a:srgbClr val="F5A623"/>
                </a:solidFill>
                <a:latin typeface="Calibri"/>
              </a:rPr>
              <a:t>DFR Pad</a:t>
            </a:r>
          </a:p>
        </p:txBody>
      </p:sp>
      <p:sp>
        <p:nvSpPr>
          <p:cNvPr id="18" name="TextBox 17"/>
          <p:cNvSpPr txBox="1"/>
          <p:nvPr/>
        </p:nvSpPr>
        <p:spPr>
          <a:xfrm>
            <a:off x="2503493" y="1580000"/>
            <a:ext cx="1880000" cy="310000"/>
          </a:xfrm>
          <a:prstGeom prst="rect">
            <a:avLst/>
          </a:prstGeom>
          <a:noFill/>
        </p:spPr>
        <p:txBody>
          <a:bodyPr wrap="square">
            <a:spAutoFit/>
          </a:bodyPr>
          <a:lstStyle/>
          <a:p>
            <a:pPr algn="l"/>
            <a:r>
              <a:rPr sz="900" b="0" i="0" dirty="0">
                <a:solidFill>
                  <a:srgbClr val="CADCFC"/>
                </a:solidFill>
                <a:latin typeface="Calibri"/>
              </a:rPr>
              <a:t>Physical drone landing, launch &amp; charge station at customer site</a:t>
            </a:r>
          </a:p>
        </p:txBody>
      </p:sp>
      <p:sp>
        <p:nvSpPr>
          <p:cNvPr id="19" name="TextBox 18"/>
          <p:cNvSpPr txBox="1"/>
          <p:nvPr/>
        </p:nvSpPr>
        <p:spPr>
          <a:xfrm>
            <a:off x="2503493" y="1953945"/>
            <a:ext cx="1880000" cy="310000"/>
          </a:xfrm>
          <a:prstGeom prst="rect">
            <a:avLst/>
          </a:prstGeom>
          <a:noFill/>
        </p:spPr>
        <p:txBody>
          <a:bodyPr wrap="square">
            <a:spAutoFit/>
          </a:bodyPr>
          <a:lstStyle/>
          <a:p>
            <a:pPr algn="l"/>
            <a:r>
              <a:rPr sz="900" b="0" i="0" dirty="0">
                <a:solidFill>
                  <a:srgbClr val="CADCFC"/>
                </a:solidFill>
                <a:latin typeface="Calibri"/>
              </a:rPr>
              <a:t>The moat: Whoever installs the pad owns the logistics relationship</a:t>
            </a:r>
          </a:p>
        </p:txBody>
      </p:sp>
      <p:sp>
        <p:nvSpPr>
          <p:cNvPr id="20" name="TextBox 19"/>
          <p:cNvSpPr txBox="1"/>
          <p:nvPr/>
        </p:nvSpPr>
        <p:spPr>
          <a:xfrm>
            <a:off x="2503493" y="2388165"/>
            <a:ext cx="1880000" cy="310000"/>
          </a:xfrm>
          <a:prstGeom prst="rect">
            <a:avLst/>
          </a:prstGeom>
          <a:noFill/>
        </p:spPr>
        <p:txBody>
          <a:bodyPr wrap="square">
            <a:spAutoFit/>
          </a:bodyPr>
          <a:lstStyle/>
          <a:p>
            <a:pPr algn="l"/>
            <a:r>
              <a:rPr sz="900" b="0" i="0" dirty="0">
                <a:solidFill>
                  <a:srgbClr val="CADCFC"/>
                </a:solidFill>
                <a:latin typeface="Calibri"/>
              </a:rPr>
              <a:t>Targets: UMMS Sparrows Point, UMMC downtown, resiliency hubs</a:t>
            </a:r>
          </a:p>
        </p:txBody>
      </p:sp>
      <p:sp>
        <p:nvSpPr>
          <p:cNvPr id="21" name="TextBox 20"/>
          <p:cNvSpPr txBox="1"/>
          <p:nvPr/>
        </p:nvSpPr>
        <p:spPr>
          <a:xfrm>
            <a:off x="2503493" y="2795441"/>
            <a:ext cx="1880000" cy="310000"/>
          </a:xfrm>
          <a:prstGeom prst="rect">
            <a:avLst/>
          </a:prstGeom>
          <a:noFill/>
        </p:spPr>
        <p:txBody>
          <a:bodyPr wrap="square">
            <a:spAutoFit/>
          </a:bodyPr>
          <a:lstStyle/>
          <a:p>
            <a:pPr algn="l"/>
            <a:r>
              <a:rPr sz="900" b="0" i="0" dirty="0">
                <a:solidFill>
                  <a:srgbClr val="CADCFC"/>
                </a:solidFill>
                <a:latin typeface="Calibri"/>
              </a:rPr>
              <a:t>Funded by: FEMA, MEIA, MEA Resilient MD — built with OPM</a:t>
            </a:r>
          </a:p>
        </p:txBody>
      </p:sp>
      <p:sp>
        <p:nvSpPr>
          <p:cNvPr id="22" name="Can 21"/>
          <p:cNvSpPr/>
          <p:nvPr/>
        </p:nvSpPr>
        <p:spPr>
          <a:xfrm>
            <a:off x="4472533" y="3035700"/>
            <a:ext cx="198933" cy="228600"/>
          </a:xfrm>
          <a:prstGeom prst="can">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701466" y="1300000"/>
            <a:ext cx="2000000" cy="3421192"/>
          </a:xfrm>
          <a:prstGeom prst="rect">
            <a:avLst/>
          </a:prstGeom>
          <a:solidFill>
            <a:srgbClr val="1E3A5F"/>
          </a:solidFill>
          <a:ln w="19050">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518586" y="1060000"/>
            <a:ext cx="365760" cy="365760"/>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518586" y="1060000"/>
            <a:ext cx="365760" cy="365760"/>
          </a:xfrm>
          <a:prstGeom prst="rect">
            <a:avLst/>
          </a:prstGeom>
          <a:noFill/>
        </p:spPr>
        <p:txBody>
          <a:bodyPr wrap="square">
            <a:spAutoFit/>
          </a:bodyPr>
          <a:lstStyle/>
          <a:p>
            <a:pPr algn="ctr"/>
            <a:r>
              <a:rPr sz="1600" b="1" i="0">
                <a:solidFill>
                  <a:srgbClr val="FFFFFF"/>
                </a:solidFill>
                <a:latin typeface="Calibri"/>
              </a:rPr>
              <a:t>3</a:t>
            </a:r>
          </a:p>
        </p:txBody>
      </p:sp>
      <p:sp>
        <p:nvSpPr>
          <p:cNvPr id="26" name="TextBox 25"/>
          <p:cNvSpPr txBox="1"/>
          <p:nvPr/>
        </p:nvSpPr>
        <p:spPr>
          <a:xfrm>
            <a:off x="4701466" y="1320000"/>
            <a:ext cx="2000000" cy="240000"/>
          </a:xfrm>
          <a:prstGeom prst="rect">
            <a:avLst/>
          </a:prstGeom>
          <a:noFill/>
        </p:spPr>
        <p:txBody>
          <a:bodyPr wrap="square">
            <a:spAutoFit/>
          </a:bodyPr>
          <a:lstStyle/>
          <a:p>
            <a:pPr algn="ctr"/>
            <a:r>
              <a:rPr sz="1200" b="1" i="0">
                <a:solidFill>
                  <a:srgbClr val="02C39A"/>
                </a:solidFill>
                <a:latin typeface="Calibri"/>
              </a:rPr>
              <a:t>CAKO Operator</a:t>
            </a:r>
          </a:p>
        </p:txBody>
      </p:sp>
      <p:sp>
        <p:nvSpPr>
          <p:cNvPr id="27" name="TextBox 26"/>
          <p:cNvSpPr txBox="1"/>
          <p:nvPr/>
        </p:nvSpPr>
        <p:spPr>
          <a:xfrm>
            <a:off x="4762426" y="1580000"/>
            <a:ext cx="1880000" cy="310000"/>
          </a:xfrm>
          <a:prstGeom prst="rect">
            <a:avLst/>
          </a:prstGeom>
          <a:noFill/>
        </p:spPr>
        <p:txBody>
          <a:bodyPr wrap="square">
            <a:spAutoFit/>
          </a:bodyPr>
          <a:lstStyle/>
          <a:p>
            <a:pPr algn="l"/>
            <a:r>
              <a:rPr sz="900" b="0" i="0" dirty="0">
                <a:solidFill>
                  <a:srgbClr val="CADCFC"/>
                </a:solidFill>
                <a:latin typeface="Calibri"/>
              </a:rPr>
              <a:t>FAA Part 107 certified Baltimore resident operating from DFR pad</a:t>
            </a:r>
          </a:p>
        </p:txBody>
      </p:sp>
      <p:sp>
        <p:nvSpPr>
          <p:cNvPr id="28" name="TextBox 27"/>
          <p:cNvSpPr txBox="1"/>
          <p:nvPr/>
        </p:nvSpPr>
        <p:spPr>
          <a:xfrm>
            <a:off x="4754880" y="2069980"/>
            <a:ext cx="1880000" cy="310000"/>
          </a:xfrm>
          <a:prstGeom prst="rect">
            <a:avLst/>
          </a:prstGeom>
          <a:noFill/>
        </p:spPr>
        <p:txBody>
          <a:bodyPr wrap="square">
            <a:spAutoFit/>
          </a:bodyPr>
          <a:lstStyle/>
          <a:p>
            <a:pPr algn="l"/>
            <a:r>
              <a:rPr sz="900" b="0" i="0" dirty="0">
                <a:solidFill>
                  <a:srgbClr val="CADCFC"/>
                </a:solidFill>
                <a:latin typeface="Calibri"/>
              </a:rPr>
              <a:t>MONK authorizes: LAANC clearance + signed mission package before wheels-up</a:t>
            </a:r>
          </a:p>
        </p:txBody>
      </p:sp>
      <p:sp>
        <p:nvSpPr>
          <p:cNvPr id="29" name="TextBox 28"/>
          <p:cNvSpPr txBox="1"/>
          <p:nvPr/>
        </p:nvSpPr>
        <p:spPr>
          <a:xfrm>
            <a:off x="4754880" y="2689220"/>
            <a:ext cx="1880000" cy="310000"/>
          </a:xfrm>
          <a:prstGeom prst="rect">
            <a:avLst/>
          </a:prstGeom>
          <a:noFill/>
        </p:spPr>
        <p:txBody>
          <a:bodyPr wrap="square">
            <a:spAutoFit/>
          </a:bodyPr>
          <a:lstStyle/>
          <a:p>
            <a:pPr algn="l"/>
            <a:r>
              <a:rPr sz="900" b="0" i="0" dirty="0">
                <a:solidFill>
                  <a:srgbClr val="CADCFC"/>
                </a:solidFill>
                <a:latin typeface="Calibri"/>
              </a:rPr>
              <a:t>EAF trains; FP hires via Talent Pipeline Agreement</a:t>
            </a:r>
          </a:p>
        </p:txBody>
      </p:sp>
      <p:sp>
        <p:nvSpPr>
          <p:cNvPr id="30" name="Can 29"/>
          <p:cNvSpPr/>
          <p:nvPr/>
        </p:nvSpPr>
        <p:spPr>
          <a:xfrm>
            <a:off x="6731466" y="3035700"/>
            <a:ext cx="198933" cy="228600"/>
          </a:xfrm>
          <a:prstGeom prst="can">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960399" y="1300000"/>
            <a:ext cx="2000000" cy="3421192"/>
          </a:xfrm>
          <a:prstGeom prst="rect">
            <a:avLst/>
          </a:prstGeom>
          <a:solidFill>
            <a:srgbClr val="1E3A5F"/>
          </a:solidFill>
          <a:ln w="1905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777519" y="1060000"/>
            <a:ext cx="365760" cy="365760"/>
          </a:xfrm>
          <a:prstGeom prst="ellipse">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7519" y="1060000"/>
            <a:ext cx="365760" cy="365760"/>
          </a:xfrm>
          <a:prstGeom prst="rect">
            <a:avLst/>
          </a:prstGeom>
          <a:noFill/>
        </p:spPr>
        <p:txBody>
          <a:bodyPr wrap="square">
            <a:spAutoFit/>
          </a:bodyPr>
          <a:lstStyle/>
          <a:p>
            <a:pPr algn="ctr"/>
            <a:r>
              <a:rPr sz="1600" b="1" i="0">
                <a:solidFill>
                  <a:srgbClr val="1E3A5F"/>
                </a:solidFill>
                <a:latin typeface="Calibri"/>
              </a:rPr>
              <a:t>4</a:t>
            </a:r>
          </a:p>
        </p:txBody>
      </p:sp>
      <p:sp>
        <p:nvSpPr>
          <p:cNvPr id="34" name="TextBox 33"/>
          <p:cNvSpPr txBox="1"/>
          <p:nvPr/>
        </p:nvSpPr>
        <p:spPr>
          <a:xfrm>
            <a:off x="6960399" y="1320000"/>
            <a:ext cx="2000000" cy="240000"/>
          </a:xfrm>
          <a:prstGeom prst="rect">
            <a:avLst/>
          </a:prstGeom>
          <a:noFill/>
        </p:spPr>
        <p:txBody>
          <a:bodyPr wrap="square">
            <a:spAutoFit/>
          </a:bodyPr>
          <a:lstStyle/>
          <a:p>
            <a:pPr algn="ctr"/>
            <a:r>
              <a:rPr sz="1200" b="1" i="0">
                <a:solidFill>
                  <a:srgbClr val="CADCFC"/>
                </a:solidFill>
                <a:latin typeface="Calibri"/>
              </a:rPr>
              <a:t>Last-Mile Delivery</a:t>
            </a:r>
          </a:p>
        </p:txBody>
      </p:sp>
      <p:sp>
        <p:nvSpPr>
          <p:cNvPr id="35" name="TextBox 34"/>
          <p:cNvSpPr txBox="1"/>
          <p:nvPr/>
        </p:nvSpPr>
        <p:spPr>
          <a:xfrm>
            <a:off x="7021359" y="1580000"/>
            <a:ext cx="1880000" cy="507831"/>
          </a:xfrm>
          <a:prstGeom prst="rect">
            <a:avLst/>
          </a:prstGeom>
          <a:noFill/>
        </p:spPr>
        <p:txBody>
          <a:bodyPr wrap="square">
            <a:spAutoFit/>
          </a:bodyPr>
          <a:lstStyle/>
          <a:p>
            <a:pPr algn="l"/>
            <a:r>
              <a:rPr sz="900" b="0" i="0" dirty="0">
                <a:solidFill>
                  <a:srgbClr val="CADEFC"/>
                </a:solidFill>
                <a:latin typeface="Calibri"/>
              </a:rPr>
              <a:t>Tier</a:t>
            </a:r>
            <a:r>
              <a:rPr sz="900" b="0" i="0" dirty="0">
                <a:solidFill>
                  <a:srgbClr val="0A2240"/>
                </a:solidFill>
                <a:latin typeface="Calibri"/>
              </a:rPr>
              <a:t> </a:t>
            </a:r>
            <a:r>
              <a:rPr sz="900" dirty="0">
                <a:solidFill>
                  <a:srgbClr val="CADEFC"/>
                </a:solidFill>
                <a:latin typeface="Calibri"/>
              </a:rPr>
              <a:t>1: UMMS hospitals (11), Hopkins labs, Baltimore resiliency hubs (7)</a:t>
            </a:r>
          </a:p>
        </p:txBody>
      </p:sp>
      <p:sp>
        <p:nvSpPr>
          <p:cNvPr id="36" name="TextBox 35"/>
          <p:cNvSpPr txBox="1"/>
          <p:nvPr/>
        </p:nvSpPr>
        <p:spPr>
          <a:xfrm>
            <a:off x="7021359" y="2138261"/>
            <a:ext cx="1880000" cy="369332"/>
          </a:xfrm>
          <a:prstGeom prst="rect">
            <a:avLst/>
          </a:prstGeom>
          <a:noFill/>
        </p:spPr>
        <p:txBody>
          <a:bodyPr wrap="square">
            <a:spAutoFit/>
          </a:bodyPr>
          <a:lstStyle/>
          <a:p>
            <a:pPr algn="l"/>
            <a:r>
              <a:rPr sz="900" dirty="0">
                <a:solidFill>
                  <a:srgbClr val="CADEFC"/>
                </a:solidFill>
                <a:latin typeface="Calibri"/>
              </a:rPr>
              <a:t>Payloads: Surgical kits, specimens, Rx, emergency supply</a:t>
            </a:r>
          </a:p>
        </p:txBody>
      </p:sp>
      <p:sp>
        <p:nvSpPr>
          <p:cNvPr id="37" name="TextBox 36"/>
          <p:cNvSpPr txBox="1"/>
          <p:nvPr/>
        </p:nvSpPr>
        <p:spPr>
          <a:xfrm>
            <a:off x="7021359" y="2566601"/>
            <a:ext cx="1880000" cy="369332"/>
          </a:xfrm>
          <a:prstGeom prst="rect">
            <a:avLst/>
          </a:prstGeom>
          <a:noFill/>
        </p:spPr>
        <p:txBody>
          <a:bodyPr wrap="square">
            <a:spAutoFit/>
          </a:bodyPr>
          <a:lstStyle/>
          <a:p>
            <a:pPr algn="l"/>
            <a:r>
              <a:rPr sz="900" dirty="0">
                <a:solidFill>
                  <a:srgbClr val="CADEFC"/>
                </a:solidFill>
                <a:latin typeface="Calibri"/>
              </a:rPr>
              <a:t>At scale: New trip categories emerge below Jevons Threshold</a:t>
            </a:r>
          </a:p>
        </p:txBody>
      </p:sp>
      <p:sp>
        <p:nvSpPr>
          <p:cNvPr id="38" name="Rectangle 37"/>
          <p:cNvSpPr/>
          <p:nvPr/>
        </p:nvSpPr>
        <p:spPr>
          <a:xfrm>
            <a:off x="183600" y="4793803"/>
            <a:ext cx="8776800" cy="280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4793803"/>
            <a:ext cx="8414000" cy="280000"/>
          </a:xfrm>
          <a:prstGeom prst="rect">
            <a:avLst/>
          </a:prstGeom>
          <a:noFill/>
        </p:spPr>
        <p:txBody>
          <a:bodyPr wrap="square">
            <a:spAutoFit/>
          </a:bodyPr>
          <a:lstStyle/>
          <a:p>
            <a:pPr algn="ctr"/>
            <a:r>
              <a:rPr sz="1000" b="1" i="1" dirty="0">
                <a:solidFill>
                  <a:srgbClr val="FFFFFF"/>
                </a:solidFill>
                <a:latin typeface="Calibri"/>
              </a:rPr>
              <a:t>MONK signs every mission at Step 3. Every delivery generates telemetry that makes MONK smarter and the network cheaper to operate.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0000" y="60000"/>
            <a:ext cx="8644000" cy="720000"/>
          </a:xfrm>
          <a:prstGeom prst="rect">
            <a:avLst/>
          </a:prstGeom>
          <a:noFill/>
        </p:spPr>
        <p:txBody>
          <a:bodyPr wrap="square">
            <a:spAutoFit/>
          </a:bodyPr>
          <a:lstStyle/>
          <a:p>
            <a:pPr algn="l"/>
            <a:r>
              <a:rPr sz="2400" b="1" i="0">
                <a:solidFill>
                  <a:srgbClr val="FFFFFF"/>
                </a:solidFill>
                <a:latin typeface="Calibri"/>
              </a:rPr>
              <a:t>The Double Helix: Why This Model Compounds</a:t>
            </a:r>
          </a:p>
        </p:txBody>
      </p:sp>
      <p:sp>
        <p:nvSpPr>
          <p:cNvPr id="5" name="TextBox 4"/>
          <p:cNvSpPr txBox="1"/>
          <p:nvPr/>
        </p:nvSpPr>
        <p:spPr>
          <a:xfrm>
            <a:off x="300000" y="680000"/>
            <a:ext cx="8644000" cy="250000"/>
          </a:xfrm>
          <a:prstGeom prst="rect">
            <a:avLst/>
          </a:prstGeom>
          <a:noFill/>
        </p:spPr>
        <p:txBody>
          <a:bodyPr wrap="square">
            <a:spAutoFit/>
          </a:bodyPr>
          <a:lstStyle/>
          <a:p>
            <a:pPr algn="l"/>
            <a:r>
              <a:rPr sz="1000" b="0" i="1">
                <a:solidFill>
                  <a:srgbClr val="028090"/>
                </a:solidFill>
                <a:latin typeface="Calibri"/>
              </a:rPr>
              <a:t>Two entities. One flywheel. Structurally unreplicable by any competitor.</a:t>
            </a:r>
          </a:p>
        </p:txBody>
      </p:sp>
      <p:sp>
        <p:nvSpPr>
          <p:cNvPr id="6" name="Rectangle 5"/>
          <p:cNvSpPr/>
          <p:nvPr/>
        </p:nvSpPr>
        <p:spPr>
          <a:xfrm>
            <a:off x="300000" y="1080000"/>
            <a:ext cx="2600000" cy="1000000"/>
          </a:xfrm>
          <a:prstGeom prst="rect">
            <a:avLst/>
          </a:prstGeom>
          <a:solidFill>
            <a:srgbClr val="142A45"/>
          </a:solidFill>
          <a:ln w="18288">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00000" y="1080000"/>
            <a:ext cx="2600000" cy="38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0000" y="1135000"/>
            <a:ext cx="280000" cy="160000"/>
          </a:xfrm>
          <a:prstGeom prst="rect">
            <a:avLst/>
          </a:prstGeom>
          <a:noFill/>
        </p:spPr>
        <p:txBody>
          <a:bodyPr wrap="square">
            <a:spAutoFit/>
          </a:bodyPr>
          <a:lstStyle/>
          <a:p>
            <a:pPr algn="l"/>
            <a:r>
              <a:rPr sz="800" b="1" i="0">
                <a:solidFill>
                  <a:srgbClr val="028090"/>
                </a:solidFill>
                <a:latin typeface="Calibri"/>
              </a:rPr>
              <a:t>EAF</a:t>
            </a:r>
          </a:p>
        </p:txBody>
      </p:sp>
      <p:sp>
        <p:nvSpPr>
          <p:cNvPr id="9" name="TextBox 8"/>
          <p:cNvSpPr txBox="1"/>
          <p:nvPr/>
        </p:nvSpPr>
        <p:spPr>
          <a:xfrm>
            <a:off x="350000" y="1280000"/>
            <a:ext cx="2500000" cy="280000"/>
          </a:xfrm>
          <a:prstGeom prst="rect">
            <a:avLst/>
          </a:prstGeom>
          <a:noFill/>
        </p:spPr>
        <p:txBody>
          <a:bodyPr wrap="square">
            <a:spAutoFit/>
          </a:bodyPr>
          <a:lstStyle/>
          <a:p>
            <a:pPr algn="l"/>
            <a:r>
              <a:rPr sz="950" b="1" i="0">
                <a:solidFill>
                  <a:srgbClr val="FFFFFF"/>
                </a:solidFill>
                <a:latin typeface="Calibri"/>
              </a:rPr>
              <a:t>EAF receives grant funding</a:t>
            </a:r>
          </a:p>
        </p:txBody>
      </p:sp>
      <p:sp>
        <p:nvSpPr>
          <p:cNvPr id="10" name="TextBox 9"/>
          <p:cNvSpPr txBox="1"/>
          <p:nvPr/>
        </p:nvSpPr>
        <p:spPr>
          <a:xfrm>
            <a:off x="350000" y="1560000"/>
            <a:ext cx="2500000" cy="440000"/>
          </a:xfrm>
          <a:prstGeom prst="rect">
            <a:avLst/>
          </a:prstGeom>
          <a:noFill/>
        </p:spPr>
        <p:txBody>
          <a:bodyPr wrap="square">
            <a:spAutoFit/>
          </a:bodyPr>
          <a:lstStyle/>
          <a:p>
            <a:pPr algn="l"/>
            <a:r>
              <a:rPr sz="800" b="0" i="0">
                <a:solidFill>
                  <a:srgbClr val="CCE0EC"/>
                </a:solidFill>
                <a:latin typeface="Calibri"/>
              </a:rPr>
              <a:t>EARN MD · CDBG · FEMA SHSP
funds training at zero cost to FP</a:t>
            </a:r>
          </a:p>
        </p:txBody>
      </p:sp>
      <p:sp>
        <p:nvSpPr>
          <p:cNvPr id="11" name="Rectangle 10"/>
          <p:cNvSpPr/>
          <p:nvPr/>
        </p:nvSpPr>
        <p:spPr>
          <a:xfrm>
            <a:off x="3272000" y="1080000"/>
            <a:ext cx="2600000" cy="1000000"/>
          </a:xfrm>
          <a:prstGeom prst="rect">
            <a:avLst/>
          </a:prstGeom>
          <a:solidFill>
            <a:srgbClr val="142A45"/>
          </a:solidFill>
          <a:ln w="18288">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72000" y="1080000"/>
            <a:ext cx="2600000" cy="38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22000" y="1135000"/>
            <a:ext cx="280000" cy="160000"/>
          </a:xfrm>
          <a:prstGeom prst="rect">
            <a:avLst/>
          </a:prstGeom>
          <a:noFill/>
        </p:spPr>
        <p:txBody>
          <a:bodyPr wrap="square">
            <a:spAutoFit/>
          </a:bodyPr>
          <a:lstStyle/>
          <a:p>
            <a:pPr algn="l"/>
            <a:r>
              <a:rPr sz="800" b="1" i="0">
                <a:solidFill>
                  <a:srgbClr val="02C39A"/>
                </a:solidFill>
                <a:latin typeface="Calibri"/>
              </a:rPr>
              <a:t>EAF</a:t>
            </a:r>
          </a:p>
        </p:txBody>
      </p:sp>
      <p:sp>
        <p:nvSpPr>
          <p:cNvPr id="14" name="TextBox 13"/>
          <p:cNvSpPr txBox="1"/>
          <p:nvPr/>
        </p:nvSpPr>
        <p:spPr>
          <a:xfrm>
            <a:off x="3322000" y="1280000"/>
            <a:ext cx="2500000" cy="280000"/>
          </a:xfrm>
          <a:prstGeom prst="rect">
            <a:avLst/>
          </a:prstGeom>
          <a:noFill/>
        </p:spPr>
        <p:txBody>
          <a:bodyPr wrap="square">
            <a:spAutoFit/>
          </a:bodyPr>
          <a:lstStyle/>
          <a:p>
            <a:pPr algn="l"/>
            <a:r>
              <a:rPr sz="950" b="1" i="0">
                <a:solidFill>
                  <a:srgbClr val="FFFFFF"/>
                </a:solidFill>
                <a:latin typeface="Calibri"/>
              </a:rPr>
              <a:t>CAKO trains operators</a:t>
            </a:r>
          </a:p>
        </p:txBody>
      </p:sp>
      <p:sp>
        <p:nvSpPr>
          <p:cNvPr id="15" name="TextBox 14"/>
          <p:cNvSpPr txBox="1"/>
          <p:nvPr/>
        </p:nvSpPr>
        <p:spPr>
          <a:xfrm>
            <a:off x="3322000" y="1560000"/>
            <a:ext cx="2500000" cy="440000"/>
          </a:xfrm>
          <a:prstGeom prst="rect">
            <a:avLst/>
          </a:prstGeom>
          <a:noFill/>
        </p:spPr>
        <p:txBody>
          <a:bodyPr wrap="square">
            <a:spAutoFit/>
          </a:bodyPr>
          <a:lstStyle/>
          <a:p>
            <a:pPr algn="l"/>
            <a:r>
              <a:rPr sz="800" b="0" i="0">
                <a:solidFill>
                  <a:srgbClr val="CCE0EC"/>
                </a:solidFill>
                <a:latin typeface="Calibri"/>
              </a:rPr>
              <a:t>12–16 wks · Part 107 certified
Baltimore residents, market-rate wages</a:t>
            </a:r>
          </a:p>
        </p:txBody>
      </p:sp>
      <p:sp>
        <p:nvSpPr>
          <p:cNvPr id="16" name="Rectangle 15"/>
          <p:cNvSpPr/>
          <p:nvPr/>
        </p:nvSpPr>
        <p:spPr>
          <a:xfrm>
            <a:off x="6244000" y="1080000"/>
            <a:ext cx="2600000" cy="1000000"/>
          </a:xfrm>
          <a:prstGeom prst="rect">
            <a:avLst/>
          </a:prstGeom>
          <a:solidFill>
            <a:srgbClr val="142A45"/>
          </a:solidFill>
          <a:ln w="18288">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44000" y="1080000"/>
            <a:ext cx="2600000" cy="38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94000" y="1135000"/>
            <a:ext cx="280000" cy="160000"/>
          </a:xfrm>
          <a:prstGeom prst="rect">
            <a:avLst/>
          </a:prstGeom>
          <a:noFill/>
        </p:spPr>
        <p:txBody>
          <a:bodyPr wrap="square">
            <a:spAutoFit/>
          </a:bodyPr>
          <a:lstStyle/>
          <a:p>
            <a:pPr algn="l"/>
            <a:r>
              <a:rPr sz="800" b="1" i="0">
                <a:solidFill>
                  <a:srgbClr val="028090"/>
                </a:solidFill>
                <a:latin typeface="Calibri"/>
              </a:rPr>
              <a:t>EAF</a:t>
            </a:r>
          </a:p>
        </p:txBody>
      </p:sp>
      <p:sp>
        <p:nvSpPr>
          <p:cNvPr id="19" name="TextBox 18"/>
          <p:cNvSpPr txBox="1"/>
          <p:nvPr/>
        </p:nvSpPr>
        <p:spPr>
          <a:xfrm>
            <a:off x="6294000" y="1280000"/>
            <a:ext cx="2500000" cy="280000"/>
          </a:xfrm>
          <a:prstGeom prst="rect">
            <a:avLst/>
          </a:prstGeom>
          <a:noFill/>
        </p:spPr>
        <p:txBody>
          <a:bodyPr wrap="square">
            <a:spAutoFit/>
          </a:bodyPr>
          <a:lstStyle/>
          <a:p>
            <a:pPr algn="l"/>
            <a:r>
              <a:rPr sz="950" b="1" i="0">
                <a:solidFill>
                  <a:srgbClr val="FFFFFF"/>
                </a:solidFill>
                <a:latin typeface="Calibri"/>
              </a:rPr>
              <a:t>More grants fund more cohorts</a:t>
            </a:r>
          </a:p>
        </p:txBody>
      </p:sp>
      <p:sp>
        <p:nvSpPr>
          <p:cNvPr id="20" name="TextBox 19"/>
          <p:cNvSpPr txBox="1"/>
          <p:nvPr/>
        </p:nvSpPr>
        <p:spPr>
          <a:xfrm>
            <a:off x="6294000" y="1560000"/>
            <a:ext cx="2500000" cy="440000"/>
          </a:xfrm>
          <a:prstGeom prst="rect">
            <a:avLst/>
          </a:prstGeom>
          <a:noFill/>
        </p:spPr>
        <p:txBody>
          <a:bodyPr wrap="square">
            <a:spAutoFit/>
          </a:bodyPr>
          <a:lstStyle/>
          <a:p>
            <a:pPr algn="l"/>
            <a:r>
              <a:rPr sz="800" b="0" i="0">
                <a:solidFill>
                  <a:srgbClr val="CCE0EC"/>
                </a:solidFill>
                <a:latin typeface="Calibri"/>
              </a:rPr>
              <a:t>Grant credibility grows with
each revenue-validated cohort</a:t>
            </a:r>
          </a:p>
        </p:txBody>
      </p:sp>
      <p:sp>
        <p:nvSpPr>
          <p:cNvPr id="21" name="Rectangle 20"/>
          <p:cNvSpPr/>
          <p:nvPr/>
        </p:nvSpPr>
        <p:spPr>
          <a:xfrm>
            <a:off x="300000" y="2450000"/>
            <a:ext cx="2600000" cy="1000000"/>
          </a:xfrm>
          <a:prstGeom prst="rect">
            <a:avLst/>
          </a:prstGeom>
          <a:solidFill>
            <a:srgbClr val="142A45"/>
          </a:solidFill>
          <a:ln w="18288">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00000" y="2450000"/>
            <a:ext cx="2600000" cy="3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0000" y="2505000"/>
            <a:ext cx="280000" cy="160000"/>
          </a:xfrm>
          <a:prstGeom prst="rect">
            <a:avLst/>
          </a:prstGeom>
          <a:noFill/>
        </p:spPr>
        <p:txBody>
          <a:bodyPr wrap="square">
            <a:spAutoFit/>
          </a:bodyPr>
          <a:lstStyle/>
          <a:p>
            <a:pPr algn="l"/>
            <a:r>
              <a:rPr sz="800" b="1" i="0">
                <a:solidFill>
                  <a:srgbClr val="F5A623"/>
                </a:solidFill>
                <a:latin typeface="Calibri"/>
              </a:rPr>
              <a:t>FP</a:t>
            </a:r>
          </a:p>
        </p:txBody>
      </p:sp>
      <p:sp>
        <p:nvSpPr>
          <p:cNvPr id="24" name="TextBox 23"/>
          <p:cNvSpPr txBox="1"/>
          <p:nvPr/>
        </p:nvSpPr>
        <p:spPr>
          <a:xfrm>
            <a:off x="350000" y="2650000"/>
            <a:ext cx="2500000" cy="280000"/>
          </a:xfrm>
          <a:prstGeom prst="rect">
            <a:avLst/>
          </a:prstGeom>
          <a:noFill/>
        </p:spPr>
        <p:txBody>
          <a:bodyPr wrap="square">
            <a:spAutoFit/>
          </a:bodyPr>
          <a:lstStyle/>
          <a:p>
            <a:pPr algn="l"/>
            <a:r>
              <a:rPr sz="950" b="1" i="0">
                <a:solidFill>
                  <a:srgbClr val="FFFFFF"/>
                </a:solidFill>
                <a:latin typeface="Calibri"/>
              </a:rPr>
              <a:t>FP closes contracts</a:t>
            </a:r>
          </a:p>
        </p:txBody>
      </p:sp>
      <p:sp>
        <p:nvSpPr>
          <p:cNvPr id="25" name="TextBox 24"/>
          <p:cNvSpPr txBox="1"/>
          <p:nvPr/>
        </p:nvSpPr>
        <p:spPr>
          <a:xfrm>
            <a:off x="350000" y="2930000"/>
            <a:ext cx="2500000" cy="440000"/>
          </a:xfrm>
          <a:prstGeom prst="rect">
            <a:avLst/>
          </a:prstGeom>
          <a:noFill/>
        </p:spPr>
        <p:txBody>
          <a:bodyPr wrap="square">
            <a:spAutoFit/>
          </a:bodyPr>
          <a:lstStyle/>
          <a:p>
            <a:pPr algn="l"/>
            <a:r>
              <a:rPr sz="800" b="0" i="0">
                <a:solidFill>
                  <a:srgbClr val="CCE0EC"/>
                </a:solidFill>
                <a:latin typeface="Calibri"/>
              </a:rPr>
              <a:t>Kevin sells · EAF grads deliver
no training overhead on FP balance sheet</a:t>
            </a:r>
          </a:p>
        </p:txBody>
      </p:sp>
      <p:sp>
        <p:nvSpPr>
          <p:cNvPr id="26" name="Rectangle 25"/>
          <p:cNvSpPr/>
          <p:nvPr/>
        </p:nvSpPr>
        <p:spPr>
          <a:xfrm>
            <a:off x="3272000" y="2450000"/>
            <a:ext cx="2600000" cy="1000000"/>
          </a:xfrm>
          <a:prstGeom prst="rect">
            <a:avLst/>
          </a:prstGeom>
          <a:solidFill>
            <a:srgbClr val="142A45"/>
          </a:solidFill>
          <a:ln w="18288">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72000" y="2450000"/>
            <a:ext cx="2600000" cy="3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22000" y="2505000"/>
            <a:ext cx="280000" cy="160000"/>
          </a:xfrm>
          <a:prstGeom prst="rect">
            <a:avLst/>
          </a:prstGeom>
          <a:noFill/>
        </p:spPr>
        <p:txBody>
          <a:bodyPr wrap="square">
            <a:spAutoFit/>
          </a:bodyPr>
          <a:lstStyle/>
          <a:p>
            <a:pPr algn="l"/>
            <a:r>
              <a:rPr sz="800" b="1" i="0">
                <a:solidFill>
                  <a:srgbClr val="F5A623"/>
                </a:solidFill>
                <a:latin typeface="Calibri"/>
              </a:rPr>
              <a:t>FP</a:t>
            </a:r>
          </a:p>
        </p:txBody>
      </p:sp>
      <p:sp>
        <p:nvSpPr>
          <p:cNvPr id="29" name="TextBox 28"/>
          <p:cNvSpPr txBox="1"/>
          <p:nvPr/>
        </p:nvSpPr>
        <p:spPr>
          <a:xfrm>
            <a:off x="3322000" y="2650000"/>
            <a:ext cx="2500000" cy="280000"/>
          </a:xfrm>
          <a:prstGeom prst="rect">
            <a:avLst/>
          </a:prstGeom>
          <a:noFill/>
        </p:spPr>
        <p:txBody>
          <a:bodyPr wrap="square">
            <a:spAutoFit/>
          </a:bodyPr>
          <a:lstStyle/>
          <a:p>
            <a:pPr algn="l"/>
            <a:r>
              <a:rPr sz="950" b="1" i="0">
                <a:solidFill>
                  <a:srgbClr val="FFFFFF"/>
                </a:solidFill>
                <a:latin typeface="Calibri"/>
              </a:rPr>
              <a:t>Revenue validates EAF mission</a:t>
            </a:r>
          </a:p>
        </p:txBody>
      </p:sp>
      <p:sp>
        <p:nvSpPr>
          <p:cNvPr id="30" name="TextBox 29"/>
          <p:cNvSpPr txBox="1"/>
          <p:nvPr/>
        </p:nvSpPr>
        <p:spPr>
          <a:xfrm>
            <a:off x="3322000" y="2930000"/>
            <a:ext cx="2500000" cy="440000"/>
          </a:xfrm>
          <a:prstGeom prst="rect">
            <a:avLst/>
          </a:prstGeom>
          <a:noFill/>
        </p:spPr>
        <p:txBody>
          <a:bodyPr wrap="square">
            <a:spAutoFit/>
          </a:bodyPr>
          <a:lstStyle/>
          <a:p>
            <a:pPr algn="l"/>
            <a:r>
              <a:rPr sz="800" b="0" i="0">
                <a:solidFill>
                  <a:srgbClr val="CCE0EC"/>
                </a:solidFill>
                <a:latin typeface="Calibri"/>
              </a:rPr>
              <a:t>More contracts = more grant credibility
= more EARN / CDBG approvals</a:t>
            </a:r>
          </a:p>
        </p:txBody>
      </p:sp>
      <p:sp>
        <p:nvSpPr>
          <p:cNvPr id="31" name="Rectangle 30"/>
          <p:cNvSpPr/>
          <p:nvPr/>
        </p:nvSpPr>
        <p:spPr>
          <a:xfrm>
            <a:off x="6244000" y="2450000"/>
            <a:ext cx="2600000" cy="1000000"/>
          </a:xfrm>
          <a:prstGeom prst="rect">
            <a:avLst/>
          </a:prstGeom>
          <a:solidFill>
            <a:srgbClr val="142A45"/>
          </a:solidFill>
          <a:ln w="18288">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44000" y="2450000"/>
            <a:ext cx="2600000" cy="38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94000" y="2505000"/>
            <a:ext cx="280000" cy="160000"/>
          </a:xfrm>
          <a:prstGeom prst="rect">
            <a:avLst/>
          </a:prstGeom>
          <a:noFill/>
        </p:spPr>
        <p:txBody>
          <a:bodyPr wrap="square">
            <a:spAutoFit/>
          </a:bodyPr>
          <a:lstStyle/>
          <a:p>
            <a:pPr algn="l"/>
            <a:r>
              <a:rPr sz="800" b="1" i="0">
                <a:solidFill>
                  <a:srgbClr val="02C39A"/>
                </a:solidFill>
                <a:latin typeface="Calibri"/>
              </a:rPr>
              <a:t>FP</a:t>
            </a:r>
          </a:p>
        </p:txBody>
      </p:sp>
      <p:sp>
        <p:nvSpPr>
          <p:cNvPr id="34" name="TextBox 33"/>
          <p:cNvSpPr txBox="1"/>
          <p:nvPr/>
        </p:nvSpPr>
        <p:spPr>
          <a:xfrm>
            <a:off x="6294000" y="2650000"/>
            <a:ext cx="2500000" cy="280000"/>
          </a:xfrm>
          <a:prstGeom prst="rect">
            <a:avLst/>
          </a:prstGeom>
          <a:noFill/>
        </p:spPr>
        <p:txBody>
          <a:bodyPr wrap="square">
            <a:spAutoFit/>
          </a:bodyPr>
          <a:lstStyle/>
          <a:p>
            <a:pPr algn="l"/>
            <a:r>
              <a:rPr sz="950" b="1" i="0">
                <a:solidFill>
                  <a:srgbClr val="FFFFFF"/>
                </a:solidFill>
                <a:latin typeface="Calibri"/>
              </a:rPr>
              <a:t>Lower cost/flight expands market</a:t>
            </a:r>
          </a:p>
        </p:txBody>
      </p:sp>
      <p:sp>
        <p:nvSpPr>
          <p:cNvPr id="35" name="TextBox 34"/>
          <p:cNvSpPr txBox="1"/>
          <p:nvPr/>
        </p:nvSpPr>
        <p:spPr>
          <a:xfrm>
            <a:off x="6294000" y="2930000"/>
            <a:ext cx="2500000" cy="440000"/>
          </a:xfrm>
          <a:prstGeom prst="rect">
            <a:avLst/>
          </a:prstGeom>
          <a:noFill/>
        </p:spPr>
        <p:txBody>
          <a:bodyPr wrap="square">
            <a:spAutoFit/>
          </a:bodyPr>
          <a:lstStyle/>
          <a:p>
            <a:pPr algn="l"/>
            <a:r>
              <a:rPr sz="800" b="0" i="0">
                <a:solidFill>
                  <a:srgbClr val="CCE0EC"/>
                </a:solidFill>
                <a:latin typeface="Calibri"/>
              </a:rPr>
              <a:t>Jevons Paradox: new trip categories
emerge below the cost threshold</a:t>
            </a:r>
          </a:p>
        </p:txBody>
      </p:sp>
      <p:sp>
        <p:nvSpPr>
          <p:cNvPr id="36" name="TextBox 35"/>
          <p:cNvSpPr txBox="1"/>
          <p:nvPr/>
        </p:nvSpPr>
        <p:spPr>
          <a:xfrm>
            <a:off x="1500000" y="2120000"/>
            <a:ext cx="200000" cy="220000"/>
          </a:xfrm>
          <a:prstGeom prst="rect">
            <a:avLst/>
          </a:prstGeom>
          <a:noFill/>
        </p:spPr>
        <p:txBody>
          <a:bodyPr wrap="square">
            <a:spAutoFit/>
          </a:bodyPr>
          <a:lstStyle/>
          <a:p>
            <a:pPr algn="ctr"/>
            <a:r>
              <a:rPr sz="1400" b="1" i="0">
                <a:solidFill>
                  <a:srgbClr val="7AB4C8"/>
                </a:solidFill>
                <a:latin typeface="Calibri"/>
              </a:rPr>
              <a:t>↓</a:t>
            </a:r>
          </a:p>
        </p:txBody>
      </p:sp>
      <p:sp>
        <p:nvSpPr>
          <p:cNvPr id="37" name="TextBox 36"/>
          <p:cNvSpPr txBox="1"/>
          <p:nvPr/>
        </p:nvSpPr>
        <p:spPr>
          <a:xfrm>
            <a:off x="4472000" y="2120000"/>
            <a:ext cx="200000" cy="220000"/>
          </a:xfrm>
          <a:prstGeom prst="rect">
            <a:avLst/>
          </a:prstGeom>
          <a:noFill/>
        </p:spPr>
        <p:txBody>
          <a:bodyPr wrap="square">
            <a:spAutoFit/>
          </a:bodyPr>
          <a:lstStyle/>
          <a:p>
            <a:pPr algn="ctr"/>
            <a:r>
              <a:rPr sz="1400" b="1" i="0">
                <a:solidFill>
                  <a:srgbClr val="7AB4C8"/>
                </a:solidFill>
                <a:latin typeface="Calibri"/>
              </a:rPr>
              <a:t>↓</a:t>
            </a:r>
          </a:p>
        </p:txBody>
      </p:sp>
      <p:sp>
        <p:nvSpPr>
          <p:cNvPr id="38" name="TextBox 37"/>
          <p:cNvSpPr txBox="1"/>
          <p:nvPr/>
        </p:nvSpPr>
        <p:spPr>
          <a:xfrm>
            <a:off x="7444000" y="2120000"/>
            <a:ext cx="200000" cy="220000"/>
          </a:xfrm>
          <a:prstGeom prst="rect">
            <a:avLst/>
          </a:prstGeom>
          <a:noFill/>
        </p:spPr>
        <p:txBody>
          <a:bodyPr wrap="square">
            <a:spAutoFit/>
          </a:bodyPr>
          <a:lstStyle/>
          <a:p>
            <a:pPr algn="ctr"/>
            <a:r>
              <a:rPr sz="1400" b="1" i="0">
                <a:solidFill>
                  <a:srgbClr val="7AB4C8"/>
                </a:solidFill>
                <a:latin typeface="Calibri"/>
              </a:rPr>
              <a:t>↓</a:t>
            </a:r>
          </a:p>
        </p:txBody>
      </p:sp>
      <p:sp>
        <p:nvSpPr>
          <p:cNvPr id="39" name="TextBox 38"/>
          <p:cNvSpPr txBox="1"/>
          <p:nvPr/>
        </p:nvSpPr>
        <p:spPr>
          <a:xfrm>
            <a:off x="3006000" y="2250000"/>
            <a:ext cx="160000" cy="200000"/>
          </a:xfrm>
          <a:prstGeom prst="rect">
            <a:avLst/>
          </a:prstGeom>
          <a:noFill/>
        </p:spPr>
        <p:txBody>
          <a:bodyPr wrap="square">
            <a:spAutoFit/>
          </a:bodyPr>
          <a:lstStyle/>
          <a:p>
            <a:pPr algn="ctr"/>
            <a:r>
              <a:rPr sz="1200" b="1" i="0">
                <a:solidFill>
                  <a:srgbClr val="7AB4C8"/>
                </a:solidFill>
                <a:latin typeface="Calibri"/>
              </a:rPr>
              <a:t>↗</a:t>
            </a:r>
          </a:p>
        </p:txBody>
      </p:sp>
      <p:sp>
        <p:nvSpPr>
          <p:cNvPr id="40" name="TextBox 39"/>
          <p:cNvSpPr txBox="1"/>
          <p:nvPr/>
        </p:nvSpPr>
        <p:spPr>
          <a:xfrm>
            <a:off x="5978000" y="2250000"/>
            <a:ext cx="160000" cy="200000"/>
          </a:xfrm>
          <a:prstGeom prst="rect">
            <a:avLst/>
          </a:prstGeom>
          <a:noFill/>
        </p:spPr>
        <p:txBody>
          <a:bodyPr wrap="square">
            <a:spAutoFit/>
          </a:bodyPr>
          <a:lstStyle/>
          <a:p>
            <a:pPr algn="ctr"/>
            <a:r>
              <a:rPr sz="1200" b="1" i="0">
                <a:solidFill>
                  <a:srgbClr val="7AB4C8"/>
                </a:solidFill>
                <a:latin typeface="Calibri"/>
              </a:rPr>
              <a:t>↗</a:t>
            </a:r>
          </a:p>
        </p:txBody>
      </p:sp>
      <p:sp>
        <p:nvSpPr>
          <p:cNvPr id="41" name="TextBox 40"/>
          <p:cNvSpPr txBox="1"/>
          <p:nvPr/>
        </p:nvSpPr>
        <p:spPr>
          <a:xfrm>
            <a:off x="8444000" y="2850000"/>
            <a:ext cx="400000" cy="200000"/>
          </a:xfrm>
          <a:prstGeom prst="rect">
            <a:avLst/>
          </a:prstGeom>
          <a:noFill/>
        </p:spPr>
        <p:txBody>
          <a:bodyPr wrap="square">
            <a:spAutoFit/>
          </a:bodyPr>
          <a:lstStyle/>
          <a:p>
            <a:pPr algn="ctr"/>
            <a:r>
              <a:rPr sz="1800" b="1" i="0">
                <a:solidFill>
                  <a:srgbClr val="02C39A"/>
                </a:solidFill>
                <a:latin typeface="Calibri"/>
              </a:rPr>
              <a:t>↺</a:t>
            </a:r>
          </a:p>
        </p:txBody>
      </p:sp>
      <p:sp>
        <p:nvSpPr>
          <p:cNvPr id="42" name="TextBox 41"/>
          <p:cNvSpPr txBox="1"/>
          <p:nvPr/>
        </p:nvSpPr>
        <p:spPr>
          <a:xfrm>
            <a:off x="8444000" y="3030000"/>
            <a:ext cx="440000" cy="180000"/>
          </a:xfrm>
          <a:prstGeom prst="rect">
            <a:avLst/>
          </a:prstGeom>
          <a:noFill/>
        </p:spPr>
        <p:txBody>
          <a:bodyPr wrap="square">
            <a:spAutoFit/>
          </a:bodyPr>
          <a:lstStyle/>
          <a:p>
            <a:pPr algn="ctr"/>
            <a:r>
              <a:rPr sz="800" b="1" i="0">
                <a:solidFill>
                  <a:srgbClr val="02C39A"/>
                </a:solidFill>
                <a:latin typeface="Calibri"/>
              </a:rPr>
              <a:t>repeats</a:t>
            </a:r>
          </a:p>
        </p:txBody>
      </p:sp>
      <p:sp>
        <p:nvSpPr>
          <p:cNvPr id="43" name="TextBox 42"/>
          <p:cNvSpPr txBox="1"/>
          <p:nvPr/>
        </p:nvSpPr>
        <p:spPr>
          <a:xfrm>
            <a:off x="300000" y="4863500"/>
            <a:ext cx="8544000" cy="220000"/>
          </a:xfrm>
          <a:prstGeom prst="rect">
            <a:avLst/>
          </a:prstGeom>
          <a:noFill/>
        </p:spPr>
        <p:txBody>
          <a:bodyPr wrap="square">
            <a:spAutoFit/>
          </a:bodyPr>
          <a:lstStyle/>
          <a:p>
            <a:pPr algn="l"/>
            <a:r>
              <a:rPr sz="850" b="0" i="1">
                <a:solidFill>
                  <a:srgbClr val="028090"/>
                </a:solidFill>
                <a:latin typeface="Calibri"/>
              </a:rPr>
              <a:t>No competitor operates both a for-profit commercial entity AND a 501c3 workforce nonprofit simultaneously. MissionGO cannot build this. DroneUp will not build this. KAI-Netics built it first — in Baltimore — before the first delivery flew.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60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00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000"/>
            <a:ext cx="8778240" cy="720000"/>
          </a:xfrm>
          <a:prstGeom prst="rect">
            <a:avLst/>
          </a:prstGeom>
          <a:noFill/>
        </p:spPr>
        <p:txBody>
          <a:bodyPr wrap="square">
            <a:spAutoFit/>
          </a:bodyPr>
          <a:lstStyle/>
          <a:p>
            <a:pPr algn="l"/>
            <a:r>
              <a:rPr sz="2600" b="1" i="0">
                <a:solidFill>
                  <a:srgbClr val="FFFFFF"/>
                </a:solidFill>
                <a:latin typeface="Calibri"/>
              </a:rPr>
              <a:t>Commercialization Milestones</a:t>
            </a:r>
          </a:p>
        </p:txBody>
      </p:sp>
      <p:sp>
        <p:nvSpPr>
          <p:cNvPr id="5" name="Rectangle 4"/>
          <p:cNvSpPr/>
          <p:nvPr/>
        </p:nvSpPr>
        <p:spPr>
          <a:xfrm>
            <a:off x="120000" y="1060000"/>
            <a:ext cx="4572" cy="3683500"/>
          </a:xfrm>
          <a:prstGeom prst="rect">
            <a:avLst/>
          </a:prstGeom>
          <a:solidFill>
            <a:srgbClr val="2A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10400" y="1060000"/>
            <a:ext cx="4572" cy="3683500"/>
          </a:xfrm>
          <a:prstGeom prst="rect">
            <a:avLst/>
          </a:prstGeom>
          <a:solidFill>
            <a:srgbClr val="2A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078880" y="1060000"/>
            <a:ext cx="4572" cy="3683500"/>
          </a:xfrm>
          <a:prstGeom prst="rect">
            <a:avLst/>
          </a:prstGeom>
          <a:solidFill>
            <a:srgbClr val="2A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503520" y="1060000"/>
            <a:ext cx="4572" cy="3683500"/>
          </a:xfrm>
          <a:prstGeom prst="rect">
            <a:avLst/>
          </a:prstGeom>
          <a:solidFill>
            <a:srgbClr val="2A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928160" y="1060000"/>
            <a:ext cx="4572" cy="3683500"/>
          </a:xfrm>
          <a:prstGeom prst="rect">
            <a:avLst/>
          </a:prstGeom>
          <a:solidFill>
            <a:srgbClr val="2A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30880" y="1060000"/>
            <a:ext cx="4572" cy="3683500"/>
          </a:xfrm>
          <a:prstGeom prst="rect">
            <a:avLst/>
          </a:prstGeom>
          <a:solidFill>
            <a:srgbClr val="2A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024000" y="1060000"/>
            <a:ext cx="4572" cy="3683500"/>
          </a:xfrm>
          <a:prstGeom prst="rect">
            <a:avLst/>
          </a:prstGeom>
          <a:solidFill>
            <a:srgbClr val="2A4A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20000" y="4743500"/>
            <a:ext cx="8904000" cy="9144"/>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000" y="4765500"/>
            <a:ext cx="440000" cy="290000"/>
          </a:xfrm>
          <a:prstGeom prst="rect">
            <a:avLst/>
          </a:prstGeom>
          <a:noFill/>
        </p:spPr>
        <p:txBody>
          <a:bodyPr wrap="square">
            <a:spAutoFit/>
          </a:bodyPr>
          <a:lstStyle/>
          <a:p>
            <a:pPr algn="ctr"/>
            <a:r>
              <a:rPr sz="800" b="1" i="0">
                <a:solidFill>
                  <a:srgbClr val="028090"/>
                </a:solidFill>
                <a:latin typeface="Calibri"/>
              </a:rPr>
              <a:t>Apr
2026</a:t>
            </a:r>
          </a:p>
        </p:txBody>
      </p:sp>
      <p:sp>
        <p:nvSpPr>
          <p:cNvPr id="14" name="TextBox 13"/>
          <p:cNvSpPr txBox="1"/>
          <p:nvPr/>
        </p:nvSpPr>
        <p:spPr>
          <a:xfrm>
            <a:off x="790400" y="4765500"/>
            <a:ext cx="440000" cy="290000"/>
          </a:xfrm>
          <a:prstGeom prst="rect">
            <a:avLst/>
          </a:prstGeom>
          <a:noFill/>
        </p:spPr>
        <p:txBody>
          <a:bodyPr wrap="square">
            <a:spAutoFit/>
          </a:bodyPr>
          <a:lstStyle/>
          <a:p>
            <a:pPr algn="ctr"/>
            <a:r>
              <a:rPr sz="800" b="1" i="0">
                <a:solidFill>
                  <a:srgbClr val="028090"/>
                </a:solidFill>
                <a:latin typeface="Calibri"/>
              </a:rPr>
              <a:t>May
2026</a:t>
            </a:r>
          </a:p>
        </p:txBody>
      </p:sp>
      <p:sp>
        <p:nvSpPr>
          <p:cNvPr id="15" name="TextBox 14"/>
          <p:cNvSpPr txBox="1"/>
          <p:nvPr/>
        </p:nvSpPr>
        <p:spPr>
          <a:xfrm>
            <a:off x="1858880" y="4765500"/>
            <a:ext cx="440000" cy="290000"/>
          </a:xfrm>
          <a:prstGeom prst="rect">
            <a:avLst/>
          </a:prstGeom>
          <a:noFill/>
        </p:spPr>
        <p:txBody>
          <a:bodyPr wrap="square">
            <a:spAutoFit/>
          </a:bodyPr>
          <a:lstStyle/>
          <a:p>
            <a:pPr algn="ctr"/>
            <a:r>
              <a:rPr sz="800" b="1" i="0">
                <a:solidFill>
                  <a:srgbClr val="028090"/>
                </a:solidFill>
                <a:latin typeface="Calibri"/>
              </a:rPr>
              <a:t>Jun–Jul
2026</a:t>
            </a:r>
          </a:p>
        </p:txBody>
      </p:sp>
      <p:sp>
        <p:nvSpPr>
          <p:cNvPr id="16" name="TextBox 15"/>
          <p:cNvSpPr txBox="1"/>
          <p:nvPr/>
        </p:nvSpPr>
        <p:spPr>
          <a:xfrm>
            <a:off x="3283520" y="4765500"/>
            <a:ext cx="440000" cy="290000"/>
          </a:xfrm>
          <a:prstGeom prst="rect">
            <a:avLst/>
          </a:prstGeom>
          <a:noFill/>
        </p:spPr>
        <p:txBody>
          <a:bodyPr wrap="square">
            <a:spAutoFit/>
          </a:bodyPr>
          <a:lstStyle/>
          <a:p>
            <a:pPr algn="ctr"/>
            <a:r>
              <a:rPr sz="800" b="1" i="0">
                <a:solidFill>
                  <a:srgbClr val="028090"/>
                </a:solidFill>
                <a:latin typeface="Calibri"/>
              </a:rPr>
              <a:t>Aug–Sep
2026</a:t>
            </a:r>
          </a:p>
        </p:txBody>
      </p:sp>
      <p:sp>
        <p:nvSpPr>
          <p:cNvPr id="17" name="TextBox 16"/>
          <p:cNvSpPr txBox="1"/>
          <p:nvPr/>
        </p:nvSpPr>
        <p:spPr>
          <a:xfrm>
            <a:off x="4708160" y="4765500"/>
            <a:ext cx="440000" cy="290000"/>
          </a:xfrm>
          <a:prstGeom prst="rect">
            <a:avLst/>
          </a:prstGeom>
          <a:noFill/>
        </p:spPr>
        <p:txBody>
          <a:bodyPr wrap="square">
            <a:spAutoFit/>
          </a:bodyPr>
          <a:lstStyle/>
          <a:p>
            <a:pPr algn="ctr"/>
            <a:r>
              <a:rPr sz="800" b="1" i="0">
                <a:solidFill>
                  <a:srgbClr val="028090"/>
                </a:solidFill>
                <a:latin typeface="Calibri"/>
              </a:rPr>
              <a:t>Oct
2026</a:t>
            </a:r>
          </a:p>
        </p:txBody>
      </p:sp>
      <p:sp>
        <p:nvSpPr>
          <p:cNvPr id="18" name="TextBox 17"/>
          <p:cNvSpPr txBox="1"/>
          <p:nvPr/>
        </p:nvSpPr>
        <p:spPr>
          <a:xfrm>
            <a:off x="6310880" y="4765500"/>
            <a:ext cx="440000" cy="290000"/>
          </a:xfrm>
          <a:prstGeom prst="rect">
            <a:avLst/>
          </a:prstGeom>
          <a:noFill/>
        </p:spPr>
        <p:txBody>
          <a:bodyPr wrap="square">
            <a:spAutoFit/>
          </a:bodyPr>
          <a:lstStyle/>
          <a:p>
            <a:pPr algn="ctr"/>
            <a:r>
              <a:rPr sz="800" b="1" i="0">
                <a:solidFill>
                  <a:srgbClr val="028090"/>
                </a:solidFill>
                <a:latin typeface="Calibri"/>
              </a:rPr>
              <a:t>Jan
2027</a:t>
            </a:r>
          </a:p>
        </p:txBody>
      </p:sp>
      <p:sp>
        <p:nvSpPr>
          <p:cNvPr id="19" name="TextBox 18"/>
          <p:cNvSpPr txBox="1"/>
          <p:nvPr/>
        </p:nvSpPr>
        <p:spPr>
          <a:xfrm>
            <a:off x="8804000" y="4765500"/>
            <a:ext cx="440000" cy="290000"/>
          </a:xfrm>
          <a:prstGeom prst="rect">
            <a:avLst/>
          </a:prstGeom>
          <a:noFill/>
        </p:spPr>
        <p:txBody>
          <a:bodyPr wrap="square">
            <a:spAutoFit/>
          </a:bodyPr>
          <a:lstStyle/>
          <a:p>
            <a:pPr algn="ctr"/>
            <a:r>
              <a:rPr sz="800" b="1" i="0">
                <a:solidFill>
                  <a:srgbClr val="028090"/>
                </a:solidFill>
                <a:latin typeface="Calibri"/>
              </a:rPr>
              <a:t>Mar
2027</a:t>
            </a:r>
          </a:p>
        </p:txBody>
      </p:sp>
      <p:sp>
        <p:nvSpPr>
          <p:cNvPr id="20" name="Rectangle 19"/>
          <p:cNvSpPr/>
          <p:nvPr/>
        </p:nvSpPr>
        <p:spPr>
          <a:xfrm>
            <a:off x="120000" y="1060000"/>
            <a:ext cx="8904000" cy="1214500"/>
          </a:xfrm>
          <a:prstGeom prst="rect">
            <a:avLst/>
          </a:prstGeom>
          <a:solidFill>
            <a:srgbClr val="024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20000" y="1060000"/>
            <a:ext cx="18000" cy="12145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38000" y="1060000"/>
            <a:ext cx="8886000" cy="210000"/>
          </a:xfrm>
          <a:prstGeom prst="rect">
            <a:avLst/>
          </a:prstGeom>
          <a:solidFill>
            <a:srgbClr val="014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6000" y="1072000"/>
            <a:ext cx="8824000" cy="186000"/>
          </a:xfrm>
          <a:prstGeom prst="rect">
            <a:avLst/>
          </a:prstGeom>
          <a:noFill/>
        </p:spPr>
        <p:txBody>
          <a:bodyPr wrap="square">
            <a:spAutoFit/>
          </a:bodyPr>
          <a:lstStyle/>
          <a:p>
            <a:pPr algn="l"/>
            <a:r>
              <a:rPr sz="1000" b="1" i="0">
                <a:solidFill>
                  <a:srgbClr val="028090"/>
                </a:solidFill>
                <a:latin typeface="Calibri"/>
              </a:rPr>
              <a:t>REVENUE</a:t>
            </a:r>
          </a:p>
        </p:txBody>
      </p:sp>
      <p:sp>
        <p:nvSpPr>
          <p:cNvPr id="24" name="Rectangle 23"/>
          <p:cNvSpPr/>
          <p:nvPr/>
        </p:nvSpPr>
        <p:spPr>
          <a:xfrm>
            <a:off x="120000" y="2294500"/>
            <a:ext cx="8904000" cy="1214500"/>
          </a:xfrm>
          <a:prstGeom prst="rect">
            <a:avLst/>
          </a:prstGeom>
          <a:solidFill>
            <a:srgbClr val="1028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20000" y="2294500"/>
            <a:ext cx="18000" cy="12145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38000" y="2294500"/>
            <a:ext cx="8886000" cy="210000"/>
          </a:xfrm>
          <a:prstGeom prst="rect">
            <a:avLst/>
          </a:prstGeom>
          <a:solidFill>
            <a:srgbClr val="604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6000" y="2306500"/>
            <a:ext cx="8824000" cy="186000"/>
          </a:xfrm>
          <a:prstGeom prst="rect">
            <a:avLst/>
          </a:prstGeom>
          <a:noFill/>
        </p:spPr>
        <p:txBody>
          <a:bodyPr wrap="square">
            <a:spAutoFit/>
          </a:bodyPr>
          <a:lstStyle/>
          <a:p>
            <a:pPr algn="l"/>
            <a:r>
              <a:rPr sz="1000" b="1" i="0">
                <a:solidFill>
                  <a:srgbClr val="F5A623"/>
                </a:solidFill>
                <a:latin typeface="Calibri"/>
              </a:rPr>
              <a:t>GRANTS &amp; COMPLIANCE</a:t>
            </a:r>
          </a:p>
        </p:txBody>
      </p:sp>
      <p:sp>
        <p:nvSpPr>
          <p:cNvPr id="28" name="Rectangle 27"/>
          <p:cNvSpPr/>
          <p:nvPr/>
        </p:nvSpPr>
        <p:spPr>
          <a:xfrm>
            <a:off x="120000" y="3529000"/>
            <a:ext cx="8904000" cy="1214500"/>
          </a:xfrm>
          <a:prstGeom prst="rect">
            <a:avLst/>
          </a:prstGeom>
          <a:solidFill>
            <a:srgbClr val="024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20000" y="3529000"/>
            <a:ext cx="18000" cy="1214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38000" y="3529000"/>
            <a:ext cx="8886000" cy="210000"/>
          </a:xfrm>
          <a:prstGeom prst="rect">
            <a:avLst/>
          </a:prstGeom>
          <a:solidFill>
            <a:srgbClr val="015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56000" y="3541000"/>
            <a:ext cx="8824000" cy="186000"/>
          </a:xfrm>
          <a:prstGeom prst="rect">
            <a:avLst/>
          </a:prstGeom>
          <a:noFill/>
        </p:spPr>
        <p:txBody>
          <a:bodyPr wrap="square">
            <a:spAutoFit/>
          </a:bodyPr>
          <a:lstStyle/>
          <a:p>
            <a:pPr algn="l"/>
            <a:r>
              <a:rPr sz="1000" b="1" i="0">
                <a:solidFill>
                  <a:srgbClr val="02C39A"/>
                </a:solidFill>
                <a:latin typeface="Calibri"/>
              </a:rPr>
              <a:t>PLATFORM</a:t>
            </a:r>
          </a:p>
        </p:txBody>
      </p:sp>
      <p:sp>
        <p:nvSpPr>
          <p:cNvPr id="32" name="Rectangle 31"/>
          <p:cNvSpPr/>
          <p:nvPr/>
        </p:nvSpPr>
        <p:spPr>
          <a:xfrm>
            <a:off x="134000" y="1282000"/>
            <a:ext cx="1930880" cy="484250"/>
          </a:xfrm>
          <a:prstGeom prst="rect">
            <a:avLst/>
          </a:prstGeom>
          <a:solidFill>
            <a:srgbClr val="028095"/>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56000" y="1294000"/>
            <a:ext cx="1886880" cy="460250"/>
          </a:xfrm>
          <a:prstGeom prst="rect">
            <a:avLst/>
          </a:prstGeom>
          <a:noFill/>
        </p:spPr>
        <p:txBody>
          <a:bodyPr wrap="square">
            <a:spAutoFit/>
          </a:bodyPr>
          <a:lstStyle/>
          <a:p>
            <a:pPr algn="l"/>
            <a:r>
              <a:rPr sz="750">
                <a:solidFill>
                  <a:srgbClr val="FFFFFF"/>
                </a:solidFill>
                <a:latin typeface="Calibri"/>
              </a:rPr>
              <a:t>★ Medical supply POC (UMMS → UMMC)</a:t>
            </a:r>
          </a:p>
        </p:txBody>
      </p:sp>
      <p:sp>
        <p:nvSpPr>
          <p:cNvPr id="34" name="Rectangle 33"/>
          <p:cNvSpPr/>
          <p:nvPr/>
        </p:nvSpPr>
        <p:spPr>
          <a:xfrm>
            <a:off x="2092880" y="1282000"/>
            <a:ext cx="2821280" cy="484250"/>
          </a:xfrm>
          <a:prstGeom prst="rect">
            <a:avLst/>
          </a:prstGeom>
          <a:solidFill>
            <a:srgbClr val="019AB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114880" y="1294000"/>
            <a:ext cx="2777280" cy="460250"/>
          </a:xfrm>
          <a:prstGeom prst="rect">
            <a:avLst/>
          </a:prstGeom>
          <a:noFill/>
        </p:spPr>
        <p:txBody>
          <a:bodyPr wrap="square">
            <a:spAutoFit/>
          </a:bodyPr>
          <a:lstStyle/>
          <a:p>
            <a:pPr algn="l"/>
            <a:r>
              <a:rPr sz="750">
                <a:solidFill>
                  <a:srgbClr val="FFFFFF"/>
                </a:solidFill>
                <a:latin typeface="Calibri"/>
              </a:rPr>
              <a:t>First managed service SLA — $8K–$15K MRR</a:t>
            </a:r>
          </a:p>
        </p:txBody>
      </p:sp>
      <p:sp>
        <p:nvSpPr>
          <p:cNvPr id="36" name="Rectangle 35"/>
          <p:cNvSpPr/>
          <p:nvPr/>
        </p:nvSpPr>
        <p:spPr>
          <a:xfrm>
            <a:off x="4942160" y="1282000"/>
            <a:ext cx="1574720" cy="484250"/>
          </a:xfrm>
          <a:prstGeom prst="rect">
            <a:avLst/>
          </a:prstGeom>
          <a:solidFill>
            <a:srgbClr val="02B5C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64160" y="1294000"/>
            <a:ext cx="1530720" cy="460250"/>
          </a:xfrm>
          <a:prstGeom prst="rect">
            <a:avLst/>
          </a:prstGeom>
          <a:noFill/>
        </p:spPr>
        <p:txBody>
          <a:bodyPr wrap="square">
            <a:spAutoFit/>
          </a:bodyPr>
          <a:lstStyle/>
          <a:p>
            <a:pPr algn="l"/>
            <a:r>
              <a:rPr sz="750">
                <a:solidFill>
                  <a:srgbClr val="FFFFFF"/>
                </a:solidFill>
                <a:latin typeface="Calibri"/>
              </a:rPr>
              <a:t>$100K cumulative revenue</a:t>
            </a:r>
          </a:p>
        </p:txBody>
      </p:sp>
      <p:sp>
        <p:nvSpPr>
          <p:cNvPr id="38" name="Rectangle 37"/>
          <p:cNvSpPr/>
          <p:nvPr/>
        </p:nvSpPr>
        <p:spPr>
          <a:xfrm>
            <a:off x="6544880" y="1282000"/>
            <a:ext cx="2465120" cy="484250"/>
          </a:xfrm>
          <a:prstGeom prst="rect">
            <a:avLst/>
          </a:prstGeom>
          <a:solidFill>
            <a:srgbClr val="029A7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66880" y="1294000"/>
            <a:ext cx="2421120" cy="460250"/>
          </a:xfrm>
          <a:prstGeom prst="rect">
            <a:avLst/>
          </a:prstGeom>
          <a:noFill/>
        </p:spPr>
        <p:txBody>
          <a:bodyPr wrap="square">
            <a:spAutoFit/>
          </a:bodyPr>
          <a:lstStyle/>
          <a:p>
            <a:pPr algn="l"/>
            <a:r>
              <a:rPr sz="750">
                <a:solidFill>
                  <a:srgbClr val="FFFFFF"/>
                </a:solidFill>
                <a:latin typeface="Calibri"/>
              </a:rPr>
              <a:t>$175K → $248K Year 1</a:t>
            </a:r>
          </a:p>
        </p:txBody>
      </p:sp>
      <p:sp>
        <p:nvSpPr>
          <p:cNvPr id="40" name="Rectangle 39"/>
          <p:cNvSpPr/>
          <p:nvPr/>
        </p:nvSpPr>
        <p:spPr>
          <a:xfrm>
            <a:off x="134000" y="1778250"/>
            <a:ext cx="1930880" cy="484250"/>
          </a:xfrm>
          <a:prstGeom prst="rect">
            <a:avLst/>
          </a:prstGeom>
          <a:solidFill>
            <a:srgbClr val="028095"/>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56000" y="1790250"/>
            <a:ext cx="1886880" cy="460250"/>
          </a:xfrm>
          <a:prstGeom prst="rect">
            <a:avLst/>
          </a:prstGeom>
          <a:noFill/>
        </p:spPr>
        <p:txBody>
          <a:bodyPr wrap="square">
            <a:spAutoFit/>
          </a:bodyPr>
          <a:lstStyle/>
          <a:p>
            <a:pPr algn="l"/>
            <a:r>
              <a:rPr sz="750">
                <a:solidFill>
                  <a:srgbClr val="FFFFFF"/>
                </a:solidFill>
                <a:latin typeface="Calibri"/>
              </a:rPr>
              <a:t>★ Lab specimen transport (Hopkins/UMMS) + Resiliency Hubs</a:t>
            </a:r>
          </a:p>
        </p:txBody>
      </p:sp>
      <p:sp>
        <p:nvSpPr>
          <p:cNvPr id="42" name="Rectangle 41"/>
          <p:cNvSpPr/>
          <p:nvPr/>
        </p:nvSpPr>
        <p:spPr>
          <a:xfrm>
            <a:off x="2092880" y="1778250"/>
            <a:ext cx="2821280" cy="484250"/>
          </a:xfrm>
          <a:prstGeom prst="rect">
            <a:avLst/>
          </a:prstGeom>
          <a:solidFill>
            <a:srgbClr val="019AB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114880" y="1790250"/>
            <a:ext cx="2777280" cy="460250"/>
          </a:xfrm>
          <a:prstGeom prst="rect">
            <a:avLst/>
          </a:prstGeom>
          <a:noFill/>
        </p:spPr>
        <p:txBody>
          <a:bodyPr wrap="square">
            <a:spAutoFit/>
          </a:bodyPr>
          <a:lstStyle/>
          <a:p>
            <a:pPr algn="l"/>
            <a:r>
              <a:rPr sz="750">
                <a:solidFill>
                  <a:srgbClr val="FFFFFF"/>
                </a:solidFill>
                <a:latin typeface="Calibri"/>
              </a:rPr>
              <a:t>Tradepoint Atlantic inter-facility B2B outreach</a:t>
            </a:r>
          </a:p>
        </p:txBody>
      </p:sp>
      <p:sp>
        <p:nvSpPr>
          <p:cNvPr id="44" name="Rectangle 43"/>
          <p:cNvSpPr/>
          <p:nvPr/>
        </p:nvSpPr>
        <p:spPr>
          <a:xfrm>
            <a:off x="4942160" y="1778250"/>
            <a:ext cx="1574720" cy="484250"/>
          </a:xfrm>
          <a:prstGeom prst="rect">
            <a:avLst/>
          </a:prstGeom>
          <a:solidFill>
            <a:srgbClr val="02B5C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64160" y="1790250"/>
            <a:ext cx="1530720" cy="460250"/>
          </a:xfrm>
          <a:prstGeom prst="rect">
            <a:avLst/>
          </a:prstGeom>
          <a:noFill/>
        </p:spPr>
        <p:txBody>
          <a:bodyPr wrap="square">
            <a:spAutoFit/>
          </a:bodyPr>
          <a:lstStyle/>
          <a:p>
            <a:pPr algn="l"/>
            <a:r>
              <a:rPr sz="750">
                <a:solidFill>
                  <a:srgbClr val="FFFFFF"/>
                </a:solidFill>
                <a:latin typeface="Calibri"/>
              </a:rPr>
              <a:t>★ Campus delivery pilot (UMGC)</a:t>
            </a:r>
          </a:p>
        </p:txBody>
      </p:sp>
      <p:sp>
        <p:nvSpPr>
          <p:cNvPr id="46" name="Rectangle 45"/>
          <p:cNvSpPr/>
          <p:nvPr/>
        </p:nvSpPr>
        <p:spPr>
          <a:xfrm>
            <a:off x="6544880" y="1778250"/>
            <a:ext cx="2465120" cy="484250"/>
          </a:xfrm>
          <a:prstGeom prst="rect">
            <a:avLst/>
          </a:prstGeom>
          <a:solidFill>
            <a:srgbClr val="029A7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66880" y="1790250"/>
            <a:ext cx="2421120" cy="460250"/>
          </a:xfrm>
          <a:prstGeom prst="rect">
            <a:avLst/>
          </a:prstGeom>
          <a:noFill/>
        </p:spPr>
        <p:txBody>
          <a:bodyPr wrap="square">
            <a:spAutoFit/>
          </a:bodyPr>
          <a:lstStyle/>
          <a:p>
            <a:pPr algn="l"/>
            <a:r>
              <a:rPr sz="750">
                <a:solidFill>
                  <a:srgbClr val="FFFFFF"/>
                </a:solidFill>
                <a:latin typeface="Calibri"/>
              </a:rPr>
              <a:t>★ DFR program pkg — Baltimore City PD</a:t>
            </a:r>
          </a:p>
        </p:txBody>
      </p:sp>
      <p:sp>
        <p:nvSpPr>
          <p:cNvPr id="48" name="Rectangle 47"/>
          <p:cNvSpPr/>
          <p:nvPr/>
        </p:nvSpPr>
        <p:spPr>
          <a:xfrm>
            <a:off x="134000" y="2516500"/>
            <a:ext cx="862400" cy="484250"/>
          </a:xfrm>
          <a:prstGeom prst="rect">
            <a:avLst/>
          </a:prstGeom>
          <a:solidFill>
            <a:srgbClr val="1E4A8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56000" y="2528500"/>
            <a:ext cx="818400" cy="460250"/>
          </a:xfrm>
          <a:prstGeom prst="rect">
            <a:avLst/>
          </a:prstGeom>
          <a:noFill/>
        </p:spPr>
        <p:txBody>
          <a:bodyPr wrap="square">
            <a:spAutoFit/>
          </a:bodyPr>
          <a:lstStyle/>
          <a:p>
            <a:pPr algn="l"/>
            <a:endParaRPr/>
          </a:p>
        </p:txBody>
      </p:sp>
      <p:sp>
        <p:nvSpPr>
          <p:cNvPr id="50" name="Rectangle 49"/>
          <p:cNvSpPr/>
          <p:nvPr/>
        </p:nvSpPr>
        <p:spPr>
          <a:xfrm>
            <a:off x="1024400" y="2516500"/>
            <a:ext cx="2465120" cy="484250"/>
          </a:xfrm>
          <a:prstGeom prst="rect">
            <a:avLst/>
          </a:prstGeom>
          <a:solidFill>
            <a:srgbClr val="285A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46400" y="2528500"/>
            <a:ext cx="2421120" cy="460250"/>
          </a:xfrm>
          <a:prstGeom prst="rect">
            <a:avLst/>
          </a:prstGeom>
          <a:noFill/>
        </p:spPr>
        <p:txBody>
          <a:bodyPr wrap="square">
            <a:spAutoFit/>
          </a:bodyPr>
          <a:lstStyle/>
          <a:p>
            <a:pPr algn="l"/>
            <a:r>
              <a:rPr sz="750">
                <a:solidFill>
                  <a:srgbClr val="FFFFFF"/>
                </a:solidFill>
                <a:latin typeface="Calibri"/>
              </a:rPr>
              <a:t>UMMS / Hopkins / MedStar LOIs in negotiation</a:t>
            </a:r>
          </a:p>
        </p:txBody>
      </p:sp>
      <p:sp>
        <p:nvSpPr>
          <p:cNvPr id="52" name="Rectangle 51"/>
          <p:cNvSpPr/>
          <p:nvPr/>
        </p:nvSpPr>
        <p:spPr>
          <a:xfrm>
            <a:off x="4942160" y="2516500"/>
            <a:ext cx="1574720" cy="484250"/>
          </a:xfrm>
          <a:prstGeom prst="rect">
            <a:avLst/>
          </a:prstGeom>
          <a:solidFill>
            <a:srgbClr val="1E4A8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964160" y="2528500"/>
            <a:ext cx="1530720" cy="460250"/>
          </a:xfrm>
          <a:prstGeom prst="rect">
            <a:avLst/>
          </a:prstGeom>
          <a:noFill/>
        </p:spPr>
        <p:txBody>
          <a:bodyPr wrap="square">
            <a:spAutoFit/>
          </a:bodyPr>
          <a:lstStyle/>
          <a:p>
            <a:pPr algn="l"/>
            <a:r>
              <a:rPr sz="750">
                <a:solidFill>
                  <a:srgbClr val="FFFFFF"/>
                </a:solidFill>
                <a:latin typeface="Calibri"/>
              </a:rPr>
              <a:t>SBIR Phase I (UMGC affiliation)</a:t>
            </a:r>
          </a:p>
        </p:txBody>
      </p:sp>
      <p:sp>
        <p:nvSpPr>
          <p:cNvPr id="54" name="Rectangle 53"/>
          <p:cNvSpPr/>
          <p:nvPr/>
        </p:nvSpPr>
        <p:spPr>
          <a:xfrm>
            <a:off x="6544880" y="2516500"/>
            <a:ext cx="2465120" cy="484250"/>
          </a:xfrm>
          <a:prstGeom prst="rect">
            <a:avLst/>
          </a:prstGeom>
          <a:solidFill>
            <a:srgbClr val="285A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566880" y="2528500"/>
            <a:ext cx="2421120" cy="460250"/>
          </a:xfrm>
          <a:prstGeom prst="rect">
            <a:avLst/>
          </a:prstGeom>
          <a:noFill/>
        </p:spPr>
        <p:txBody>
          <a:bodyPr wrap="square">
            <a:spAutoFit/>
          </a:bodyPr>
          <a:lstStyle/>
          <a:p>
            <a:pPr algn="l"/>
            <a:endParaRPr/>
          </a:p>
        </p:txBody>
      </p:sp>
      <p:sp>
        <p:nvSpPr>
          <p:cNvPr id="56" name="Rectangle 55"/>
          <p:cNvSpPr/>
          <p:nvPr/>
        </p:nvSpPr>
        <p:spPr>
          <a:xfrm>
            <a:off x="134000" y="3012750"/>
            <a:ext cx="862400" cy="484250"/>
          </a:xfrm>
          <a:prstGeom prst="rect">
            <a:avLst/>
          </a:prstGeom>
          <a:solidFill>
            <a:srgbClr val="C0801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56000" y="3024750"/>
            <a:ext cx="818400" cy="460250"/>
          </a:xfrm>
          <a:prstGeom prst="rect">
            <a:avLst/>
          </a:prstGeom>
          <a:noFill/>
        </p:spPr>
        <p:txBody>
          <a:bodyPr wrap="square">
            <a:spAutoFit/>
          </a:bodyPr>
          <a:lstStyle/>
          <a:p>
            <a:pPr algn="l"/>
            <a:r>
              <a:rPr sz="750">
                <a:solidFill>
                  <a:srgbClr val="FFFFFF"/>
                </a:solidFill>
                <a:latin typeface="Calibri"/>
              </a:rPr>
              <a:t>EAF Form 1023 + EARN Maryland + MBE filed</a:t>
            </a:r>
          </a:p>
        </p:txBody>
      </p:sp>
      <p:sp>
        <p:nvSpPr>
          <p:cNvPr id="58" name="Rectangle 57"/>
          <p:cNvSpPr/>
          <p:nvPr/>
        </p:nvSpPr>
        <p:spPr>
          <a:xfrm>
            <a:off x="1024400" y="3012750"/>
            <a:ext cx="2465120" cy="484250"/>
          </a:xfrm>
          <a:prstGeom prst="rect">
            <a:avLst/>
          </a:prstGeom>
          <a:solidFill>
            <a:srgbClr val="C0801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46400" y="3024750"/>
            <a:ext cx="2421120" cy="460250"/>
          </a:xfrm>
          <a:prstGeom prst="rect">
            <a:avLst/>
          </a:prstGeom>
          <a:noFill/>
        </p:spPr>
        <p:txBody>
          <a:bodyPr wrap="square">
            <a:spAutoFit/>
          </a:bodyPr>
          <a:lstStyle/>
          <a:p>
            <a:pPr algn="l"/>
            <a:r>
              <a:rPr sz="750">
                <a:solidFill>
                  <a:srgbClr val="FFFFFF"/>
                </a:solidFill>
                <a:latin typeface="Calibri"/>
              </a:rPr>
              <a:t>Techstars AI Health Demo Day — M&amp;T Bank Stadium</a:t>
            </a:r>
          </a:p>
        </p:txBody>
      </p:sp>
      <p:sp>
        <p:nvSpPr>
          <p:cNvPr id="60" name="Rectangle 59"/>
          <p:cNvSpPr/>
          <p:nvPr/>
        </p:nvSpPr>
        <p:spPr>
          <a:xfrm>
            <a:off x="4942160" y="3012750"/>
            <a:ext cx="1574720" cy="484250"/>
          </a:xfrm>
          <a:prstGeom prst="rect">
            <a:avLst/>
          </a:prstGeom>
          <a:solidFill>
            <a:srgbClr val="C0801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964160" y="3024750"/>
            <a:ext cx="1530720" cy="460250"/>
          </a:xfrm>
          <a:prstGeom prst="rect">
            <a:avLst/>
          </a:prstGeom>
          <a:noFill/>
        </p:spPr>
        <p:txBody>
          <a:bodyPr wrap="square">
            <a:spAutoFit/>
          </a:bodyPr>
          <a:lstStyle/>
          <a:p>
            <a:pPr algn="l"/>
            <a:r>
              <a:rPr sz="750">
                <a:solidFill>
                  <a:srgbClr val="FFFFFF"/>
                </a:solidFill>
                <a:latin typeface="Calibri"/>
              </a:rPr>
              <a:t>NSF SBIR Phase I application</a:t>
            </a:r>
          </a:p>
        </p:txBody>
      </p:sp>
      <p:sp>
        <p:nvSpPr>
          <p:cNvPr id="62" name="Rectangle 61"/>
          <p:cNvSpPr/>
          <p:nvPr/>
        </p:nvSpPr>
        <p:spPr>
          <a:xfrm>
            <a:off x="6544880" y="3012750"/>
            <a:ext cx="2465120" cy="484250"/>
          </a:xfrm>
          <a:prstGeom prst="rect">
            <a:avLst/>
          </a:prstGeom>
          <a:solidFill>
            <a:srgbClr val="1E4A8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566880" y="3024750"/>
            <a:ext cx="2421120" cy="460250"/>
          </a:xfrm>
          <a:prstGeom prst="rect">
            <a:avLst/>
          </a:prstGeom>
          <a:noFill/>
        </p:spPr>
        <p:txBody>
          <a:bodyPr wrap="square">
            <a:spAutoFit/>
          </a:bodyPr>
          <a:lstStyle/>
          <a:p>
            <a:pPr algn="l"/>
            <a:r>
              <a:rPr sz="750">
                <a:solidFill>
                  <a:srgbClr val="FFFFFF"/>
                </a:solidFill>
                <a:latin typeface="Calibri"/>
              </a:rPr>
              <a:t>Part 108 BVLOS application filed</a:t>
            </a:r>
          </a:p>
        </p:txBody>
      </p:sp>
      <p:sp>
        <p:nvSpPr>
          <p:cNvPr id="64" name="Rectangle 63"/>
          <p:cNvSpPr/>
          <p:nvPr/>
        </p:nvSpPr>
        <p:spPr>
          <a:xfrm>
            <a:off x="134000" y="3751000"/>
            <a:ext cx="862400" cy="484250"/>
          </a:xfrm>
          <a:prstGeom prst="rect">
            <a:avLst/>
          </a:prstGeom>
          <a:solidFill>
            <a:srgbClr val="02806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56000" y="3763000"/>
            <a:ext cx="818400" cy="460250"/>
          </a:xfrm>
          <a:prstGeom prst="rect">
            <a:avLst/>
          </a:prstGeom>
          <a:noFill/>
        </p:spPr>
        <p:txBody>
          <a:bodyPr wrap="square">
            <a:spAutoFit/>
          </a:bodyPr>
          <a:lstStyle/>
          <a:p>
            <a:pPr algn="l"/>
            <a:r>
              <a:rPr sz="750">
                <a:solidFill>
                  <a:srgbClr val="FFFFFF"/>
                </a:solidFill>
                <a:latin typeface="Calibri"/>
              </a:rPr>
              <a:t>UROC internship application</a:t>
            </a:r>
          </a:p>
        </p:txBody>
      </p:sp>
      <p:sp>
        <p:nvSpPr>
          <p:cNvPr id="66" name="Rectangle 65"/>
          <p:cNvSpPr/>
          <p:nvPr/>
        </p:nvSpPr>
        <p:spPr>
          <a:xfrm>
            <a:off x="2092880" y="3751000"/>
            <a:ext cx="1396640" cy="484250"/>
          </a:xfrm>
          <a:prstGeom prst="rect">
            <a:avLst/>
          </a:prstGeom>
          <a:solidFill>
            <a:srgbClr val="02806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114880" y="3763000"/>
            <a:ext cx="1352640" cy="460250"/>
          </a:xfrm>
          <a:prstGeom prst="rect">
            <a:avLst/>
          </a:prstGeom>
          <a:noFill/>
        </p:spPr>
        <p:txBody>
          <a:bodyPr wrap="square">
            <a:spAutoFit/>
          </a:bodyPr>
          <a:lstStyle/>
          <a:p>
            <a:pPr algn="l"/>
            <a:r>
              <a:rPr sz="750">
                <a:solidFill>
                  <a:srgbClr val="FFFFFF"/>
                </a:solidFill>
                <a:latin typeface="Calibri"/>
              </a:rPr>
              <a:t>UROC internship begins</a:t>
            </a:r>
          </a:p>
        </p:txBody>
      </p:sp>
      <p:sp>
        <p:nvSpPr>
          <p:cNvPr id="68" name="Rectangle 67"/>
          <p:cNvSpPr/>
          <p:nvPr/>
        </p:nvSpPr>
        <p:spPr>
          <a:xfrm>
            <a:off x="3517520" y="3751000"/>
            <a:ext cx="2999360" cy="484250"/>
          </a:xfrm>
          <a:prstGeom prst="rect">
            <a:avLst/>
          </a:prstGeom>
          <a:solidFill>
            <a:srgbClr val="02708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539520" y="3763000"/>
            <a:ext cx="2955360" cy="460250"/>
          </a:xfrm>
          <a:prstGeom prst="rect">
            <a:avLst/>
          </a:prstGeom>
          <a:noFill/>
        </p:spPr>
        <p:txBody>
          <a:bodyPr wrap="square">
            <a:spAutoFit/>
          </a:bodyPr>
          <a:lstStyle/>
          <a:p>
            <a:pPr algn="l"/>
            <a:r>
              <a:rPr sz="750">
                <a:solidFill>
                  <a:srgbClr val="FFFFFF"/>
                </a:solidFill>
                <a:latin typeface="Calibri"/>
              </a:rPr>
              <a:t>★ MONK prototype — Phase 2A–2C</a:t>
            </a:r>
          </a:p>
        </p:txBody>
      </p:sp>
      <p:sp>
        <p:nvSpPr>
          <p:cNvPr id="70" name="Rectangle 69"/>
          <p:cNvSpPr/>
          <p:nvPr/>
        </p:nvSpPr>
        <p:spPr>
          <a:xfrm>
            <a:off x="6544880" y="3751000"/>
            <a:ext cx="2465120" cy="484250"/>
          </a:xfrm>
          <a:prstGeom prst="rect">
            <a:avLst/>
          </a:prstGeom>
          <a:solidFill>
            <a:srgbClr val="039A7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566880" y="3763000"/>
            <a:ext cx="2421120" cy="460250"/>
          </a:xfrm>
          <a:prstGeom prst="rect">
            <a:avLst/>
          </a:prstGeom>
          <a:noFill/>
        </p:spPr>
        <p:txBody>
          <a:bodyPr wrap="square">
            <a:spAutoFit/>
          </a:bodyPr>
          <a:lstStyle/>
          <a:p>
            <a:pPr algn="l"/>
            <a:r>
              <a:rPr sz="750">
                <a:solidFill>
                  <a:srgbClr val="FFFFFF"/>
                </a:solidFill>
                <a:latin typeface="Calibri"/>
              </a:rPr>
              <a:t>CAKO Cohort 1 graduates</a:t>
            </a:r>
          </a:p>
        </p:txBody>
      </p:sp>
      <p:sp>
        <p:nvSpPr>
          <p:cNvPr id="72" name="Rectangle 71"/>
          <p:cNvSpPr/>
          <p:nvPr/>
        </p:nvSpPr>
        <p:spPr>
          <a:xfrm>
            <a:off x="134000" y="4247250"/>
            <a:ext cx="1930880" cy="484250"/>
          </a:xfrm>
          <a:prstGeom prst="rect">
            <a:avLst/>
          </a:prstGeom>
          <a:solidFill>
            <a:srgbClr val="039A7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56000" y="4259250"/>
            <a:ext cx="1886880" cy="460250"/>
          </a:xfrm>
          <a:prstGeom prst="rect">
            <a:avLst/>
          </a:prstGeom>
          <a:noFill/>
        </p:spPr>
        <p:txBody>
          <a:bodyPr wrap="square">
            <a:spAutoFit/>
          </a:bodyPr>
          <a:lstStyle/>
          <a:p>
            <a:pPr algn="l"/>
            <a:r>
              <a:rPr sz="750">
                <a:solidFill>
                  <a:srgbClr val="FFFFFF"/>
                </a:solidFill>
                <a:latin typeface="Calibri"/>
              </a:rPr>
              <a:t>Part 107 BD outreach — UMMS, Hopkins, MedStar, MDSHA, BGE</a:t>
            </a:r>
          </a:p>
        </p:txBody>
      </p:sp>
      <p:sp>
        <p:nvSpPr>
          <p:cNvPr id="74" name="Rectangle 73"/>
          <p:cNvSpPr/>
          <p:nvPr/>
        </p:nvSpPr>
        <p:spPr>
          <a:xfrm>
            <a:off x="2092880" y="4247250"/>
            <a:ext cx="1396640" cy="484250"/>
          </a:xfrm>
          <a:prstGeom prst="rect">
            <a:avLst/>
          </a:prstGeom>
          <a:solidFill>
            <a:srgbClr val="039A7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114880" y="4259250"/>
            <a:ext cx="1352640" cy="460250"/>
          </a:xfrm>
          <a:prstGeom prst="rect">
            <a:avLst/>
          </a:prstGeom>
          <a:noFill/>
        </p:spPr>
        <p:txBody>
          <a:bodyPr wrap="square">
            <a:spAutoFit/>
          </a:bodyPr>
          <a:lstStyle/>
          <a:p>
            <a:pPr algn="l"/>
            <a:r>
              <a:rPr sz="750">
                <a:solidFill>
                  <a:srgbClr val="FFFFFF"/>
                </a:solidFill>
                <a:latin typeface="Calibri"/>
              </a:rPr>
              <a:t>CAKO Cohort 1 recruitment</a:t>
            </a:r>
          </a:p>
        </p:txBody>
      </p:sp>
      <p:sp>
        <p:nvSpPr>
          <p:cNvPr id="76" name="Rectangle 75"/>
          <p:cNvSpPr/>
          <p:nvPr/>
        </p:nvSpPr>
        <p:spPr>
          <a:xfrm>
            <a:off x="3517520" y="4247250"/>
            <a:ext cx="2999360" cy="484250"/>
          </a:xfrm>
          <a:prstGeom prst="rect">
            <a:avLst/>
          </a:prstGeom>
          <a:solidFill>
            <a:srgbClr val="02708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3539520" y="4259250"/>
            <a:ext cx="2955360" cy="460250"/>
          </a:xfrm>
          <a:prstGeom prst="rect">
            <a:avLst/>
          </a:prstGeom>
          <a:noFill/>
        </p:spPr>
        <p:txBody>
          <a:bodyPr wrap="square">
            <a:spAutoFit/>
          </a:bodyPr>
          <a:lstStyle/>
          <a:p>
            <a:pPr algn="l"/>
            <a:r>
              <a:rPr sz="750">
                <a:solidFill>
                  <a:srgbClr val="FFFFFF"/>
                </a:solidFill>
                <a:latin typeface="Calibri"/>
              </a:rPr>
              <a:t>★ MONK prototype — Phase 2D + audit dashboard</a:t>
            </a:r>
          </a:p>
        </p:txBody>
      </p:sp>
      <p:sp>
        <p:nvSpPr>
          <p:cNvPr id="78" name="Rectangle 77"/>
          <p:cNvSpPr/>
          <p:nvPr/>
        </p:nvSpPr>
        <p:spPr>
          <a:xfrm>
            <a:off x="6544880" y="4247250"/>
            <a:ext cx="2465120" cy="484250"/>
          </a:xfrm>
          <a:prstGeom prst="rect">
            <a:avLst/>
          </a:prstGeom>
          <a:solidFill>
            <a:srgbClr val="02806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566880" y="4259250"/>
            <a:ext cx="2421120" cy="460250"/>
          </a:xfrm>
          <a:prstGeom prst="rect">
            <a:avLst/>
          </a:prstGeom>
          <a:noFill/>
        </p:spPr>
        <p:txBody>
          <a:bodyPr wrap="square">
            <a:spAutoFit/>
          </a:bodyPr>
          <a:lstStyle/>
          <a:p>
            <a:pPr algn="l"/>
            <a:r>
              <a:rPr sz="750">
                <a:solidFill>
                  <a:srgbClr val="FFFFFF"/>
                </a:solidFill>
                <a:latin typeface="Calibri"/>
              </a:rPr>
              <a:t>All 5 verticals operational</a:t>
            </a:r>
          </a:p>
        </p:txBody>
      </p:sp>
      <p:sp>
        <p:nvSpPr>
          <p:cNvPr id="80" name="TextBox 79"/>
          <p:cNvSpPr txBox="1"/>
          <p:nvPr/>
        </p:nvSpPr>
        <p:spPr>
          <a:xfrm>
            <a:off x="150000" y="5053500"/>
            <a:ext cx="800000" cy="140000"/>
          </a:xfrm>
          <a:prstGeom prst="rect">
            <a:avLst/>
          </a:prstGeom>
          <a:noFill/>
        </p:spPr>
        <p:txBody>
          <a:bodyPr wrap="square">
            <a:spAutoFit/>
          </a:bodyPr>
          <a:lstStyle/>
          <a:p>
            <a:pPr algn="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000"/>
            <a:ext cx="8778240" cy="760000"/>
          </a:xfrm>
          <a:prstGeom prst="rect">
            <a:avLst/>
          </a:prstGeom>
          <a:noFill/>
        </p:spPr>
        <p:txBody>
          <a:bodyPr wrap="square">
            <a:spAutoFit/>
          </a:bodyPr>
          <a:lstStyle/>
          <a:p>
            <a:pPr algn="l"/>
            <a:r>
              <a:rPr sz="2200" b="1" i="0">
                <a:solidFill>
                  <a:srgbClr val="FFFFFF"/>
                </a:solidFill>
                <a:latin typeface="Calibri"/>
              </a:rPr>
              <a:t>MONK: Trusted Governance Layer for Autonomous Aviation</a:t>
            </a:r>
          </a:p>
        </p:txBody>
      </p:sp>
      <p:sp>
        <p:nvSpPr>
          <p:cNvPr id="5" name="Rectangle 4"/>
          <p:cNvSpPr/>
          <p:nvPr/>
        </p:nvSpPr>
        <p:spPr>
          <a:xfrm>
            <a:off x="183600" y="1280000"/>
            <a:ext cx="4100000" cy="780000"/>
          </a:xfrm>
          <a:prstGeom prst="rect">
            <a:avLst/>
          </a:prstGeom>
          <a:solidFill>
            <a:srgbClr val="1E3A5F"/>
          </a:solidFill>
          <a:ln w="150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3600" y="1280000"/>
            <a:ext cx="4100000" cy="26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44560" y="1310000"/>
            <a:ext cx="3980000" cy="200000"/>
          </a:xfrm>
          <a:prstGeom prst="rect">
            <a:avLst/>
          </a:prstGeom>
          <a:noFill/>
        </p:spPr>
        <p:txBody>
          <a:bodyPr wrap="square">
            <a:spAutoFit/>
          </a:bodyPr>
          <a:lstStyle/>
          <a:p>
            <a:pPr algn="ctr"/>
            <a:r>
              <a:rPr sz="1200" b="1" i="0">
                <a:solidFill>
                  <a:srgbClr val="FFFFFF"/>
                </a:solidFill>
                <a:latin typeface="Calibri"/>
              </a:rPr>
              <a:t>Autonomous Logistics Network</a:t>
            </a:r>
          </a:p>
        </p:txBody>
      </p:sp>
      <p:sp>
        <p:nvSpPr>
          <p:cNvPr id="8" name="TextBox 7"/>
          <p:cNvSpPr txBox="1"/>
          <p:nvPr/>
        </p:nvSpPr>
        <p:spPr>
          <a:xfrm>
            <a:off x="244560" y="1560000"/>
            <a:ext cx="3980000" cy="400110"/>
          </a:xfrm>
          <a:prstGeom prst="rect">
            <a:avLst/>
          </a:prstGeom>
          <a:noFill/>
        </p:spPr>
        <p:txBody>
          <a:bodyPr wrap="square">
            <a:spAutoFit/>
          </a:bodyPr>
          <a:lstStyle/>
          <a:p>
            <a:pPr algn="l"/>
            <a:r>
              <a:rPr sz="1000" b="0" i="0" dirty="0">
                <a:solidFill>
                  <a:srgbClr val="CADCFC"/>
                </a:solidFill>
                <a:latin typeface="Calibri"/>
              </a:rPr>
              <a:t>Delivery Drones (Medical, 3PL)  +  Inspection Drones (Infra, S</a:t>
            </a:r>
            <a:r>
              <a:rPr lang="en-US" sz="1000" b="0" i="0" dirty="0">
                <a:solidFill>
                  <a:srgbClr val="CADCFC"/>
                </a:solidFill>
                <a:latin typeface="Calibri"/>
              </a:rPr>
              <a:t>earch </a:t>
            </a:r>
            <a:r>
              <a:rPr sz="1000" b="0" i="0" dirty="0">
                <a:solidFill>
                  <a:srgbClr val="CADCFC"/>
                </a:solidFill>
                <a:latin typeface="Calibri"/>
              </a:rPr>
              <a:t>A</a:t>
            </a:r>
            <a:r>
              <a:rPr lang="en-US" sz="1000" b="0" i="0" dirty="0">
                <a:solidFill>
                  <a:srgbClr val="CADCFC"/>
                </a:solidFill>
                <a:latin typeface="Calibri"/>
              </a:rPr>
              <a:t>nd </a:t>
            </a:r>
            <a:r>
              <a:rPr sz="1000" b="0" i="0" dirty="0">
                <a:solidFill>
                  <a:srgbClr val="CADCFC"/>
                </a:solidFill>
                <a:latin typeface="Calibri"/>
              </a:rPr>
              <a:t>R</a:t>
            </a:r>
            <a:r>
              <a:rPr lang="en-US" sz="1000" b="0" i="0" dirty="0">
                <a:solidFill>
                  <a:srgbClr val="CADCFC"/>
                </a:solidFill>
                <a:latin typeface="Calibri"/>
              </a:rPr>
              <a:t>escue</a:t>
            </a:r>
            <a:r>
              <a:rPr sz="1000" b="0" i="0" dirty="0">
                <a:solidFill>
                  <a:srgbClr val="CADCFC"/>
                </a:solidFill>
                <a:latin typeface="Calibri"/>
              </a:rPr>
              <a:t>)</a:t>
            </a:r>
          </a:p>
        </p:txBody>
      </p:sp>
      <p:sp>
        <p:nvSpPr>
          <p:cNvPr id="9" name="Down Arrow 8"/>
          <p:cNvSpPr/>
          <p:nvPr/>
        </p:nvSpPr>
        <p:spPr>
          <a:xfrm>
            <a:off x="2133600" y="2080000"/>
            <a:ext cx="200000" cy="200000"/>
          </a:xfrm>
          <a:prstGeom prst="downArrow">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63600" y="2090000"/>
            <a:ext cx="1400000" cy="180000"/>
          </a:xfrm>
          <a:prstGeom prst="rect">
            <a:avLst/>
          </a:prstGeom>
          <a:noFill/>
        </p:spPr>
        <p:txBody>
          <a:bodyPr wrap="square">
            <a:spAutoFit/>
          </a:bodyPr>
          <a:lstStyle/>
          <a:p>
            <a:pPr algn="l"/>
            <a:r>
              <a:rPr sz="900" b="0" i="1">
                <a:solidFill>
                  <a:srgbClr val="028090"/>
                </a:solidFill>
                <a:latin typeface="Calibri"/>
              </a:rPr>
              <a:t>Encrypted Telemetry</a:t>
            </a:r>
          </a:p>
        </p:txBody>
      </p:sp>
      <p:sp>
        <p:nvSpPr>
          <p:cNvPr id="11" name="Rectangle 10"/>
          <p:cNvSpPr/>
          <p:nvPr/>
        </p:nvSpPr>
        <p:spPr>
          <a:xfrm>
            <a:off x="183600" y="2300000"/>
            <a:ext cx="4100000" cy="780000"/>
          </a:xfrm>
          <a:prstGeom prst="rect">
            <a:avLst/>
          </a:prstGeom>
          <a:solidFill>
            <a:srgbClr val="1E3A5F"/>
          </a:solidFill>
          <a:ln w="15000">
            <a:solidFill>
              <a:srgbClr val="02C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3600" y="2300000"/>
            <a:ext cx="4100000" cy="2600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4560" y="2330000"/>
            <a:ext cx="3980000" cy="200000"/>
          </a:xfrm>
          <a:prstGeom prst="rect">
            <a:avLst/>
          </a:prstGeom>
          <a:noFill/>
        </p:spPr>
        <p:txBody>
          <a:bodyPr wrap="square">
            <a:spAutoFit/>
          </a:bodyPr>
          <a:lstStyle/>
          <a:p>
            <a:pPr algn="ctr"/>
            <a:r>
              <a:rPr sz="1200" b="1" i="0">
                <a:solidFill>
                  <a:srgbClr val="FFFFFF"/>
                </a:solidFill>
                <a:latin typeface="Calibri"/>
              </a:rPr>
              <a:t>MONK Governance Payload</a:t>
            </a:r>
          </a:p>
        </p:txBody>
      </p:sp>
      <p:sp>
        <p:nvSpPr>
          <p:cNvPr id="14" name="TextBox 13"/>
          <p:cNvSpPr txBox="1"/>
          <p:nvPr/>
        </p:nvSpPr>
        <p:spPr>
          <a:xfrm>
            <a:off x="244560" y="2580000"/>
            <a:ext cx="3980000" cy="400110"/>
          </a:xfrm>
          <a:prstGeom prst="rect">
            <a:avLst/>
          </a:prstGeom>
          <a:noFill/>
        </p:spPr>
        <p:txBody>
          <a:bodyPr wrap="square">
            <a:spAutoFit/>
          </a:bodyPr>
          <a:lstStyle/>
          <a:p>
            <a:pPr algn="l"/>
            <a:r>
              <a:rPr sz="1000" b="0" i="0" dirty="0">
                <a:solidFill>
                  <a:srgbClr val="CADCFC"/>
                </a:solidFill>
                <a:latin typeface="Calibri"/>
              </a:rPr>
              <a:t>◆ LAANC Authorization   ◆ Cryptographic Compliance   ◆ Telemetry Validation   ◆ </a:t>
            </a:r>
            <a:r>
              <a:rPr lang="en-US" sz="1000" b="0" i="0" dirty="0">
                <a:solidFill>
                  <a:srgbClr val="CADCFC"/>
                </a:solidFill>
                <a:latin typeface="Calibri"/>
              </a:rPr>
              <a:t>Mission Authorization Signing</a:t>
            </a:r>
            <a:endParaRPr sz="1000" b="0" i="0" dirty="0">
              <a:solidFill>
                <a:srgbClr val="CADCFC"/>
              </a:solidFill>
              <a:latin typeface="Calibri"/>
            </a:endParaRPr>
          </a:p>
        </p:txBody>
      </p:sp>
      <p:sp>
        <p:nvSpPr>
          <p:cNvPr id="15" name="Down Arrow 14"/>
          <p:cNvSpPr/>
          <p:nvPr/>
        </p:nvSpPr>
        <p:spPr>
          <a:xfrm>
            <a:off x="2133600" y="3100000"/>
            <a:ext cx="200000" cy="200000"/>
          </a:xfrm>
          <a:prstGeom prst="downArrow">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63600" y="3110000"/>
            <a:ext cx="1400000" cy="180000"/>
          </a:xfrm>
          <a:prstGeom prst="rect">
            <a:avLst/>
          </a:prstGeom>
          <a:noFill/>
        </p:spPr>
        <p:txBody>
          <a:bodyPr wrap="square">
            <a:spAutoFit/>
          </a:bodyPr>
          <a:lstStyle/>
          <a:p>
            <a:pPr algn="l"/>
            <a:r>
              <a:rPr sz="900" b="0" i="1">
                <a:solidFill>
                  <a:srgbClr val="02C39A"/>
                </a:solidFill>
                <a:latin typeface="Calibri"/>
              </a:rPr>
              <a:t>Signed Compliance Token</a:t>
            </a:r>
          </a:p>
        </p:txBody>
      </p:sp>
      <p:sp>
        <p:nvSpPr>
          <p:cNvPr id="17" name="Rectangle 16"/>
          <p:cNvSpPr/>
          <p:nvPr/>
        </p:nvSpPr>
        <p:spPr>
          <a:xfrm>
            <a:off x="183600" y="3320000"/>
            <a:ext cx="4100000" cy="780000"/>
          </a:xfrm>
          <a:prstGeom prst="rect">
            <a:avLst/>
          </a:prstGeom>
          <a:solidFill>
            <a:srgbClr val="1E3A5F"/>
          </a:solidFill>
          <a:ln w="150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83600" y="3320000"/>
            <a:ext cx="4100000" cy="260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4560" y="3350000"/>
            <a:ext cx="3980000" cy="200000"/>
          </a:xfrm>
          <a:prstGeom prst="rect">
            <a:avLst/>
          </a:prstGeom>
          <a:noFill/>
        </p:spPr>
        <p:txBody>
          <a:bodyPr wrap="square">
            <a:spAutoFit/>
          </a:bodyPr>
          <a:lstStyle/>
          <a:p>
            <a:pPr algn="ctr"/>
            <a:r>
              <a:rPr sz="1200" b="1" i="0">
                <a:solidFill>
                  <a:srgbClr val="FFFFFF"/>
                </a:solidFill>
                <a:latin typeface="Calibri"/>
              </a:rPr>
              <a:t>BVLOS Corridor Network (CURN)</a:t>
            </a:r>
          </a:p>
        </p:txBody>
      </p:sp>
      <p:sp>
        <p:nvSpPr>
          <p:cNvPr id="20" name="TextBox 19"/>
          <p:cNvSpPr txBox="1"/>
          <p:nvPr/>
        </p:nvSpPr>
        <p:spPr>
          <a:xfrm>
            <a:off x="244560" y="3600000"/>
            <a:ext cx="3980000" cy="420000"/>
          </a:xfrm>
          <a:prstGeom prst="rect">
            <a:avLst/>
          </a:prstGeom>
          <a:noFill/>
        </p:spPr>
        <p:txBody>
          <a:bodyPr wrap="square">
            <a:spAutoFit/>
          </a:bodyPr>
          <a:lstStyle/>
          <a:p>
            <a:pPr algn="l"/>
            <a:r>
              <a:rPr sz="1000" b="0" i="0" dirty="0">
                <a:solidFill>
                  <a:srgbClr val="CADCFC"/>
                </a:solidFill>
                <a:latin typeface="Calibri"/>
              </a:rPr>
              <a:t>Flight Monitoring  •  Corridor Access Control  •  Geofence Enforcement  •  Anomaly Alerts</a:t>
            </a:r>
          </a:p>
        </p:txBody>
      </p:sp>
      <p:sp>
        <p:nvSpPr>
          <p:cNvPr id="21" name="Down Arrow 20"/>
          <p:cNvSpPr/>
          <p:nvPr/>
        </p:nvSpPr>
        <p:spPr>
          <a:xfrm>
            <a:off x="2133600" y="4120000"/>
            <a:ext cx="200000" cy="200000"/>
          </a:xfrm>
          <a:prstGeom prst="downArrow">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63600" y="4130000"/>
            <a:ext cx="1400000" cy="180000"/>
          </a:xfrm>
          <a:prstGeom prst="rect">
            <a:avLst/>
          </a:prstGeom>
          <a:noFill/>
        </p:spPr>
        <p:txBody>
          <a:bodyPr wrap="square">
            <a:spAutoFit/>
          </a:bodyPr>
          <a:lstStyle/>
          <a:p>
            <a:pPr algn="l"/>
            <a:r>
              <a:rPr sz="900" b="0" i="1">
                <a:solidFill>
                  <a:srgbClr val="028090"/>
                </a:solidFill>
                <a:latin typeface="Calibri"/>
              </a:rPr>
              <a:t>Authorized Flight Path</a:t>
            </a:r>
          </a:p>
        </p:txBody>
      </p:sp>
      <p:sp>
        <p:nvSpPr>
          <p:cNvPr id="23" name="Rectangle 22"/>
          <p:cNvSpPr/>
          <p:nvPr/>
        </p:nvSpPr>
        <p:spPr>
          <a:xfrm>
            <a:off x="183600" y="4340000"/>
            <a:ext cx="4100000" cy="780000"/>
          </a:xfrm>
          <a:prstGeom prst="rect">
            <a:avLst/>
          </a:prstGeom>
          <a:solidFill>
            <a:srgbClr val="1E3A5F"/>
          </a:solidFill>
          <a:ln w="150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83600" y="4340000"/>
            <a:ext cx="4100000" cy="260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4560" y="4370000"/>
            <a:ext cx="3980000" cy="461665"/>
          </a:xfrm>
          <a:prstGeom prst="rect">
            <a:avLst/>
          </a:prstGeom>
          <a:noFill/>
        </p:spPr>
        <p:txBody>
          <a:bodyPr wrap="square">
            <a:spAutoFit/>
          </a:bodyPr>
          <a:lstStyle/>
          <a:p>
            <a:r>
              <a:rPr lang="en-US" sz="1200" b="1" i="0" dirty="0">
                <a:solidFill>
                  <a:srgbClr val="1E3A5F"/>
                </a:solidFill>
                <a:latin typeface="Calibri"/>
              </a:rPr>
              <a:t>           </a:t>
            </a:r>
            <a:r>
              <a:rPr sz="1200" b="1" i="0" dirty="0">
                <a:solidFill>
                  <a:srgbClr val="1E3A5F"/>
                </a:solidFill>
                <a:latin typeface="Calibri"/>
              </a:rPr>
              <a:t>FAA / U</a:t>
            </a:r>
            <a:r>
              <a:rPr lang="en-US" sz="1200" b="1" i="0" dirty="0">
                <a:solidFill>
                  <a:srgbClr val="1E3A5F"/>
                </a:solidFill>
                <a:latin typeface="Calibri"/>
              </a:rPr>
              <a:t>nmanned </a:t>
            </a:r>
            <a:r>
              <a:rPr sz="1200" b="1" i="0" dirty="0">
                <a:solidFill>
                  <a:srgbClr val="1E3A5F"/>
                </a:solidFill>
                <a:latin typeface="Calibri"/>
              </a:rPr>
              <a:t>T</a:t>
            </a:r>
            <a:r>
              <a:rPr lang="en-US" sz="1200" b="1" i="0" dirty="0">
                <a:solidFill>
                  <a:srgbClr val="1E3A5F"/>
                </a:solidFill>
                <a:latin typeface="Calibri"/>
              </a:rPr>
              <a:t>raffic </a:t>
            </a:r>
            <a:r>
              <a:rPr sz="1200" b="1" i="0" dirty="0">
                <a:solidFill>
                  <a:srgbClr val="1E3A5F"/>
                </a:solidFill>
                <a:latin typeface="Calibri"/>
              </a:rPr>
              <a:t>M</a:t>
            </a:r>
            <a:r>
              <a:rPr lang="en-US" sz="1200" b="1" i="0" dirty="0">
                <a:solidFill>
                  <a:srgbClr val="1E3A5F"/>
                </a:solidFill>
                <a:latin typeface="Calibri"/>
              </a:rPr>
              <a:t>anagement</a:t>
            </a:r>
            <a:r>
              <a:rPr sz="1200" b="1" i="0" dirty="0">
                <a:solidFill>
                  <a:srgbClr val="1E3A5F"/>
                </a:solidFill>
                <a:latin typeface="Calibri"/>
              </a:rPr>
              <a:t> Airspace Management</a:t>
            </a:r>
          </a:p>
        </p:txBody>
      </p:sp>
      <p:sp>
        <p:nvSpPr>
          <p:cNvPr id="26" name="TextBox 25"/>
          <p:cNvSpPr txBox="1"/>
          <p:nvPr/>
        </p:nvSpPr>
        <p:spPr>
          <a:xfrm>
            <a:off x="244560" y="4620000"/>
            <a:ext cx="3980000" cy="246221"/>
          </a:xfrm>
          <a:prstGeom prst="rect">
            <a:avLst/>
          </a:prstGeom>
          <a:noFill/>
        </p:spPr>
        <p:txBody>
          <a:bodyPr wrap="square">
            <a:spAutoFit/>
          </a:bodyPr>
          <a:lstStyle/>
          <a:p>
            <a:pPr algn="l"/>
            <a:r>
              <a:rPr sz="1000" b="0" i="0" dirty="0">
                <a:solidFill>
                  <a:srgbClr val="CADEFC"/>
                </a:solidFill>
                <a:latin typeface="Calibri"/>
              </a:rPr>
              <a:t>Safety • Regulatory Compliance • Traffic Coordination</a:t>
            </a:r>
          </a:p>
        </p:txBody>
      </p:sp>
      <p:sp>
        <p:nvSpPr>
          <p:cNvPr id="27" name="Rectangle 26"/>
          <p:cNvSpPr/>
          <p:nvPr/>
        </p:nvSpPr>
        <p:spPr>
          <a:xfrm>
            <a:off x="4465760" y="1280000"/>
            <a:ext cx="4494640" cy="3613500"/>
          </a:xfrm>
          <a:prstGeom prst="rect">
            <a:avLst/>
          </a:prstGeom>
          <a:solidFill>
            <a:srgbClr val="1E3A5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465760" y="1280000"/>
            <a:ext cx="4494640" cy="260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26720" y="1310000"/>
            <a:ext cx="4374640" cy="200000"/>
          </a:xfrm>
          <a:prstGeom prst="rect">
            <a:avLst/>
          </a:prstGeom>
          <a:noFill/>
        </p:spPr>
        <p:txBody>
          <a:bodyPr wrap="square">
            <a:spAutoFit/>
          </a:bodyPr>
          <a:lstStyle/>
          <a:p>
            <a:pPr algn="ctr"/>
            <a:r>
              <a:rPr sz="1200" b="1" i="0">
                <a:solidFill>
                  <a:srgbClr val="1E3A5F"/>
                </a:solidFill>
                <a:latin typeface="Calibri"/>
              </a:rPr>
              <a:t>Why MONK is the Differentiator</a:t>
            </a:r>
          </a:p>
        </p:txBody>
      </p:sp>
      <p:sp>
        <p:nvSpPr>
          <p:cNvPr id="30" name="TextBox 29"/>
          <p:cNvSpPr txBox="1"/>
          <p:nvPr/>
        </p:nvSpPr>
        <p:spPr>
          <a:xfrm>
            <a:off x="4526720" y="1580000"/>
            <a:ext cx="4374640" cy="200000"/>
          </a:xfrm>
          <a:prstGeom prst="rect">
            <a:avLst/>
          </a:prstGeom>
          <a:noFill/>
        </p:spPr>
        <p:txBody>
          <a:bodyPr wrap="square">
            <a:spAutoFit/>
          </a:bodyPr>
          <a:lstStyle/>
          <a:p>
            <a:pPr algn="l"/>
            <a:r>
              <a:rPr sz="1100" b="1" i="0">
                <a:solidFill>
                  <a:srgbClr val="F5A623"/>
                </a:solidFill>
                <a:latin typeface="Calibri"/>
              </a:rPr>
              <a:t>Every flight is pre-authorized</a:t>
            </a:r>
          </a:p>
        </p:txBody>
      </p:sp>
      <p:sp>
        <p:nvSpPr>
          <p:cNvPr id="31" name="TextBox 30"/>
          <p:cNvSpPr txBox="1"/>
          <p:nvPr/>
        </p:nvSpPr>
        <p:spPr>
          <a:xfrm>
            <a:off x="4526720" y="1770000"/>
            <a:ext cx="4374640" cy="250000"/>
          </a:xfrm>
          <a:prstGeom prst="rect">
            <a:avLst/>
          </a:prstGeom>
          <a:noFill/>
        </p:spPr>
        <p:txBody>
          <a:bodyPr wrap="square">
            <a:spAutoFit/>
          </a:bodyPr>
          <a:lstStyle/>
          <a:p>
            <a:pPr algn="l"/>
            <a:r>
              <a:rPr sz="900" b="0" i="0">
                <a:solidFill>
                  <a:srgbClr val="CADCFC"/>
                </a:solidFill>
                <a:latin typeface="Calibri"/>
              </a:rPr>
              <a:t>LAANC clearance embedded in mission before takeoff — not after</a:t>
            </a:r>
          </a:p>
        </p:txBody>
      </p:sp>
      <p:sp>
        <p:nvSpPr>
          <p:cNvPr id="32" name="TextBox 31"/>
          <p:cNvSpPr txBox="1"/>
          <p:nvPr/>
        </p:nvSpPr>
        <p:spPr>
          <a:xfrm>
            <a:off x="4526720" y="2040000"/>
            <a:ext cx="4374640" cy="200000"/>
          </a:xfrm>
          <a:prstGeom prst="rect">
            <a:avLst/>
          </a:prstGeom>
          <a:noFill/>
        </p:spPr>
        <p:txBody>
          <a:bodyPr wrap="square">
            <a:spAutoFit/>
          </a:bodyPr>
          <a:lstStyle/>
          <a:p>
            <a:pPr algn="l"/>
            <a:r>
              <a:rPr sz="1100" b="1" i="0">
                <a:solidFill>
                  <a:srgbClr val="F5A623"/>
                </a:solidFill>
                <a:latin typeface="Calibri"/>
              </a:rPr>
              <a:t>Every flight is cryptographically signed</a:t>
            </a:r>
          </a:p>
        </p:txBody>
      </p:sp>
      <p:sp>
        <p:nvSpPr>
          <p:cNvPr id="33" name="TextBox 32"/>
          <p:cNvSpPr txBox="1"/>
          <p:nvPr/>
        </p:nvSpPr>
        <p:spPr>
          <a:xfrm>
            <a:off x="4526720" y="2230000"/>
            <a:ext cx="4374640" cy="250000"/>
          </a:xfrm>
          <a:prstGeom prst="rect">
            <a:avLst/>
          </a:prstGeom>
          <a:noFill/>
        </p:spPr>
        <p:txBody>
          <a:bodyPr wrap="square">
            <a:spAutoFit/>
          </a:bodyPr>
          <a:lstStyle/>
          <a:p>
            <a:pPr algn="l"/>
            <a:r>
              <a:rPr sz="900" b="0" i="0">
                <a:solidFill>
                  <a:srgbClr val="CADCFC"/>
                </a:solidFill>
                <a:latin typeface="Calibri"/>
              </a:rPr>
              <a:t>Tamper-evident record auditable by UMMS, FAA, DHS, insurers at any time</a:t>
            </a:r>
          </a:p>
        </p:txBody>
      </p:sp>
      <p:sp>
        <p:nvSpPr>
          <p:cNvPr id="34" name="TextBox 33"/>
          <p:cNvSpPr txBox="1"/>
          <p:nvPr/>
        </p:nvSpPr>
        <p:spPr>
          <a:xfrm>
            <a:off x="4526720" y="2500000"/>
            <a:ext cx="4374640" cy="200000"/>
          </a:xfrm>
          <a:prstGeom prst="rect">
            <a:avLst/>
          </a:prstGeom>
          <a:noFill/>
        </p:spPr>
        <p:txBody>
          <a:bodyPr wrap="square">
            <a:spAutoFit/>
          </a:bodyPr>
          <a:lstStyle/>
          <a:p>
            <a:pPr algn="l"/>
            <a:r>
              <a:rPr sz="1100" b="1" i="0">
                <a:solidFill>
                  <a:srgbClr val="F5A623"/>
                </a:solidFill>
                <a:latin typeface="Calibri"/>
              </a:rPr>
              <a:t>No competitor is building this</a:t>
            </a:r>
          </a:p>
        </p:txBody>
      </p:sp>
      <p:sp>
        <p:nvSpPr>
          <p:cNvPr id="35" name="TextBox 34"/>
          <p:cNvSpPr txBox="1"/>
          <p:nvPr/>
        </p:nvSpPr>
        <p:spPr>
          <a:xfrm>
            <a:off x="4526720" y="2690000"/>
            <a:ext cx="4374640" cy="250000"/>
          </a:xfrm>
          <a:prstGeom prst="rect">
            <a:avLst/>
          </a:prstGeom>
          <a:noFill/>
        </p:spPr>
        <p:txBody>
          <a:bodyPr wrap="square">
            <a:spAutoFit/>
          </a:bodyPr>
          <a:lstStyle/>
          <a:p>
            <a:pPr algn="l"/>
            <a:r>
              <a:rPr sz="900" b="0" i="0">
                <a:solidFill>
                  <a:srgbClr val="CADCFC"/>
                </a:solidFill>
                <a:latin typeface="Calibri"/>
              </a:rPr>
              <a:t>MONK is the trust infrastructure the entire CURN ecosystem will eventually require</a:t>
            </a:r>
          </a:p>
        </p:txBody>
      </p:sp>
      <p:sp>
        <p:nvSpPr>
          <p:cNvPr id="36" name="TextBox 35"/>
          <p:cNvSpPr txBox="1"/>
          <p:nvPr/>
        </p:nvSpPr>
        <p:spPr>
          <a:xfrm>
            <a:off x="4526720" y="2960000"/>
            <a:ext cx="4374640" cy="200000"/>
          </a:xfrm>
          <a:prstGeom prst="rect">
            <a:avLst/>
          </a:prstGeom>
          <a:noFill/>
        </p:spPr>
        <p:txBody>
          <a:bodyPr wrap="square">
            <a:spAutoFit/>
          </a:bodyPr>
          <a:lstStyle/>
          <a:p>
            <a:pPr algn="l"/>
            <a:endParaRPr/>
          </a:p>
        </p:txBody>
      </p:sp>
      <p:sp>
        <p:nvSpPr>
          <p:cNvPr id="37" name="TextBox 36"/>
          <p:cNvSpPr txBox="1"/>
          <p:nvPr/>
        </p:nvSpPr>
        <p:spPr>
          <a:xfrm>
            <a:off x="4526720" y="3150000"/>
            <a:ext cx="4374640" cy="250000"/>
          </a:xfrm>
          <a:prstGeom prst="rect">
            <a:avLst/>
          </a:prstGeom>
          <a:noFill/>
        </p:spPr>
        <p:txBody>
          <a:bodyPr wrap="square">
            <a:spAutoFit/>
          </a:bodyPr>
          <a:lstStyle/>
          <a:p>
            <a:pPr algn="l"/>
            <a:endParaRPr/>
          </a:p>
        </p:txBody>
      </p:sp>
      <p:sp>
        <p:nvSpPr>
          <p:cNvPr id="38" name="TextBox 37"/>
          <p:cNvSpPr txBox="1"/>
          <p:nvPr/>
        </p:nvSpPr>
        <p:spPr>
          <a:xfrm>
            <a:off x="4526720" y="3420000"/>
            <a:ext cx="4374640" cy="200000"/>
          </a:xfrm>
          <a:prstGeom prst="rect">
            <a:avLst/>
          </a:prstGeom>
          <a:noFill/>
        </p:spPr>
        <p:txBody>
          <a:bodyPr wrap="square">
            <a:spAutoFit/>
          </a:bodyPr>
          <a:lstStyle/>
          <a:p>
            <a:pPr algn="l"/>
            <a:r>
              <a:rPr sz="1100" b="1" i="0">
                <a:solidFill>
                  <a:srgbClr val="F5A623"/>
                </a:solidFill>
                <a:latin typeface="Calibri"/>
              </a:rPr>
              <a:t>DHS approved tech list candidate</a:t>
            </a:r>
          </a:p>
        </p:txBody>
      </p:sp>
      <p:sp>
        <p:nvSpPr>
          <p:cNvPr id="39" name="TextBox 38"/>
          <p:cNvSpPr txBox="1"/>
          <p:nvPr/>
        </p:nvSpPr>
        <p:spPr>
          <a:xfrm>
            <a:off x="4526720" y="3610000"/>
            <a:ext cx="4374640" cy="250000"/>
          </a:xfrm>
          <a:prstGeom prst="rect">
            <a:avLst/>
          </a:prstGeom>
          <a:noFill/>
        </p:spPr>
        <p:txBody>
          <a:bodyPr wrap="square">
            <a:spAutoFit/>
          </a:bodyPr>
          <a:lstStyle/>
          <a:p>
            <a:pPr algn="l"/>
            <a:r>
              <a:rPr sz="900" b="0" i="0">
                <a:solidFill>
                  <a:srgbClr val="CADCFC"/>
                </a:solidFill>
                <a:latin typeface="Calibri"/>
              </a:rPr>
              <a:t>Positions KAI-Netics for Safer Skies Act C-UAS certification pathway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4287</Words>
  <Application>Microsoft Office PowerPoint</Application>
  <PresentationFormat>On-screen Show (16:9)</PresentationFormat>
  <Paragraphs>554</Paragraphs>
  <Slides>23</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KAI-Netics MEIA Phase 2 Commercialization Plan</dc:title>
  <dc:subject>PptxGenJS Presentation</dc:subject>
  <dc:creator>Kevin Alexander Smith</dc:creator>
  <cp:lastModifiedBy>Kevin Smith</cp:lastModifiedBy>
  <cp:revision>10</cp:revision>
  <dcterms:created xsi:type="dcterms:W3CDTF">2026-04-11T02:07:57Z</dcterms:created>
  <dcterms:modified xsi:type="dcterms:W3CDTF">2026-04-14T03:04:44Z</dcterms:modified>
</cp:coreProperties>
</file>