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67" r:id="rId18"/>
    <p:sldId id="269" r:id="rId20"/>
    <p:sldId id="258" r:id="rId4"/>
    <p:sldId id="270" r:id="rId21"/>
    <p:sldId id="259" r:id="rId5"/>
    <p:sldId id="260" r:id="rId6"/>
    <p:sldId id="261" r:id="rId7"/>
    <p:sldId id="262" r:id="rId8"/>
    <p:sldId id="263" r:id="rId9"/>
    <p:sldId id="264" r:id="rId10"/>
    <p:sldId id="268" r:id="rId19"/>
    <p:sldId id="271" r:id="rId22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8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6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14.xml"/><Relationship Id="rId20" Type="http://schemas.openxmlformats.org/officeDocument/2006/relationships/slide" Target="slides/slide5.xml"/><Relationship Id="rId21" Type="http://schemas.openxmlformats.org/officeDocument/2006/relationships/slide" Target="slides/slide7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LOC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GHG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hospital leaders said COVID-19 exposed critical supply chain vulnerabilities (GHX).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CURN's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(Equity &amp; Autonomy Foundry/EAF; Certified Autonomous Kinetic Operator/CAKO) = the complete Maryland climate tech story.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p/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p/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Competing only for existing truck trips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Competing for existing truck trips only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p/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(Foundry Prime/FP)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+ CURN nodes own the landing zone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(EAF)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(MONK)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AKMS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p/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p/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Drone-as-Infrastructure (DaI): The Three-Layer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No competitor owns all three layers. That structural advantage is the moat.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00000"/>
            <a:ext cx="2460000" cy="356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3600" y="1400000"/>
            <a:ext cx="2460000" cy="32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360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PHYSICAL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Foundry Prime (FP)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DFR Pads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Drone launch, land &amp; charge at every delivery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CURN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corridor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Flight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56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Medical, inspection, DFR, C-UAS,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560" y="474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= Tesla vehicle + Supercharger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2240" y="1400000"/>
            <a:ext cx="2460000" cy="356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92240" y="1400000"/>
            <a:ext cx="2460000" cy="3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224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HUMAN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224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EAF (501c3)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320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CAKO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320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Baltimore residents trained as FAA Part 107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320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Grant-Funded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320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EARN, FEMA SHSP, CDBG — zero cost to FP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320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Talent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320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CAKO graduates hired by FP at market-rate wages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3200" y="474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A623"/>
                </a:solidFill>
                <a:latin typeface="Calibri"/>
              </a:rPr>
              <a:t>= Tesla Gigafactory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880" y="1400000"/>
            <a:ext cx="2460000" cy="356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0880" y="1400000"/>
            <a:ext cx="2460000" cy="32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088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SOFTWARE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88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MONK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184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AKMS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184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Agent dispatch; drives cost-per-flight down with every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1840" y="243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MONK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1840" y="262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Low Altitude Authorization &amp; Notification Capability (LAANC) + cryptographic signing + tamper-evident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1840" y="290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IP Licensing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1840" y="309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Licensable to operators, municipalities, DHS approved tech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1840" y="474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C39A"/>
                </a:solidFill>
                <a:latin typeface="Calibri"/>
              </a:rPr>
              <a:t>= Tesla FSD + data licensing</a:t>
            </a:r>
          </a:p>
        </p:txBody>
      </p:sp>
      <p:sp>
        <p:nvSpPr>
          <p:cNvPr id="39" name="Can 38"/>
          <p:cNvSpPr/>
          <p:nvPr/>
        </p:nvSpPr>
        <p:spPr>
          <a:xfrm>
            <a:off x="2703600" y="3065700"/>
            <a:ext cx="36576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an 39"/>
          <p:cNvSpPr/>
          <p:nvPr/>
        </p:nvSpPr>
        <p:spPr>
          <a:xfrm>
            <a:off x="5712240" y="3065700"/>
            <a:ext cx="36576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3600" y="4980000"/>
            <a:ext cx="8776800" cy="32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980000"/>
            <a:ext cx="8414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The flywheel: FP operations fund infrastructure → EAF workforce scales capacity → MONK data compounds in value → repeat.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UROC-led BVLOS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(UMGC)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Airspace to Doorstep: CURN → Pad → Last Mile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300000"/>
            <a:ext cx="200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720" y="10600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720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600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libri"/>
              </a:rPr>
              <a:t>CURN Corridor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60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drone highways — Chesapeake Bay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89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UMD UROC owns it: $1.3M state-funded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20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KAI-Netics: First commercial 3PL at Baltimore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51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MONK: Signs mission + validates corridor access before every flight</a:t>
            </a:r>
          </a:p>
        </p:txBody>
      </p:sp>
      <p:sp>
        <p:nvSpPr>
          <p:cNvPr id="13" name="Can 12"/>
          <p:cNvSpPr/>
          <p:nvPr/>
        </p:nvSpPr>
        <p:spPr>
          <a:xfrm>
            <a:off x="2213600" y="3035700"/>
            <a:ext cx="198933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2533" y="1300000"/>
            <a:ext cx="200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59653" y="106000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9653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533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DFR Pad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3493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Physical drone landing, launch &amp; charge station at customer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3493" y="189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The moat: Whoever installs the pad owns the logistics 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3493" y="220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Targets: UMMS Sparrows Point, UMMC downtown, resiliency hubs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493" y="251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Funded by: FEMA, MEIA, MEA Resilient MD — built with OPM</a:t>
            </a:r>
          </a:p>
        </p:txBody>
      </p:sp>
      <p:sp>
        <p:nvSpPr>
          <p:cNvPr id="22" name="Can 21"/>
          <p:cNvSpPr/>
          <p:nvPr/>
        </p:nvSpPr>
        <p:spPr>
          <a:xfrm>
            <a:off x="4472533" y="3035700"/>
            <a:ext cx="198933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1466" y="1300000"/>
            <a:ext cx="200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18586" y="10600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8586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1466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CAKO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426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 Part 107 certified Baltimore resident operating from DFR pad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426" y="189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 authorizes: LAANC clearance + signed mission package before wheels-up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426" y="220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EAF trains; FP hires via Talent Pipeline Agreement</a:t>
            </a:r>
          </a:p>
        </p:txBody>
      </p:sp>
      <p:sp>
        <p:nvSpPr>
          <p:cNvPr id="30" name="Can 29"/>
          <p:cNvSpPr/>
          <p:nvPr/>
        </p:nvSpPr>
        <p:spPr>
          <a:xfrm>
            <a:off x="6731466" y="3035700"/>
            <a:ext cx="198933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0399" y="1300000"/>
            <a:ext cx="200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7519" y="106000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7519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0399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Last-Mile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1359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240"/>
                </a:solidFill>
                <a:latin typeface="Calibri"/>
              </a:rPr>
              <a:t>Tier 1: UMMS hospitals (11), Hopkins labs, Baltimore resiliency hubs (7)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1359" y="189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240"/>
                </a:solidFill>
                <a:latin typeface="Calibri"/>
              </a:rPr>
              <a:t>Payloads: Surgical kits, specimens, Rx, emergency supply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1359" y="220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240"/>
                </a:solidFill>
                <a:latin typeface="Calibri"/>
              </a:rPr>
              <a:t>At scale: New trip categories emerge below Jevons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3600" y="5020000"/>
            <a:ext cx="8776800" cy="2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020000"/>
            <a:ext cx="841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MONK signs every mission at Step 3. Every delivery generates telemetry that makes MONK smarter and the network cheaper to operate.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submitted | EAF Form 1023 submitted | EARN Maryland application filed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18304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96128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application submitted (UMGC) | MBE Certification filed with MD GOMA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BD outreach — UMMS (Pat Vizzard), Johns Hopkins, MedStar Franklin Square, Baltimore City resiliency hubs, MDSHA/bridge inspection targets, BGE/utility solar inspection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18304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1: Medical supply POC (UMMS Sparrows Point → UMMC downtown; at cost-plus-expenses) ★MEIA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2: Lab specimen/blood sample transport — Hopkins + UMMS labs outreach (Dr. Amukele, JHHS Supply Chain) ★MEIA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96128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3: Emergency supply — Baltimore Resiliency Hubs (Aubrey Germ, Office of Sustainability); grant-funded SLA ★MEIA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Scope: Medical supply POC | Lab specimen transport | Pharmacy/Rx delivery | Bridge &amp; infrastructure inspection | Solar panel inspection | DFR SOP development | Emergency resiliency hub supply | Government/MBE small supply — first revenue flights begin April/May; scope spans all Part 107-eligible verticals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begins | UMMS/Hopkins/MedStar POC LOIs in negotiation | Recurring Part 107 revenue ops underway | Techstars AI Health Demo Day (M&amp;T Bank Stadium) — network UMMS/Hopkins/MedStar | CAKO Cohort 1 recruitment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managed service SLA (UMMS or MedStar) | Tradepoint Atlantic inter-facility B2B outreach | $8K–$15K MRR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application (UMGC affiliation) | NSF SBIR Phase I | Campus delivery pilot (UMGC) ★MEIA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33856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 graduates | DFR program package — Baltimore City PD, Anne Arundel ★MEIA | $175K cumulative revenue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3 pitch | Part 108 BVLOS application filed | $248K Year 1 revenue | All 5 verticals operational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p/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MONK Prototype: MEIA Phase 2 Build Plan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5" name="Sub"/>
          <p:cNvSpPr/>
          <p:nvPr/>
        </p:nvSpPr>
        <p:spPr>
          <a:xfrm>
            <a:off x="365760" y="1097280"/>
            <a:ext cx="84124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/>
              </a:rPr>
              <a:t>Automated LAANC authorization + cryptographic mission signing + tamper-evident compliance records. $25K–$30K MEIA vendor budget.</a:t>
            </a:r>
          </a:p>
        </p:txBody>
      </p:sp>
      <p:sp>
        <p:nvSpPr>
          <p:cNvPr id="6" name="C1bg"/>
          <p:cNvSpPr/>
          <p:nvPr/>
        </p:nvSpPr>
        <p:spPr>
          <a:xfrm>
            <a:off x="183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p/>
        </p:txBody>
      </p:sp>
      <p:sp>
        <p:nvSpPr>
          <p:cNvPr id="7" name="C1hdr"/>
          <p:cNvSpPr/>
          <p:nvPr/>
        </p:nvSpPr>
        <p:spPr>
          <a:xfrm>
            <a:off x="183600" y="1554480"/>
            <a:ext cx="19202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1. INTAKE</a:t>
            </a:r>
          </a:p>
        </p:txBody>
      </p:sp>
      <p:sp>
        <p:nvSpPr>
          <p:cNvPr id="8" name="C1txt"/>
          <p:cNvSpPr/>
          <p:nvPr/>
        </p:nvSpPr>
        <p:spPr>
          <a:xfrm>
            <a:off x="229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Mission request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Origin pad, destination, payload, operator cert, time window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Sources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Operator | AKMS agent | Hospital dispatch</a:t>
            </a:r>
          </a:p>
        </p:txBody>
      </p:sp>
      <p:sp>
        <p:nvSpPr>
          <p:cNvPr id="9" name="Arr1"/>
          <p:cNvSpPr/>
          <p:nvPr/>
        </p:nvSpPr>
        <p:spPr>
          <a:xfrm>
            <a:off x="2194840" y="3052800"/>
            <a:ext cx="365760" cy="22860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10" name="C2bg"/>
          <p:cNvSpPr/>
          <p:nvPr/>
        </p:nvSpPr>
        <p:spPr>
          <a:xfrm>
            <a:off x="2651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p/>
        </p:txBody>
      </p:sp>
      <p:sp>
        <p:nvSpPr>
          <p:cNvPr id="11" name="C2hdr"/>
          <p:cNvSpPr/>
          <p:nvPr/>
        </p:nvSpPr>
        <p:spPr>
          <a:xfrm>
            <a:off x="2651600" y="1554480"/>
            <a:ext cx="19202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2. AUTHORIZE</a:t>
            </a:r>
          </a:p>
        </p:txBody>
      </p:sp>
      <p:sp>
        <p:nvSpPr>
          <p:cNvPr id="12" name="C2txt"/>
          <p:cNvSpPr/>
          <p:nvPr/>
        </p:nvSpPr>
        <p:spPr>
          <a:xfrm>
            <a:off x="2697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F5A623"/>
                </a:solidFill>
                <a:latin typeface="Calibri"/>
              </a:rPr>
              <a:t>3 simultaneous checks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LAANC USS API (Aloft) — airspace clearance token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CURN corridor status check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Part 107 credential validation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i="1" dirty="0">
                <a:solidFill>
                  <a:srgbClr val="CADCFC"/>
                </a:solidFill>
                <a:latin typeface="Calibri"/>
              </a:rPr>
              <a:t>All 3 must pass. Any failure = deny with reason code.</a:t>
            </a:r>
          </a:p>
        </p:txBody>
      </p:sp>
      <p:sp>
        <p:nvSpPr>
          <p:cNvPr id="13" name="Arr2"/>
          <p:cNvSpPr/>
          <p:nvPr/>
        </p:nvSpPr>
        <p:spPr>
          <a:xfrm>
            <a:off x="4662840" y="3052800"/>
            <a:ext cx="365760" cy="22860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p/>
        </p:txBody>
      </p:sp>
      <p:sp>
        <p:nvSpPr>
          <p:cNvPr id="14" name="C3bg"/>
          <p:cNvSpPr/>
          <p:nvPr/>
        </p:nvSpPr>
        <p:spPr>
          <a:xfrm>
            <a:off x="5119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p/>
        </p:txBody>
      </p:sp>
      <p:sp>
        <p:nvSpPr>
          <p:cNvPr id="15" name="C3hdr"/>
          <p:cNvSpPr/>
          <p:nvPr/>
        </p:nvSpPr>
        <p:spPr>
          <a:xfrm>
            <a:off x="5119600" y="1554480"/>
            <a:ext cx="19202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3. SIGN</a:t>
            </a:r>
          </a:p>
        </p:txBody>
      </p:sp>
      <p:sp>
        <p:nvSpPr>
          <p:cNvPr id="16" name="C3txt"/>
          <p:cNvSpPr/>
          <p:nvPr/>
        </p:nvSpPr>
        <p:spPr>
          <a:xfrm>
            <a:off x="5165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Cryptographic package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LAANC token + corridor confirm + Part 107 cert + payload + route + MONK signature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HMAC-SHA256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Tamper-evident. Auditable by UMMS, FAA, insurers.</a:t>
            </a:r>
          </a:p>
        </p:txBody>
      </p:sp>
      <p:sp>
        <p:nvSpPr>
          <p:cNvPr id="17" name="Arr3"/>
          <p:cNvSpPr/>
          <p:nvPr/>
        </p:nvSpPr>
        <p:spPr>
          <a:xfrm>
            <a:off x="7130840" y="3052800"/>
            <a:ext cx="365760" cy="228600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txBody>
          <a:bodyPr/>
          <a:p/>
        </p:txBody>
      </p:sp>
      <p:sp>
        <p:nvSpPr>
          <p:cNvPr id="18" name="C4bg"/>
          <p:cNvSpPr/>
          <p:nvPr/>
        </p:nvSpPr>
        <p:spPr>
          <a:xfrm>
            <a:off x="7587600" y="1554480"/>
            <a:ext cx="13724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txBody>
          <a:bodyPr/>
          <a:p/>
        </p:txBody>
      </p:sp>
      <p:sp>
        <p:nvSpPr>
          <p:cNvPr id="19" name="C4hdr"/>
          <p:cNvSpPr/>
          <p:nvPr/>
        </p:nvSpPr>
        <p:spPr>
          <a:xfrm>
            <a:off x="7587600" y="1554480"/>
            <a:ext cx="1372440" cy="3657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4. WRITE-BACK</a:t>
            </a:r>
          </a:p>
        </p:txBody>
      </p:sp>
      <p:sp>
        <p:nvSpPr>
          <p:cNvPr id="20" name="C4txt"/>
          <p:cNvSpPr/>
          <p:nvPr/>
        </p:nvSpPr>
        <p:spPr>
          <a:xfrm>
            <a:off x="7633000" y="1966320"/>
            <a:ext cx="12816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CADCFC"/>
                </a:solidFill>
                <a:latin typeface="Calibri"/>
              </a:rPr>
              <a:t>Post-flight actuals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GPS track + delivery confirm + energy use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Appended to signed record → complete lifecycle audit trail</a:t>
            </a:r>
          </a:p>
        </p:txBody>
      </p:sp>
      <p:sp>
        <p:nvSpPr>
          <p:cNvPr id="21" name="Bottom"/>
          <p:cNvSpPr/>
          <p:nvPr/>
        </p:nvSpPr>
        <p:spPr>
          <a:xfrm>
            <a:off x="183600" y="5303160"/>
            <a:ext cx="877680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Built on the KAI-Netics Core Engine already in production. Every UMMS POC flight produces a MONK-signed compliance record. No competitor is building this trust layer.</a:t>
            </a:r>
          </a:p>
        </p:txBody>
      </p:sp>
    </p:spTree>
  </p:cSld>
  <p:clrMapOvr>
    <a:masterClr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Trusted Governance Layer for Autonomous Aviation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28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3600" y="128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560" y="131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Autonomous Logistics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60" y="156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Delivery Drones (Medical, 3PL)  +  Inspection Drones (Infra, SAR)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33600" y="208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3600" y="209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Encrypted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600" y="230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3600" y="2300000"/>
            <a:ext cx="410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560" y="233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MONK Governance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58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◆ LAANC Authorization   ◆ Cryptographic Compliance   ◆ Telemetry Validation   ◆ MONK-Key Signing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33600" y="3100000"/>
            <a:ext cx="200000" cy="200000"/>
          </a:xfrm>
          <a:prstGeom prst="down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3600" y="311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C39A"/>
                </a:solidFill>
                <a:latin typeface="Calibri"/>
              </a:rPr>
              <a:t>Signed Compliance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600" y="332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3600" y="332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560" y="335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BVLOS Corridor Network (CURN)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560" y="360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Flight Monitoring  •  Corridor Access Control  •  Geofence Enforcement  •  Anomaly Alerts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133600" y="412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63600" y="413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Authorized Flight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600" y="434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3600" y="4340000"/>
            <a:ext cx="410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560" y="437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FAA / UTM Airspace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560" y="462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40"/>
                </a:solidFill>
                <a:latin typeface="Calibri"/>
              </a:rPr>
              <a:t>Safety • Regulatory Compliance • Traffic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5760" y="1280000"/>
            <a:ext cx="4494640" cy="361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5760" y="1280000"/>
            <a:ext cx="449464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720" y="131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Why MONK is the Differentiator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720" y="158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pre-authorized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720" y="177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LAANC clearance embedded in mission before takeoff — not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720" y="204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cryptographically 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720" y="223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auditable by UMMS, FAA, DHS, insurers at any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720" y="250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No competitor is building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720" y="269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 is the trust infrastructure the entire CURN ecosystem will eventually require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720" y="296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MEIA Phase 2 prototype 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720" y="315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$30K MEIA vendor budget builds MONK MVP: LAANC + signing + audit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720" y="342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DHS approved tech list candidate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720" y="361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Positions KAI-Netics for Safer Skies Act C-UAS certification pathway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Alexander Smith</cp:lastModifiedBy>
  <cp:revision>1</cp:revision>
  <dcterms:created xsi:type="dcterms:W3CDTF">2026-04-11T02:07:57Z</dcterms:created>
  <dcterms:modified xsi:type="dcterms:W3CDTF">2026-04-11T02:07:57Z</dcterms:modified>
</cp:coreProperties>
</file>