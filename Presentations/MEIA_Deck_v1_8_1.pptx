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10"/>
  </p:normalViewPr>
  <p:slideViewPr>
    <p:cSldViewPr snapToGrid="0" snapToObjects="1">
      <p:cViewPr>
        <p:scale>
          <a:sx n="135" d="100"/>
          <a:sy n="135" d="100"/>
        </p:scale>
        <p:origin x="-78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50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Logistics Operations Center (LOC)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Green House Gas (GHG)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hospital leaders said COVID-19 exposed critical supply chain vulnerabilities Global Healthcare Exchange (GHX).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CURN's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(EAF/CAKO) = the complete Maryland climate tech 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Competing only for existing truck trips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(FP)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+ CURN nodes own the landing zone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(EAF)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(MONK)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AKMS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UROC-led BVLOS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(UMGC)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submitted | EAF Form 1023 submitted | EARN Maryland application filed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18304" y="118872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18304" y="1188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96128" y="12344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application submitted (UMGC) | MBE Certification filed with MD GOMA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6032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3856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BD outreach — UMMS (Pat Vizzard), Johns Hopkins, MedStar Franklin Square, Baltimore City resiliency hubs, MDSHA/bridge inspection targets, BGE/utility solar inspection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18304" y="1847088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18304" y="18470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96128" y="189280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1: Medical supply POC (UMMS Sparrows Point → UMMC downtown; at cost-plus-expenses) ★MEIA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56032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2: Lab specimen/blood sample transport — Hopkins + UMMS labs outreach (Dr. Amukele, JHHS Supply Chain) ★MEIA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505456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18304" y="250545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96128" y="255117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Vertical 3: Emergency supply — Baltimore Resiliency Hubs (Aubrey Germ, Office of Sustainability); grant-funded SLA ★MEIA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56032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3856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Revenue Scope: Medical supply POC | Lab specimen transport | Pharmacy/Rx delivery | Bridge &amp; infrastructure inspection | Solar panel inspection | DFR SOP development | Emergency resiliency hub supply | Government/MBE small supply — first revenue flights begin April/May; scope spans all Part 107-eligible verticals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3163824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18304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320954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 internship begins | UMMS/Hopkins/MedStar POC LOIs in negotiation | Recurring Part 107 revenue ops underway | Techstars AI Health Demo Day (M&amp;T Bank Stadium) — network UMMS/Hopkins/MedStar | CAKO Cohort 1 recruitment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56032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managed service SLA (UMMS or MedStar) | Tradepoint Atlantic inter-facility B2B outreach | $8K–$15K MRR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22192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18304" y="3822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38679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 application (UMGC affiliation) | NSF SBIR Phase I | Campus delivery pilot (UMGC) ★MEIA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56032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33856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 graduates | DFR program package — Baltimore City PD, Anne Arundel ★MEIA | $175K cumulative revenue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480560"/>
            <a:ext cx="4242816" cy="548640"/>
          </a:xfrm>
          <a:prstGeom prst="rect">
            <a:avLst/>
          </a:prstGeom>
          <a:solidFill>
            <a:srgbClr val="015F6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18304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45262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3 pitch | Part 108 BVLOS application filed | $248K Year 1 revenue | All 5 verticals operational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MONK Prototype: MEIA Phase 2 Build Plan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"/>
          <p:cNvSpPr/>
          <p:nvPr/>
        </p:nvSpPr>
        <p:spPr>
          <a:xfrm>
            <a:off x="365760" y="1097280"/>
            <a:ext cx="84124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/>
              </a:rPr>
              <a:t>Automated LAANC authorization + cryptographic mission signing + tamper-evident compliance records. $25K–$30K MEIA vendor budget.</a:t>
            </a:r>
          </a:p>
        </p:txBody>
      </p:sp>
      <p:sp>
        <p:nvSpPr>
          <p:cNvPr id="6" name="C1bg"/>
          <p:cNvSpPr/>
          <p:nvPr/>
        </p:nvSpPr>
        <p:spPr>
          <a:xfrm>
            <a:off x="183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1hdr"/>
          <p:cNvSpPr/>
          <p:nvPr/>
        </p:nvSpPr>
        <p:spPr>
          <a:xfrm>
            <a:off x="183600" y="1554480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1. INTAKE</a:t>
            </a:r>
          </a:p>
        </p:txBody>
      </p:sp>
      <p:sp>
        <p:nvSpPr>
          <p:cNvPr id="8" name="C1txt"/>
          <p:cNvSpPr/>
          <p:nvPr/>
        </p:nvSpPr>
        <p:spPr>
          <a:xfrm>
            <a:off x="229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Mission request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Origin pad, destination, payload, operator cert, time window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8090"/>
                </a:solidFill>
                <a:latin typeface="Calibri"/>
              </a:rPr>
              <a:t>Sources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Operator | AKMS agent | Hospital dispatch</a:t>
            </a:r>
          </a:p>
        </p:txBody>
      </p:sp>
      <p:sp>
        <p:nvSpPr>
          <p:cNvPr id="9" name="Arr1"/>
          <p:cNvSpPr/>
          <p:nvPr/>
        </p:nvSpPr>
        <p:spPr>
          <a:xfrm>
            <a:off x="2194840" y="3052800"/>
            <a:ext cx="365760" cy="22860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2bg"/>
          <p:cNvSpPr/>
          <p:nvPr/>
        </p:nvSpPr>
        <p:spPr>
          <a:xfrm>
            <a:off x="2651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2hdr"/>
          <p:cNvSpPr/>
          <p:nvPr/>
        </p:nvSpPr>
        <p:spPr>
          <a:xfrm>
            <a:off x="2651600" y="1554480"/>
            <a:ext cx="19202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2. AUTHORIZE</a:t>
            </a:r>
          </a:p>
        </p:txBody>
      </p:sp>
      <p:sp>
        <p:nvSpPr>
          <p:cNvPr id="12" name="C2txt"/>
          <p:cNvSpPr/>
          <p:nvPr/>
        </p:nvSpPr>
        <p:spPr>
          <a:xfrm>
            <a:off x="2697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F5A623"/>
                </a:solidFill>
                <a:latin typeface="Calibri"/>
              </a:rPr>
              <a:t>3 simultaneous checks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LAANC USS API (Aloft) — airspace clearance token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CURN corridor status check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• Part 107 credential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i="1" dirty="0">
                <a:solidFill>
                  <a:srgbClr val="CADCFC"/>
                </a:solidFill>
                <a:latin typeface="Calibri"/>
              </a:rPr>
              <a:t>All 3 must pass. Any failure = deny with reason code.</a:t>
            </a:r>
          </a:p>
        </p:txBody>
      </p:sp>
      <p:sp>
        <p:nvSpPr>
          <p:cNvPr id="13" name="Arr2"/>
          <p:cNvSpPr/>
          <p:nvPr/>
        </p:nvSpPr>
        <p:spPr>
          <a:xfrm>
            <a:off x="4662840" y="3052800"/>
            <a:ext cx="365760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3bg"/>
          <p:cNvSpPr/>
          <p:nvPr/>
        </p:nvSpPr>
        <p:spPr>
          <a:xfrm>
            <a:off x="5119600" y="1554480"/>
            <a:ext cx="19202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3hdr"/>
          <p:cNvSpPr/>
          <p:nvPr/>
        </p:nvSpPr>
        <p:spPr>
          <a:xfrm>
            <a:off x="5119600" y="1554480"/>
            <a:ext cx="19202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3. SIGN</a:t>
            </a:r>
          </a:p>
        </p:txBody>
      </p:sp>
      <p:sp>
        <p:nvSpPr>
          <p:cNvPr id="16" name="C3txt"/>
          <p:cNvSpPr/>
          <p:nvPr/>
        </p:nvSpPr>
        <p:spPr>
          <a:xfrm>
            <a:off x="5165000" y="1966320"/>
            <a:ext cx="18294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Cryptographic package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LAANC token + corridor confirm + Part 107 cert + payload + route + MONK signature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200" b="1" dirty="0">
                <a:solidFill>
                  <a:srgbClr val="02C39A"/>
                </a:solidFill>
                <a:latin typeface="Calibri"/>
              </a:rPr>
              <a:t>HMAC-SHA256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Tamper-evident. Auditable by UMMS, FAA, insurers.</a:t>
            </a:r>
          </a:p>
        </p:txBody>
      </p:sp>
      <p:sp>
        <p:nvSpPr>
          <p:cNvPr id="17" name="Arr3"/>
          <p:cNvSpPr/>
          <p:nvPr/>
        </p:nvSpPr>
        <p:spPr>
          <a:xfrm>
            <a:off x="7130840" y="3052800"/>
            <a:ext cx="365760" cy="228600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4bg"/>
          <p:cNvSpPr/>
          <p:nvPr/>
        </p:nvSpPr>
        <p:spPr>
          <a:xfrm>
            <a:off x="7587600" y="1554480"/>
            <a:ext cx="137244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4hdr"/>
          <p:cNvSpPr/>
          <p:nvPr/>
        </p:nvSpPr>
        <p:spPr>
          <a:xfrm>
            <a:off x="7587600" y="1554480"/>
            <a:ext cx="1372440" cy="365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/>
              </a:rPr>
              <a:t>4. WRITE-BACK</a:t>
            </a:r>
          </a:p>
        </p:txBody>
      </p:sp>
      <p:sp>
        <p:nvSpPr>
          <p:cNvPr id="20" name="C4txt"/>
          <p:cNvSpPr/>
          <p:nvPr/>
        </p:nvSpPr>
        <p:spPr>
          <a:xfrm>
            <a:off x="7633000" y="1966320"/>
            <a:ext cx="1281640" cy="324576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</a:rPr>
              <a:t>Post-flight actuals</a:t>
            </a:r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GPS track + delivery confirm + energy use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100" b="0" dirty="0">
                <a:solidFill>
                  <a:srgbClr val="CADCFC"/>
                </a:solidFill>
                <a:latin typeface="Calibri"/>
              </a:rPr>
              <a:t>Appended to signed record → complete lifecycle audit trail</a:t>
            </a:r>
          </a:p>
        </p:txBody>
      </p:sp>
      <p:sp>
        <p:nvSpPr>
          <p:cNvPr id="21" name="Bottom"/>
          <p:cNvSpPr/>
          <p:nvPr/>
        </p:nvSpPr>
        <p:spPr>
          <a:xfrm>
            <a:off x="183600" y="5303160"/>
            <a:ext cx="87768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Built on the KAI-Netics Core Engine already in production. Every UMMS POC flight produces a MONK-signed compliance record. No competitor is building this trust 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2025</Words>
  <Application>Microsoft Office PowerPoint</Application>
  <PresentationFormat>On-screen Show (16:9)</PresentationFormat>
  <Paragraphs>260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3</cp:revision>
  <dcterms:created xsi:type="dcterms:W3CDTF">2026-04-11T02:07:57Z</dcterms:created>
  <dcterms:modified xsi:type="dcterms:W3CDTF">2026-04-12T16:52:36Z</dcterms:modified>
</cp:coreProperties>
</file>