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6" r:id="rId4"/>
    <p:sldId id="267" r:id="rId5"/>
    <p:sldId id="269" r:id="rId6"/>
    <p:sldId id="258" r:id="rId7"/>
    <p:sldId id="270" r:id="rId8"/>
    <p:sldId id="259" r:id="rId9"/>
    <p:sldId id="260" r:id="rId10"/>
    <p:sldId id="261" r:id="rId11"/>
    <p:sldId id="272" r:id="rId12"/>
    <p:sldId id="262" r:id="rId13"/>
    <p:sldId id="263" r:id="rId14"/>
    <p:sldId id="264" r:id="rId15"/>
    <p:sldId id="268" r:id="rId16"/>
    <p:sldId id="271" r:id="rId17"/>
    <p:sldId id="265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D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5" autoAdjust="0"/>
    <p:restoredTop sz="80157" autoAdjust="0"/>
  </p:normalViewPr>
  <p:slideViewPr>
    <p:cSldViewPr snapToGrid="0" snapToObjects="1">
      <p:cViewPr varScale="1">
        <p:scale>
          <a:sx n="116" d="100"/>
          <a:sy n="116" d="100"/>
        </p:scale>
        <p:origin x="43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405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255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84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UMMS built the Sparrows Point LOC as a deliberate consolidation strategy — centralizing supply receiving across all 11 hospital sites into a single location with one dock, one inventory system, and one logistics team managing inbound flow. That solved the fragmentation problem.</a:t>
            </a:r>
          </a:p>
          <a:p>
            <a:r>
              <a:rPr lang="en-US" dirty="0"/>
              <a:t>But consolidation created a new vulnerability. When you concentrate everything into one node, that node becomes a single point of failure. COVID proved this exactly — when ground transport was disrupted, the entire system froze because every delivery ran through the same bottlenecks.</a:t>
            </a:r>
          </a:p>
          <a:p>
            <a:r>
              <a:rPr lang="en-US" dirty="0"/>
              <a:t>Drones solve that specific problem. A drone doesn't need roads, doesn't need a driver, and operates on a completely separate infrastructure layer from the truck fleet. The LOC keeps doing what it was built to do — consolidate receiving. KAI-</a:t>
            </a:r>
            <a:r>
              <a:rPr lang="en-US" dirty="0" err="1"/>
              <a:t>Netics</a:t>
            </a:r>
            <a:r>
              <a:rPr lang="en-US" dirty="0"/>
              <a:t> adds a resilient last-mile distribution layer underneath it that can't be taken out by the same events that ground trucks.</a:t>
            </a:r>
          </a:p>
          <a:p>
            <a:r>
              <a:rPr lang="en-US" dirty="0"/>
              <a:t>The pitch is not "change how you receive supply." The pitch is "protect what you already built."</a:t>
            </a:r>
          </a:p>
          <a:p>
            <a:r>
              <a:rPr lang="en-US" dirty="0"/>
              <a:t>When a hospital supply chain VP asks "what happens when your system goes down?" — the answer is: our system is what you call when your system goes down.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726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705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64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KAI-Netics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14813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6858000" cy="65836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02920" y="2231136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Infrastructure Operator: Unlocking Maryland's Medical &amp; Community Delivery Market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5760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23744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523744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81728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39712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39712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/ UROC Applicant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7307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Smith, Founder &amp; CEO  |  Kevin Alexander International LLC dba KAI-Netics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050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kas@kevin-llc.com  |  443.257.6836  |  kevin-llc.com  |  April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7183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Submitted to: Maryland Energy Innovation Accelerator (MEIA)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Baltimore's Supply Chain Runs on Diesel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Medline's ~50-mile diesel truck runs from Perryville to UMMS Sparrows Point emit ~80–100 lbs CO2e per run, ~25,000 lbs annually. Every medical delivery is a truck trip.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truck fleets — the distributor's competitive moat — are also their largest cost liability: fuel, labor, maintenance, insurance, and growing emissions compliance burden.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proved the fleet-based model's vulnerability. UMMS built its $100M+ Sparrows Point Logistics Operations Center (LOC) specifically to address pandemic supply chain failures.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UMMS Sparrows Point LOC opened Q2 2025 — 415,000 sq ft serving 11 hospitals, 1.2M+ outpatients/year. It was built to solve supply chain resilience. Drone delivery is the next layer.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Drone Delivery Now: Green House Gas (GHG) Reduction + Supply Chain Resilience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Climate Mandate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Maryland's Climate Solutions Now Act (2022) set the most aggressive GHG targets in the US. Every diesel truck delivering medical supplies is a direct emissions liability — ~80–100 lbs CO2e per run. UMMS's new Sparrows Point LOC was built to Maryland's climate compliance standard*. Drone delivery is the next emissions reduction layer.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Proved the Fragility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“98% of hospital leaders said COVID-19 exposed critical supply chain vulnerabilities” – </a:t>
            </a: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Healthcare Exchange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Fleet-based delivery froze: borders closed, drivers fell ill, hospitals traded supplies between ICU units. UMMS invested $32M in the Sparrows Point LOC specifically to address these pandemic-era failures. The LOC consolidates. Drones make it resilient.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Opportunity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drone market grows from $1.73B (2025) to $4.68B by 2032. FAA Part 107 enables commercial operations TODAY. Chesapeake Unmanned Aerial Systems Route Network (CURN)'s Baltimore corridor provides the airspace. Techstars AI Health Baltimore — anchored by UMMS, Hopkins, MedStar, CareFirst, and UMB — Demo Day June 2026 at M&amp;T Bank Stadium. Baltimore's three largest health systems are actively seeking supply chain innovation partners right now.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MEIA alignment: Clean energy technology + quantifiable GHG reduction + MWVOB operator + green collar workforce (Equity &amp; Autonomy Foundry/EAF; Certified Autonomous Kinetic Operator/CAKO) = the complete Maryland climate tech story.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24B86D-28E4-F7FF-8D68-EA411CAF9AAF}"/>
              </a:ext>
            </a:extLst>
          </p:cNvPr>
          <p:cNvSpPr txBox="1"/>
          <p:nvPr/>
        </p:nvSpPr>
        <p:spPr>
          <a:xfrm>
            <a:off x="1179268" y="4800600"/>
            <a:ext cx="6785465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800" i="1" dirty="0"/>
              <a:t>*The University of Maryland Medical System’s (UMMS) new 400,000-square-foot Logistics Operations Center (LOC) at Sparrows Point complies with Maryland’s climate standards by being an all-electric, solar-ready facility with high-efficiency insulation and heat-recovery technology.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The Infrastructure Thesis: Why KAI-Netics Unlocks a New Market</a:t>
            </a:r>
          </a:p>
        </p:txBody>
      </p:sp>
      <p:sp>
        <p:nvSpPr>
          <p:cNvPr id="4" name="TealBar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ubtitle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500" b="0" i="1" dirty="0">
                <a:solidFill>
                  <a:srgbClr val="028090"/>
                </a:solidFill>
                <a:latin typeface="Calibri" pitchFamily="34" charset="0"/>
              </a:rPr>
              <a:t>Jevons Paradox: when efficiency drives cost down dramatically, total demand expands. Infrastructure density is the trigger.</a:t>
            </a:r>
          </a:p>
        </p:txBody>
      </p:sp>
      <p:sp>
        <p:nvSpPr>
          <p:cNvPr id="6" name="Col1Bg"/>
          <p:cNvSpPr/>
          <p:nvPr/>
        </p:nvSpPr>
        <p:spPr>
          <a:xfrm>
            <a:off x="274638" y="1554480"/>
            <a:ext cx="2438400" cy="3375866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Col1Header"/>
          <p:cNvSpPr/>
          <p:nvPr/>
        </p:nvSpPr>
        <p:spPr>
          <a:xfrm>
            <a:off x="274638" y="1554480"/>
            <a:ext cx="2438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</a:rPr>
              <a:t>TODAY</a:t>
            </a:r>
          </a:p>
        </p:txBody>
      </p:sp>
      <p:sp>
        <p:nvSpPr>
          <p:cNvPr id="8" name="Col1Text"/>
          <p:cNvSpPr/>
          <p:nvPr/>
        </p:nvSpPr>
        <p:spPr>
          <a:xfrm>
            <a:off x="32004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High cost-per-flight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Only critical specimens and urgent Rx justify economics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Use cases are rationed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Low-value trips — pharmacy runs, routine supply — cannot justify the cost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Displacement market only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No new trips are created — we're splitting a fixed pie until the price drops</a:t>
            </a:r>
          </a:p>
        </p:txBody>
      </p:sp>
      <p:sp>
        <p:nvSpPr>
          <p:cNvPr id="9" name="Arrow1"/>
          <p:cNvSpPr/>
          <p:nvPr/>
        </p:nvSpPr>
        <p:spPr>
          <a:xfrm>
            <a:off x="2804238" y="3006600"/>
            <a:ext cx="548640" cy="27432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ol2Bg"/>
          <p:cNvSpPr/>
          <p:nvPr/>
        </p:nvSpPr>
        <p:spPr>
          <a:xfrm>
            <a:off x="3352878" y="1554480"/>
            <a:ext cx="2438400" cy="3375866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ol2Header"/>
          <p:cNvSpPr/>
          <p:nvPr/>
        </p:nvSpPr>
        <p:spPr>
          <a:xfrm>
            <a:off x="3352878" y="1554480"/>
            <a:ext cx="2438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KAI-NETICS BUILDS</a:t>
            </a:r>
          </a:p>
        </p:txBody>
      </p:sp>
      <p:sp>
        <p:nvSpPr>
          <p:cNvPr id="12" name="Col2Text"/>
          <p:cNvSpPr/>
          <p:nvPr/>
        </p:nvSpPr>
        <p:spPr>
          <a:xfrm>
            <a:off x="3398280" y="1920240"/>
            <a:ext cx="2347596" cy="29714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Physical layer (KAI-</a:t>
            </a:r>
            <a:r>
              <a:rPr lang="en-US" sz="1300" b="1" dirty="0" err="1">
                <a:solidFill>
                  <a:srgbClr val="F5A623"/>
                </a:solidFill>
                <a:latin typeface="Calibri"/>
              </a:rPr>
              <a:t>Netics</a:t>
            </a:r>
            <a:r>
              <a:rPr lang="en-US" sz="1300" b="1" dirty="0">
                <a:solidFill>
                  <a:srgbClr val="F5A623"/>
                </a:solidFill>
                <a:latin typeface="Calibri"/>
              </a:rPr>
              <a:t> For Profit)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DFR pads at customer sites + CURN corridor access = controlled end-to-end flight path</a:t>
            </a: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</a:pP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</a:pP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Human layer (Equity &amp; Autonomy Foundry)</a:t>
            </a: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CAKO operators = captive workforce supply chain</a:t>
            </a: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  <a:buNone/>
            </a:pP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  <a:buNone/>
            </a:pP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Software layer (Modular Operational Network Kernel)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Autonomous Kinetic Management System (AKMS) AI drives cost-per-flight down with every delivery</a:t>
            </a:r>
          </a:p>
        </p:txBody>
      </p:sp>
      <p:sp>
        <p:nvSpPr>
          <p:cNvPr id="13" name="Arrow2"/>
          <p:cNvSpPr/>
          <p:nvPr/>
        </p:nvSpPr>
        <p:spPr>
          <a:xfrm>
            <a:off x="5882478" y="3006600"/>
            <a:ext cx="54864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ol3Bg"/>
          <p:cNvSpPr/>
          <p:nvPr/>
        </p:nvSpPr>
        <p:spPr>
          <a:xfrm>
            <a:off x="6431118" y="1554480"/>
            <a:ext cx="2438400" cy="3375866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Col3Header"/>
          <p:cNvSpPr/>
          <p:nvPr/>
        </p:nvSpPr>
        <p:spPr>
          <a:xfrm>
            <a:off x="6431118" y="1554480"/>
            <a:ext cx="243840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AT SCALE</a:t>
            </a:r>
          </a:p>
        </p:txBody>
      </p:sp>
      <p:sp>
        <p:nvSpPr>
          <p:cNvPr id="16" name="Col3Text"/>
          <p:cNvSpPr/>
          <p:nvPr/>
        </p:nvSpPr>
        <p:spPr>
          <a:xfrm>
            <a:off x="647652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New categories emerge: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Routine pharmacy courier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Campus internal supply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Non-critical specimen pickup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Municipal small supply (MBE)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Food desert last-mile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Market expands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Demand that does not yet exist at scale</a:t>
            </a:r>
          </a:p>
        </p:txBody>
      </p:sp>
      <p:sp>
        <p:nvSpPr>
          <p:cNvPr id="17" name="BottomCallout"/>
          <p:cNvSpPr/>
          <p:nvPr/>
        </p:nvSpPr>
        <p:spPr>
          <a:xfrm>
            <a:off x="274638" y="5303160"/>
            <a:ext cx="859488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/>
              </a:rPr>
              <a:t>KAI-Netics is not competing for existing drone delivery market share. It is building the infrastructure that creates the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Drone-as-Infrastructure (DaI): The Three-Layer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60000"/>
            <a:ext cx="8778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28090"/>
                </a:solidFill>
                <a:latin typeface="Calibri"/>
              </a:rPr>
              <a:t>No competitor owns all three layers. That structural advantage is the moat.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3600" y="1400000"/>
            <a:ext cx="2460000" cy="3374131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3600" y="1400000"/>
            <a:ext cx="2460000" cy="32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360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PHYSICAL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600" y="1720000"/>
            <a:ext cx="246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028090"/>
                </a:solidFill>
                <a:latin typeface="Calibri"/>
              </a:rPr>
              <a:t>KAI-</a:t>
            </a:r>
            <a:r>
              <a:rPr lang="en-US" sz="1100" b="1" dirty="0" err="1">
                <a:solidFill>
                  <a:srgbClr val="028090"/>
                </a:solidFill>
                <a:latin typeface="Calibri"/>
              </a:rPr>
              <a:t>Netics</a:t>
            </a:r>
            <a:r>
              <a:rPr lang="en-US" sz="1100" b="1" dirty="0">
                <a:solidFill>
                  <a:srgbClr val="028090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028090"/>
                </a:solidFill>
                <a:latin typeface="Calibri"/>
              </a:rPr>
              <a:t>(FP)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6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DFR Pads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560" y="2150000"/>
            <a:ext cx="234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Drone launch, land &amp; charge at every delivery node</a:t>
            </a:r>
            <a:endParaRPr lang="en-US" sz="900" b="0" i="0" dirty="0">
              <a:solidFill>
                <a:srgbClr val="CADCFC"/>
              </a:solidFill>
              <a:latin typeface="Calibri"/>
            </a:endParaRPr>
          </a:p>
          <a:p>
            <a:pPr algn="l"/>
            <a:endParaRPr lang="en-US" sz="900" dirty="0">
              <a:solidFill>
                <a:srgbClr val="CADCFC"/>
              </a:solidFill>
              <a:latin typeface="Calibri"/>
            </a:endParaRPr>
          </a:p>
          <a:p>
            <a:pPr algn="l"/>
            <a:endParaRPr sz="900" b="0" i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4560" y="2503842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CURN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560" y="2711564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FAA-authorized BVLOS corridor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720" y="2990731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Flight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560" y="3184335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Medical, inspection, DFR, C-UAS,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560" y="4494552"/>
            <a:ext cx="23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028090"/>
                </a:solidFill>
                <a:latin typeface="Calibri"/>
              </a:rPr>
              <a:t>= Tesla</a:t>
            </a:r>
            <a:r>
              <a:rPr lang="en-US" sz="900" b="0" i="1" dirty="0">
                <a:solidFill>
                  <a:srgbClr val="028090"/>
                </a:solidFill>
                <a:latin typeface="Calibri"/>
              </a:rPr>
              <a:t> (TSLA)</a:t>
            </a:r>
            <a:r>
              <a:rPr sz="900" b="0" i="1" dirty="0">
                <a:solidFill>
                  <a:srgbClr val="028090"/>
                </a:solidFill>
                <a:latin typeface="Calibri"/>
              </a:rPr>
              <a:t> vehicle + Supercharger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92240" y="1400000"/>
            <a:ext cx="2460000" cy="3374131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3192240" y="1400000"/>
            <a:ext cx="2460000" cy="3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9224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HUMAN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2240" y="1720000"/>
            <a:ext cx="246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5A623"/>
                </a:solidFill>
                <a:latin typeface="Calibri"/>
              </a:rPr>
              <a:t>E</a:t>
            </a:r>
            <a:r>
              <a:rPr lang="en-US" sz="1100" b="1" i="0" dirty="0">
                <a:solidFill>
                  <a:srgbClr val="F5A623"/>
                </a:solidFill>
                <a:latin typeface="Calibri"/>
              </a:rPr>
              <a:t>quity &amp; </a:t>
            </a:r>
            <a:r>
              <a:rPr sz="1100" b="1" i="0" dirty="0">
                <a:solidFill>
                  <a:srgbClr val="F5A623"/>
                </a:solidFill>
                <a:latin typeface="Calibri"/>
              </a:rPr>
              <a:t>A</a:t>
            </a:r>
            <a:r>
              <a:rPr lang="en-US" sz="1100" b="1" i="0" dirty="0">
                <a:solidFill>
                  <a:srgbClr val="F5A623"/>
                </a:solidFill>
                <a:latin typeface="Calibri"/>
              </a:rPr>
              <a:t>utonomy </a:t>
            </a:r>
            <a:r>
              <a:rPr sz="1100" b="1" i="0" dirty="0">
                <a:solidFill>
                  <a:srgbClr val="F5A623"/>
                </a:solidFill>
                <a:latin typeface="Calibri"/>
              </a:rPr>
              <a:t>F</a:t>
            </a:r>
            <a:r>
              <a:rPr lang="en-US" sz="1100" b="1" i="0" dirty="0">
                <a:solidFill>
                  <a:srgbClr val="F5A623"/>
                </a:solidFill>
                <a:latin typeface="Calibri"/>
              </a:rPr>
              <a:t>oundry</a:t>
            </a:r>
            <a:r>
              <a:rPr sz="1100" b="1" i="0" dirty="0">
                <a:solidFill>
                  <a:srgbClr val="F5A623"/>
                </a:solidFill>
                <a:latin typeface="Calibri"/>
              </a:rPr>
              <a:t> (501c3)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5320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CAKO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53200" y="215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Baltimore residents trained as FAA Part 107 operators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2240" y="2536209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Grant-Funded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3200" y="2743604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EARN, FEMA SHSP, CDBG — zero cost to FP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53200" y="2986973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Talent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53200" y="3166266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CAKO graduates hired by FP at market-rate wages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53200" y="4518617"/>
            <a:ext cx="23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F5A623"/>
                </a:solidFill>
                <a:latin typeface="Calibri"/>
              </a:rPr>
              <a:t>= T</a:t>
            </a:r>
            <a:r>
              <a:rPr lang="en-US" sz="900" b="0" i="1" dirty="0">
                <a:solidFill>
                  <a:srgbClr val="F5A623"/>
                </a:solidFill>
                <a:latin typeface="Calibri"/>
              </a:rPr>
              <a:t>SLA</a:t>
            </a:r>
            <a:r>
              <a:rPr sz="900" b="0" i="1" dirty="0">
                <a:solidFill>
                  <a:srgbClr val="F5A623"/>
                </a:solidFill>
                <a:latin typeface="Calibri"/>
              </a:rPr>
              <a:t> Gigafactory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0880" y="1400000"/>
            <a:ext cx="2460000" cy="3374131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00880" y="1400000"/>
            <a:ext cx="2460000" cy="32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0088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SOFTWARE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0880" y="1720000"/>
            <a:ext cx="2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2C39A"/>
                </a:solidFill>
                <a:latin typeface="Calibri"/>
              </a:rPr>
              <a:t>MONK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184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AKMS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1840" y="215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Agent dispatch; drives cost-per-flight down with every 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0880" y="2536209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MONK Trust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1840" y="273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Low Altitude Authorization &amp; Notification Capability (LAANC) + cryptographic signing + tamper-evident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0880" y="32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IP Licensing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0880" y="3436266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Licensable to operators, municipalities, DHS approved tech 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0880" y="4522531"/>
            <a:ext cx="23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02C39A"/>
                </a:solidFill>
                <a:latin typeface="Calibri"/>
              </a:rPr>
              <a:t>= </a:t>
            </a:r>
            <a:r>
              <a:rPr lang="en-US" sz="900" b="0" i="1" dirty="0">
                <a:solidFill>
                  <a:srgbClr val="02C39A"/>
                </a:solidFill>
                <a:latin typeface="Calibri"/>
              </a:rPr>
              <a:t>TSLA Full-Service Driving</a:t>
            </a:r>
            <a:r>
              <a:rPr sz="900" b="0" i="1" dirty="0">
                <a:solidFill>
                  <a:srgbClr val="02C39A"/>
                </a:solidFill>
                <a:latin typeface="Calibri"/>
              </a:rPr>
              <a:t> </a:t>
            </a:r>
            <a:r>
              <a:rPr lang="en-US" sz="900" b="0" i="1" dirty="0">
                <a:solidFill>
                  <a:srgbClr val="02C39A"/>
                </a:solidFill>
                <a:latin typeface="Calibri"/>
              </a:rPr>
              <a:t>(</a:t>
            </a:r>
            <a:r>
              <a:rPr sz="900" b="0" i="1" dirty="0">
                <a:solidFill>
                  <a:srgbClr val="02C39A"/>
                </a:solidFill>
                <a:latin typeface="Calibri"/>
              </a:rPr>
              <a:t>FSD</a:t>
            </a:r>
            <a:r>
              <a:rPr lang="en-US" sz="900" b="0" i="1" dirty="0">
                <a:solidFill>
                  <a:srgbClr val="02C39A"/>
                </a:solidFill>
                <a:latin typeface="Calibri"/>
              </a:rPr>
              <a:t>)</a:t>
            </a:r>
            <a:r>
              <a:rPr sz="900" b="0" i="1" dirty="0">
                <a:solidFill>
                  <a:srgbClr val="02C39A"/>
                </a:solidFill>
                <a:latin typeface="Calibri"/>
              </a:rPr>
              <a:t> data licensing</a:t>
            </a:r>
          </a:p>
        </p:txBody>
      </p:sp>
      <p:sp>
        <p:nvSpPr>
          <p:cNvPr id="39" name="Can 38"/>
          <p:cNvSpPr/>
          <p:nvPr/>
        </p:nvSpPr>
        <p:spPr>
          <a:xfrm>
            <a:off x="2703600" y="3065700"/>
            <a:ext cx="365760" cy="228600"/>
          </a:xfrm>
          <a:prstGeom prst="can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an 39"/>
          <p:cNvSpPr/>
          <p:nvPr/>
        </p:nvSpPr>
        <p:spPr>
          <a:xfrm>
            <a:off x="5712240" y="3065700"/>
            <a:ext cx="365760" cy="228600"/>
          </a:xfrm>
          <a:prstGeom prst="can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83600" y="4792302"/>
            <a:ext cx="8776800" cy="32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4792302"/>
            <a:ext cx="8414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 dirty="0">
                <a:solidFill>
                  <a:srgbClr val="FFFFFF"/>
                </a:solidFill>
                <a:latin typeface="Calibri"/>
              </a:rPr>
              <a:t>The flywheel: FP operations fund infrastructure → EAF workforce scales capacity → MONK data compounds in value → repeat.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Drone Infrastructure Operator at the CURN Baltimore Endpoint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Chesapeake UAS Route Network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94944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UMD University of Maryland Regional Operations Center (UROC) -led Beyond Visual Line Of Site (BVLOS) drone corridors over Chesapeake Bay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94944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$1.3M Maryland Commerce funded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" y="2907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+ Navy + DHS + ARL partnerships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94944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over water = minimal crash risk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94944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endpoint = KAI-Netics operating zone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1188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Network Tiers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664208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NOW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6592" y="202996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supply  •  Lab specimens  •  Pharmacy  •  Resiliency hubs  •  Gov't small supply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43200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6–12 MO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36592" y="310896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delivery (Johns Hopkins, etc.)  •  Food desert last-mile  •  Port of Baltimore  •  Legal courier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822192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POST-108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36592" y="418795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Eastern Shore  •  Organ transport  •  Full CURN carrier license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From Airspace to Doorstep: CURN → Pad → Last Mile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3600" y="1300000"/>
            <a:ext cx="2000000" cy="3421192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0720" y="106000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0720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600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  <a:latin typeface="Calibri"/>
              </a:rPr>
              <a:t>CURN Corridor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560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FAA-authorized BVLOS drone highways — Chesapeake Bay corridor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60" y="213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UMD UROC owns it: $1.3M state-funded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560" y="2566601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KAI-</a:t>
            </a:r>
            <a:r>
              <a:rPr sz="900" b="0" i="0" dirty="0" err="1">
                <a:solidFill>
                  <a:srgbClr val="CADCFC"/>
                </a:solidFill>
                <a:latin typeface="Calibri"/>
              </a:rPr>
              <a:t>Netics</a:t>
            </a:r>
            <a:r>
              <a:rPr sz="900" b="0" i="0" dirty="0">
                <a:solidFill>
                  <a:srgbClr val="CADCFC"/>
                </a:solidFill>
                <a:latin typeface="Calibri"/>
              </a:rPr>
              <a:t>: First commercial 3PL at Baltimore endpoint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560" y="29543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MONK: Signs mission + validates corridor access before every flight</a:t>
            </a:r>
          </a:p>
        </p:txBody>
      </p:sp>
      <p:sp>
        <p:nvSpPr>
          <p:cNvPr id="13" name="Can 12"/>
          <p:cNvSpPr/>
          <p:nvPr/>
        </p:nvSpPr>
        <p:spPr>
          <a:xfrm>
            <a:off x="2213600" y="3035700"/>
            <a:ext cx="198933" cy="228600"/>
          </a:xfrm>
          <a:prstGeom prst="can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42533" y="1300000"/>
            <a:ext cx="2000000" cy="3421192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259653" y="1060000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59653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533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  <a:latin typeface="Calibri"/>
              </a:rPr>
              <a:t>DFR Pad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3493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Physical drone landing, launch &amp; charge station at customer 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3493" y="1953945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The moat: Whoever installs the pad owns the logistics relationship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3493" y="2388165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Targets: UMMS Sparrows Point, UMMC downtown, resiliency hubs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3493" y="2795441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Funded by: FEMA, MEIA, MEA Resilient MD — built with OPM</a:t>
            </a:r>
          </a:p>
        </p:txBody>
      </p:sp>
      <p:sp>
        <p:nvSpPr>
          <p:cNvPr id="22" name="Can 21"/>
          <p:cNvSpPr/>
          <p:nvPr/>
        </p:nvSpPr>
        <p:spPr>
          <a:xfrm>
            <a:off x="4472533" y="3035700"/>
            <a:ext cx="198933" cy="228600"/>
          </a:xfrm>
          <a:prstGeom prst="can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01466" y="1300000"/>
            <a:ext cx="2000000" cy="3421192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518586" y="106000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18586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1466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  <a:latin typeface="Calibri"/>
              </a:rPr>
              <a:t>CAKO Operator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426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FAA Part 107 certified Baltimore resident operating from DFR pad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06998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MONK authorizes: LAANC clearance + signed mission package before wheels-up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68922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EAF trains; FP hires via Talent Pipeline Agreement</a:t>
            </a:r>
          </a:p>
        </p:txBody>
      </p:sp>
      <p:sp>
        <p:nvSpPr>
          <p:cNvPr id="30" name="Can 29"/>
          <p:cNvSpPr/>
          <p:nvPr/>
        </p:nvSpPr>
        <p:spPr>
          <a:xfrm>
            <a:off x="6731466" y="3035700"/>
            <a:ext cx="198933" cy="228600"/>
          </a:xfrm>
          <a:prstGeom prst="can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60399" y="1300000"/>
            <a:ext cx="2000000" cy="3421192"/>
          </a:xfrm>
          <a:prstGeom prst="rect">
            <a:avLst/>
          </a:prstGeom>
          <a:solidFill>
            <a:srgbClr val="1E3A5F"/>
          </a:solidFill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777519" y="1060000"/>
            <a:ext cx="365760" cy="3657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7519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0399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ADCFC"/>
                </a:solidFill>
                <a:latin typeface="Calibri"/>
              </a:rPr>
              <a:t>Last-Mile 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1359" y="1580000"/>
            <a:ext cx="188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EFC"/>
                </a:solidFill>
                <a:latin typeface="Calibri"/>
              </a:rPr>
              <a:t>Tier</a:t>
            </a:r>
            <a:r>
              <a:rPr sz="900" b="0" i="0" dirty="0">
                <a:solidFill>
                  <a:srgbClr val="0A2240"/>
                </a:solidFill>
                <a:latin typeface="Calibri"/>
              </a:rPr>
              <a:t> </a:t>
            </a:r>
            <a:r>
              <a:rPr sz="900" dirty="0">
                <a:solidFill>
                  <a:srgbClr val="CADEFC"/>
                </a:solidFill>
                <a:latin typeface="Calibri"/>
              </a:rPr>
              <a:t>1: UMMS hospitals (11), Hopkins labs, Baltimore resiliency hubs (7)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1359" y="2138261"/>
            <a:ext cx="18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CADEFC"/>
                </a:solidFill>
                <a:latin typeface="Calibri"/>
              </a:rPr>
              <a:t>Payloads: Surgical kits, specimens, Rx, emergency supply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1359" y="2566601"/>
            <a:ext cx="18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CADEFC"/>
                </a:solidFill>
                <a:latin typeface="Calibri"/>
              </a:rPr>
              <a:t>At scale: New trip categories emerge below Jevons Threshold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3600" y="4793803"/>
            <a:ext cx="8776800" cy="28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4793803"/>
            <a:ext cx="8414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 dirty="0">
                <a:solidFill>
                  <a:srgbClr val="FFFFFF"/>
                </a:solidFill>
                <a:latin typeface="Calibri"/>
              </a:rPr>
              <a:t>MONK signs every mission at Step 3. Every delivery generates telemetry that makes MONK smarter and the network cheaper to operate.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Carbon Story: Replacing Dirty Truck Trips with Electric Drones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93192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TRUCK (Current)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7190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Perryville → Sparrows Point (~50 mi)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run: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~80–100 lbs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(estimated)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712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871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~20,000–25,000 lbs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driver: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255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+ labor + maintenance + insurance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188720"/>
            <a:ext cx="3931920" cy="2560320"/>
          </a:xfrm>
          <a:prstGeom prst="rect">
            <a:avLst/>
          </a:prstGeom>
          <a:solidFill>
            <a:srgbClr val="E8F8F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DRONE (KAI-Netics)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17190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171907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corridor — over water (Patapsco)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103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delivery: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1031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~0.04–0.11 lbs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487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deliveries: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487168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(same frequency)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8712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87121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~9–26 lbs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32552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325526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grid (~0.1–0.3 kWh/delivery)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913632"/>
            <a:ext cx="859536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041648"/>
            <a:ext cx="475488" cy="47548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05840" y="40050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~19,974 lbs CO2e saved per delivery lane per year  =  ~9 metric tons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05840" y="4389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UMMS 11-hospital network: ~99 metric tons CO2e/year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21792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EPA MOVES diesel factors + EPA eGrid MD grid emissions intensity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Customer: UMMS Sparrows Point LOC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 ft LOC — opened Q2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23744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523744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23744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UMMS hospitals served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74320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MD hospital care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23744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523744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23744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outpatients annually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28032" y="1188720"/>
            <a:ext cx="4041648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28032" y="1234440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Part 107 POC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32704" y="1737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Sparrows Point LOC → UMMC Downtown (~8 mi, Patapsco corridor)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32704" y="21945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Sub-5lb surgical kits &amp; medical supplies (non-controlled)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32704" y="26517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commercial; LAANC authorized; Remote ID compliant; drone rented for pilot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32704" y="31089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days; minimum 50 deliveries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32704" y="35661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completion rate; &lt;50% truck cost per delivery; pricing at cost-plus-expenses (~$2,500–$5,000 full pilot)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32704" y="4023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Vizzard, VP Supply Chain Management, UMMS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913632"/>
            <a:ext cx="4370832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02336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Timothy Amukele (Hopkins)  |  Outreach Initiated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" y="424281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medical delivery pioneer — KAI-Netics is engaging Dr. Amukele for research collaboration, POC validation, and UMMS/Hopkins network introductions.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KAI-Netics Wins This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#5250157 — commercially operational TODAY. No regulatory wait, no capital dependency. First revenue can start this month.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 Career Insider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knowledge of surgical kit delivery economics, fleet cost structures, and last-mile pain points. No competitor has this.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UROC/CURN internship. Opens every Maryland institutional door. SBIR affiliation. Academic credibility layer.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438912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0723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9264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 + PMP Active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38912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Federal/healthcare procurement signal. Enterprise-grade trust architecture (MONK). 33 years IT operational discipline.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72968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3337560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07238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67912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37560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priority population. MBE certification in progress. Government set-aside eligible. Green collar workforce (EAF/CAKO).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71616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6236208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07238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Ecosystem Access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36208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UROC internship — would place Kevin inside the organization building Maryland's commercial drone infrastructure.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00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000"/>
            <a:ext cx="864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KAI-Netics Leadership &amp; Advisory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000" y="1100000"/>
            <a:ext cx="4200000" cy="1700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0000" y="1100000"/>
            <a:ext cx="18000" cy="170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6000" y="1180000"/>
            <a:ext cx="41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Kevin Alexander Smith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000" y="1420000"/>
            <a:ext cx="41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28090"/>
                </a:solidFill>
                <a:latin typeface="Calibri"/>
              </a:rPr>
              <a:t>CEO &amp; Founder | Kevin Alexander International LLC dba KAI-Netics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000" y="1600000"/>
            <a:ext cx="41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8D8"/>
                </a:solidFill>
                <a:latin typeface="Calibri"/>
              </a:rPr>
              <a:t>Baltimore, 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000" y="1780000"/>
            <a:ext cx="41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0EC"/>
                </a:solidFill>
                <a:latin typeface="Calibri"/>
              </a:rPr>
              <a:t>• CISSP · PMP · CCNA · Security+ · MCSE · FAA Part 107 #5250157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000" y="1980000"/>
            <a:ext cx="41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0EC"/>
                </a:solidFill>
                <a:latin typeface="Calibri"/>
              </a:rPr>
              <a:t>• 33-year IT/cybersecurity career | TSA, CMS, Medline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000" y="2180000"/>
            <a:ext cx="41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0EC"/>
                </a:solidFill>
                <a:latin typeface="Calibri"/>
              </a:rPr>
              <a:t>• UMGC student | MONK architect &amp; chief BD officer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44000" y="1100000"/>
            <a:ext cx="4200000" cy="1700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44000" y="1100000"/>
            <a:ext cx="18000" cy="170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80000" y="1180000"/>
            <a:ext cx="41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Dr. Alexander Kott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0000" y="1420000"/>
            <a:ext cx="41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5A623"/>
                </a:solidFill>
                <a:latin typeface="Calibri"/>
              </a:rPr>
              <a:t>Technical Advisor &amp; SCORE Mentor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0000" y="1600000"/>
            <a:ext cx="41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8D8"/>
                </a:solidFill>
                <a:latin typeface="Calibri"/>
              </a:rPr>
              <a:t>Former Chief Scientist, U.S. Army Research Laboratory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0000" y="1780000"/>
            <a:ext cx="41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0EC"/>
                </a:solidFill>
                <a:latin typeface="Calibri"/>
              </a:rPr>
              <a:t>• Expert in autonomous systems governance &amp;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0000" y="1980000"/>
            <a:ext cx="41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0EC"/>
                </a:solidFill>
                <a:latin typeface="Calibri"/>
              </a:rPr>
              <a:t>• Advisor to Heven Drones | ARL-connected advisory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0000" y="2180000"/>
            <a:ext cx="41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0EC"/>
                </a:solidFill>
                <a:latin typeface="Calibri"/>
              </a:rPr>
              <a:t>• Validates MONK architecture for DoD/DHS conversations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000" y="2910000"/>
            <a:ext cx="8744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B4C8"/>
                </a:solidFill>
                <a:latin typeface="Calibri"/>
              </a:rPr>
              <a:t>EAF Board of Directors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0000" y="3170000"/>
            <a:ext cx="8744000" cy="9144"/>
          </a:xfrm>
          <a:prstGeom prst="rect">
            <a:avLst/>
          </a:prstGeom>
          <a:solidFill>
            <a:srgbClr val="2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00000" y="3200000"/>
            <a:ext cx="4200000" cy="1200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0000" y="3200000"/>
            <a:ext cx="18000" cy="120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6000" y="3280000"/>
            <a:ext cx="41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Maurice Ellis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6000" y="3520000"/>
            <a:ext cx="41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2C39A"/>
                </a:solidFill>
                <a:latin typeface="Calibri"/>
              </a:rPr>
              <a:t>EAF Board Member | Professional 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6000" y="3880000"/>
            <a:ext cx="41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0EC"/>
                </a:solidFill>
                <a:latin typeface="Calibri"/>
              </a:rPr>
              <a:t>• Licensed commercial pilot — operational credibility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6000" y="4080000"/>
            <a:ext cx="41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0EC"/>
                </a:solidFill>
                <a:latin typeface="Calibri"/>
              </a:rPr>
              <a:t>• Supports CAKO curriculum and flight standards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44000" y="3200000"/>
            <a:ext cx="4200000" cy="1200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744000" y="3200000"/>
            <a:ext cx="18000" cy="120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80000" y="3280000"/>
            <a:ext cx="41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James L. Scott, Esq.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0000" y="3520000"/>
            <a:ext cx="41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2C39A"/>
                </a:solidFill>
                <a:latin typeface="Calibri"/>
              </a:rPr>
              <a:t>EAF Board Member | Attorney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0000" y="3700000"/>
            <a:ext cx="41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8D8"/>
                </a:solidFill>
                <a:latin typeface="Calibri"/>
              </a:rPr>
              <a:t>Mobley &amp; Brown, LLP — Baltimore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0000" y="3880000"/>
            <a:ext cx="41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0EC"/>
                </a:solidFill>
                <a:latin typeface="Calibri"/>
              </a:rPr>
              <a:t>• Reviews all red team and government contracts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80000" y="4080000"/>
            <a:ext cx="41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0EC"/>
                </a:solidFill>
                <a:latin typeface="Calibri"/>
              </a:rPr>
              <a:t>• Legal oversight for EAF nonprofit compliance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0000" y="4883500"/>
            <a:ext cx="8744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090A8"/>
                </a:solidFill>
                <a:latin typeface="Calibri"/>
              </a:rPr>
              <a:t>KAI-Netics Equity &amp; Autonomy Foundry (EAF) — 501c3 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Workforce: The EAF / CAKO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56032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Receives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Grants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CDBG + MEIA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432304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Drone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32304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week program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residents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08576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Hires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Graduates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08576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Market-rate wages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Pipeline Agmt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4848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784848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Generate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Data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84848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AKMS AI training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authorization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29077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MEIA</a:t>
            </a:r>
            <a:endParaRPr lang="en-US" sz="14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64992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9808" y="3346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jobs trained in Baltimore's most climate-vulnerable neighborhoods — Sandtown, Cherry Hill, Perkins Homes</a:t>
            </a:r>
            <a:endParaRPr lang="en-US" sz="10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76732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9808" y="37490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1: 10–15 operators trained free-of-cost to FP; graduates earn market-rate professional wages</a:t>
            </a:r>
            <a:endParaRPr lang="en-US" sz="10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169664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49808" y="41513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501c3 structure ensures workforce program is grant-fundable, community-rooted, and financially independent of FP</a:t>
            </a:r>
            <a:endParaRPr lang="en-US" sz="10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57200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9808" y="45537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 company training minority Baltimore residents = MEIA's mission embodied in one program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Revenue Projections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115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36192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75488" y="15727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Per-delivery fee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5727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$15–$75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0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1+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66544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74320" y="2066544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5488" y="21031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SLA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$8K–$15K/mo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06240" y="2103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109728" cy="45720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5488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contract (MBE)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6334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GSA-rate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0" y="2633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4320" y="3127248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5488" y="3163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 program 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1638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$25K–$75K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06240" y="31638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5488" y="36941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licensing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694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Per-unit (Yr 2+)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06240" y="3694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0" y="11155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Milestones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0" y="1536192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669280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$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669280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1–2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51776" y="1536192"/>
            <a:ext cx="1481328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351776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351776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2596896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669280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$175K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669280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51776" y="2596896"/>
            <a:ext cx="1481328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7351776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$248K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351776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402336" y="46085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Grant Pipeline (Non-Dilutive):   EARN Maryland ~$125K  |  CDBG TBD  |  SBIR Phase I (pending reauth)  |  MEA Resilient MD (ongoing)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00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Commercialization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000" y="1060000"/>
            <a:ext cx="4572" cy="3683500"/>
          </a:xfrm>
          <a:prstGeom prst="rect">
            <a:avLst/>
          </a:prstGeom>
          <a:solidFill>
            <a:srgbClr val="2A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10400" y="1060000"/>
            <a:ext cx="4572" cy="3683500"/>
          </a:xfrm>
          <a:prstGeom prst="rect">
            <a:avLst/>
          </a:prstGeom>
          <a:solidFill>
            <a:srgbClr val="2A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78880" y="1060000"/>
            <a:ext cx="4572" cy="3683500"/>
          </a:xfrm>
          <a:prstGeom prst="rect">
            <a:avLst/>
          </a:prstGeom>
          <a:solidFill>
            <a:srgbClr val="2A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03520" y="1060000"/>
            <a:ext cx="4572" cy="3683500"/>
          </a:xfrm>
          <a:prstGeom prst="rect">
            <a:avLst/>
          </a:prstGeom>
          <a:solidFill>
            <a:srgbClr val="2A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28160" y="1060000"/>
            <a:ext cx="4572" cy="3683500"/>
          </a:xfrm>
          <a:prstGeom prst="rect">
            <a:avLst/>
          </a:prstGeom>
          <a:solidFill>
            <a:srgbClr val="2A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30880" y="1060000"/>
            <a:ext cx="4572" cy="3683500"/>
          </a:xfrm>
          <a:prstGeom prst="rect">
            <a:avLst/>
          </a:prstGeom>
          <a:solidFill>
            <a:srgbClr val="2A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024000" y="1060000"/>
            <a:ext cx="4572" cy="3683500"/>
          </a:xfrm>
          <a:prstGeom prst="rect">
            <a:avLst/>
          </a:prstGeom>
          <a:solidFill>
            <a:srgbClr val="2A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0000" y="4743500"/>
            <a:ext cx="8904000" cy="914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-100000" y="4765500"/>
            <a:ext cx="44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090"/>
                </a:solidFill>
                <a:latin typeface="Calibri"/>
              </a:rPr>
              <a:t>Apr
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400" y="4765500"/>
            <a:ext cx="44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090"/>
                </a:solidFill>
                <a:latin typeface="Calibri"/>
              </a:rPr>
              <a:t>May
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8880" y="4765500"/>
            <a:ext cx="44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090"/>
                </a:solidFill>
                <a:latin typeface="Calibri"/>
              </a:rPr>
              <a:t>Jun–Jul
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3520" y="4765500"/>
            <a:ext cx="44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090"/>
                </a:solidFill>
                <a:latin typeface="Calibri"/>
              </a:rPr>
              <a:t>Aug–Sep
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8160" y="4765500"/>
            <a:ext cx="44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090"/>
                </a:solidFill>
                <a:latin typeface="Calibri"/>
              </a:rPr>
              <a:t>Oct
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0880" y="4765500"/>
            <a:ext cx="44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090"/>
                </a:solidFill>
                <a:latin typeface="Calibri"/>
              </a:rPr>
              <a:t>Jan
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4000" y="4765500"/>
            <a:ext cx="44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090"/>
                </a:solidFill>
                <a:latin typeface="Calibri"/>
              </a:rPr>
              <a:t>Mar
2027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00" y="1060000"/>
            <a:ext cx="8904000" cy="1214500"/>
          </a:xfrm>
          <a:prstGeom prst="rect">
            <a:avLst/>
          </a:prstGeom>
          <a:solidFill>
            <a:srgbClr val="02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0000" y="1060000"/>
            <a:ext cx="18000" cy="1214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8000" y="1060000"/>
            <a:ext cx="8886000" cy="210000"/>
          </a:xfrm>
          <a:prstGeom prst="rect">
            <a:avLst/>
          </a:prstGeom>
          <a:solidFill>
            <a:srgbClr val="014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6000" y="1072000"/>
            <a:ext cx="8824000" cy="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REVENUE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0000" y="2294500"/>
            <a:ext cx="8904000" cy="1214500"/>
          </a:xfrm>
          <a:prstGeom prst="rect">
            <a:avLst/>
          </a:prstGeom>
          <a:solidFill>
            <a:srgbClr val="10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0000" y="2294500"/>
            <a:ext cx="18000" cy="1214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38000" y="2294500"/>
            <a:ext cx="8886000" cy="210000"/>
          </a:xfrm>
          <a:prstGeom prst="rect">
            <a:avLst/>
          </a:prstGeom>
          <a:solidFill>
            <a:srgbClr val="60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6000" y="2306500"/>
            <a:ext cx="8824000" cy="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GRANTS &amp; COMPLIANCE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0000" y="3529000"/>
            <a:ext cx="8904000" cy="1214500"/>
          </a:xfrm>
          <a:prstGeom prst="rect">
            <a:avLst/>
          </a:prstGeom>
          <a:solidFill>
            <a:srgbClr val="02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0000" y="3529000"/>
            <a:ext cx="18000" cy="1214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38000" y="3529000"/>
            <a:ext cx="8886000" cy="210000"/>
          </a:xfrm>
          <a:prstGeom prst="rect">
            <a:avLst/>
          </a:prstGeom>
          <a:solidFill>
            <a:srgbClr val="0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6000" y="3541000"/>
            <a:ext cx="8824000" cy="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alibri"/>
              </a:rPr>
              <a:t>PLATFORM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4000" y="1282000"/>
            <a:ext cx="1930880" cy="484250"/>
          </a:xfrm>
          <a:prstGeom prst="rect">
            <a:avLst/>
          </a:prstGeom>
          <a:solidFill>
            <a:srgbClr val="02809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6000" y="1294000"/>
            <a:ext cx="188688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★ Medical supply POC (UMMS → UMMC)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92880" y="1282000"/>
            <a:ext cx="2821280" cy="484250"/>
          </a:xfrm>
          <a:prstGeom prst="rect">
            <a:avLst/>
          </a:prstGeom>
          <a:solidFill>
            <a:srgbClr val="019AB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14880" y="1294000"/>
            <a:ext cx="277728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First managed service SLA — $8K–$15K MRR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42160" y="1282000"/>
            <a:ext cx="1574720" cy="484250"/>
          </a:xfrm>
          <a:prstGeom prst="rect">
            <a:avLst/>
          </a:prstGeom>
          <a:solidFill>
            <a:srgbClr val="02B5C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64160" y="1294000"/>
            <a:ext cx="15307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$100K cumulative revenue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44880" y="1282000"/>
            <a:ext cx="2465120" cy="484250"/>
          </a:xfrm>
          <a:prstGeom prst="rect">
            <a:avLst/>
          </a:prstGeom>
          <a:solidFill>
            <a:srgbClr val="029A7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66880" y="1294000"/>
            <a:ext cx="24211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$175K → $248K Year 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4000" y="1778250"/>
            <a:ext cx="1930880" cy="484250"/>
          </a:xfrm>
          <a:prstGeom prst="rect">
            <a:avLst/>
          </a:prstGeom>
          <a:solidFill>
            <a:srgbClr val="02809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56000" y="1790250"/>
            <a:ext cx="188688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★ Lab specimen transport (Hopkins/UMMS) + Resiliency Hubs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92880" y="1778250"/>
            <a:ext cx="2821280" cy="484250"/>
          </a:xfrm>
          <a:prstGeom prst="rect">
            <a:avLst/>
          </a:prstGeom>
          <a:solidFill>
            <a:srgbClr val="019AB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114880" y="1790250"/>
            <a:ext cx="277728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Tradepoint Atlantic inter-facility B2B outreach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42160" y="1778250"/>
            <a:ext cx="1574720" cy="484250"/>
          </a:xfrm>
          <a:prstGeom prst="rect">
            <a:avLst/>
          </a:prstGeom>
          <a:solidFill>
            <a:srgbClr val="02B5C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64160" y="1790250"/>
            <a:ext cx="15307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★ Campus delivery pilot (UMGC)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44880" y="1778250"/>
            <a:ext cx="2465120" cy="484250"/>
          </a:xfrm>
          <a:prstGeom prst="rect">
            <a:avLst/>
          </a:prstGeom>
          <a:solidFill>
            <a:srgbClr val="029A7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66880" y="1790250"/>
            <a:ext cx="24211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★ DFR program pkg — Baltimore City PD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4000" y="2516500"/>
            <a:ext cx="862400" cy="484250"/>
          </a:xfrm>
          <a:prstGeom prst="rect">
            <a:avLst/>
          </a:prstGeom>
          <a:solidFill>
            <a:srgbClr val="1E4A8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56000" y="2528500"/>
            <a:ext cx="81840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24400" y="2516500"/>
            <a:ext cx="2465120" cy="484250"/>
          </a:xfrm>
          <a:prstGeom prst="rect">
            <a:avLst/>
          </a:prstGeom>
          <a:solidFill>
            <a:srgbClr val="285A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46400" y="2528500"/>
            <a:ext cx="24211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UMMS / Hopkins / MedStar LOIs in negotiation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42160" y="2516500"/>
            <a:ext cx="1574720" cy="484250"/>
          </a:xfrm>
          <a:prstGeom prst="rect">
            <a:avLst/>
          </a:prstGeom>
          <a:solidFill>
            <a:srgbClr val="1E4A8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964160" y="2528500"/>
            <a:ext cx="15307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SBIR Phase I (UMGC affiliation)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44880" y="2516500"/>
            <a:ext cx="2465120" cy="484250"/>
          </a:xfrm>
          <a:prstGeom prst="rect">
            <a:avLst/>
          </a:prstGeom>
          <a:solidFill>
            <a:srgbClr val="285A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66880" y="2528500"/>
            <a:ext cx="24211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34000" y="3012750"/>
            <a:ext cx="862400" cy="484250"/>
          </a:xfrm>
          <a:prstGeom prst="rect">
            <a:avLst/>
          </a:prstGeom>
          <a:solidFill>
            <a:srgbClr val="C0801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56000" y="3024750"/>
            <a:ext cx="81840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EAF Form 1023 + EARN Maryland + MBE filed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24400" y="3012750"/>
            <a:ext cx="2465120" cy="484250"/>
          </a:xfrm>
          <a:prstGeom prst="rect">
            <a:avLst/>
          </a:prstGeom>
          <a:solidFill>
            <a:srgbClr val="C0801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46400" y="3024750"/>
            <a:ext cx="24211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Techstars AI Health Demo Day — M&amp;T Bank Stadium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42160" y="3012750"/>
            <a:ext cx="1574720" cy="484250"/>
          </a:xfrm>
          <a:prstGeom prst="rect">
            <a:avLst/>
          </a:prstGeom>
          <a:solidFill>
            <a:srgbClr val="C0801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964160" y="3024750"/>
            <a:ext cx="15307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NSF SBIR Phase I application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44880" y="3012750"/>
            <a:ext cx="2465120" cy="484250"/>
          </a:xfrm>
          <a:prstGeom prst="rect">
            <a:avLst/>
          </a:prstGeom>
          <a:solidFill>
            <a:srgbClr val="1E4A8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66880" y="3024750"/>
            <a:ext cx="24211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Part 108 BVLOS application filed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4000" y="3751000"/>
            <a:ext cx="862400" cy="484250"/>
          </a:xfrm>
          <a:prstGeom prst="rect">
            <a:avLst/>
          </a:prstGeom>
          <a:solidFill>
            <a:srgbClr val="02806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56000" y="3763000"/>
            <a:ext cx="81840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UROC internship application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92880" y="3751000"/>
            <a:ext cx="1396640" cy="484250"/>
          </a:xfrm>
          <a:prstGeom prst="rect">
            <a:avLst/>
          </a:prstGeom>
          <a:solidFill>
            <a:srgbClr val="02806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114880" y="3763000"/>
            <a:ext cx="135264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UROC internship begins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17520" y="3751000"/>
            <a:ext cx="2999360" cy="484250"/>
          </a:xfrm>
          <a:prstGeom prst="rect">
            <a:avLst/>
          </a:prstGeom>
          <a:solidFill>
            <a:srgbClr val="02708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539520" y="3763000"/>
            <a:ext cx="295536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★ MONK prototype — Phase 2A–2C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44880" y="3751000"/>
            <a:ext cx="2465120" cy="484250"/>
          </a:xfrm>
          <a:prstGeom prst="rect">
            <a:avLst/>
          </a:prstGeom>
          <a:solidFill>
            <a:srgbClr val="039A7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566880" y="3763000"/>
            <a:ext cx="24211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CAKO Cohort 1 graduates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34000" y="4247250"/>
            <a:ext cx="1930880" cy="484250"/>
          </a:xfrm>
          <a:prstGeom prst="rect">
            <a:avLst/>
          </a:prstGeom>
          <a:solidFill>
            <a:srgbClr val="039A7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56000" y="4259250"/>
            <a:ext cx="188688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Part 107 BD outreach — UMMS, Hopkins, MedStar, MDSHA, BGE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92880" y="4247250"/>
            <a:ext cx="1396640" cy="484250"/>
          </a:xfrm>
          <a:prstGeom prst="rect">
            <a:avLst/>
          </a:prstGeom>
          <a:solidFill>
            <a:srgbClr val="039A7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114880" y="4259250"/>
            <a:ext cx="135264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CAKO Cohort 1 recruitment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7520" y="4247250"/>
            <a:ext cx="2999360" cy="484250"/>
          </a:xfrm>
          <a:prstGeom prst="rect">
            <a:avLst/>
          </a:prstGeom>
          <a:solidFill>
            <a:srgbClr val="02708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539520" y="4259250"/>
            <a:ext cx="295536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★ MONK prototype — Phase 2D + audit dashboard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44880" y="4247250"/>
            <a:ext cx="2465120" cy="484250"/>
          </a:xfrm>
          <a:prstGeom prst="rect">
            <a:avLst/>
          </a:prstGeom>
          <a:solidFill>
            <a:srgbClr val="02806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566880" y="4259250"/>
            <a:ext cx="24211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All 5 verticals operational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0000" y="5053500"/>
            <a:ext cx="8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MONK: Mission Authorization Engine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60000"/>
            <a:ext cx="8778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28090"/>
                </a:solidFill>
                <a:latin typeface="Calibri"/>
              </a:rPr>
              <a:t>Patent-pending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3600" y="1420000"/>
            <a:ext cx="1920000" cy="28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3600" y="1420000"/>
            <a:ext cx="1920000" cy="26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3600" y="1450000"/>
            <a:ext cx="19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600" y="1690000"/>
            <a:ext cx="1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8090"/>
                </a:solidFill>
                <a:latin typeface="Calibri"/>
              </a:rPr>
              <a:t>Mission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60" y="194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Operator submits mission request via MONK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560" y="227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Payload, route, operator credentials, and time window captured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560" y="2688424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Request queued for authorization</a:t>
            </a:r>
          </a:p>
        </p:txBody>
      </p:sp>
      <p:sp>
        <p:nvSpPr>
          <p:cNvPr id="13" name="Can 12"/>
          <p:cNvSpPr/>
          <p:nvPr/>
        </p:nvSpPr>
        <p:spPr>
          <a:xfrm>
            <a:off x="2133600" y="2705700"/>
            <a:ext cx="305600" cy="228600"/>
          </a:xfrm>
          <a:prstGeom prst="can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69200" y="1420000"/>
            <a:ext cx="1920000" cy="28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69200" y="1420000"/>
            <a:ext cx="1920000" cy="26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9200" y="1450000"/>
            <a:ext cx="19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9200" y="1690000"/>
            <a:ext cx="1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Calibri"/>
              </a:rPr>
              <a:t>Authorization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0160" y="194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Three-point authorization check runs simultaneously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0160" y="227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All checks must pass — any failure returns denial with reason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0160" y="260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No flight proceeds without a valid authorization token</a:t>
            </a:r>
          </a:p>
        </p:txBody>
      </p:sp>
      <p:sp>
        <p:nvSpPr>
          <p:cNvPr id="21" name="Can 20"/>
          <p:cNvSpPr/>
          <p:nvPr/>
        </p:nvSpPr>
        <p:spPr>
          <a:xfrm>
            <a:off x="4419200" y="2705700"/>
            <a:ext cx="305600" cy="228600"/>
          </a:xfrm>
          <a:prstGeom prst="can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54800" y="1420000"/>
            <a:ext cx="1920000" cy="28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54800" y="1420000"/>
            <a:ext cx="1920000" cy="26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00" y="1450000"/>
            <a:ext cx="19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00" y="1690000"/>
            <a:ext cx="1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Calibri"/>
              </a:rPr>
              <a:t>Mission Signing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5760" y="194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Authorized mission package cryptographically signed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5760" y="227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Tamper-evident record created before wheels-up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5760" y="260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Auditable by FAA, UMMS, insurers at any time</a:t>
            </a:r>
          </a:p>
        </p:txBody>
      </p:sp>
      <p:sp>
        <p:nvSpPr>
          <p:cNvPr id="29" name="Can 28"/>
          <p:cNvSpPr/>
          <p:nvPr/>
        </p:nvSpPr>
        <p:spPr>
          <a:xfrm>
            <a:off x="6704800" y="2705700"/>
            <a:ext cx="305600" cy="228600"/>
          </a:xfrm>
          <a:prstGeom prst="can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40400" y="1420000"/>
            <a:ext cx="1920000" cy="28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40400" y="1420000"/>
            <a:ext cx="1920000" cy="26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400" y="1450000"/>
            <a:ext cx="19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  <a:latin typeface="Calibri"/>
              </a:rPr>
              <a:t>Phase 2D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400" y="1690000"/>
            <a:ext cx="1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Compliance Write-Back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01360" y="1940000"/>
            <a:ext cx="18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EFC"/>
                </a:solidFill>
                <a:latin typeface="Calibri"/>
              </a:rPr>
              <a:t>Post-flight actuals appended to signed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1360" y="2270000"/>
            <a:ext cx="18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EFC"/>
                </a:solidFill>
                <a:latin typeface="Calibri"/>
              </a:rPr>
              <a:t>Complete lifecycle audit trail: pre-flight to delivery confirm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01360" y="2600000"/>
            <a:ext cx="18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EFC"/>
                </a:solidFill>
                <a:latin typeface="Calibri"/>
              </a:rPr>
              <a:t>Every flight makes MONK smarter and the network cheaper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3600" y="4280000"/>
            <a:ext cx="877680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4280000"/>
            <a:ext cx="841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 dirty="0">
                <a:solidFill>
                  <a:srgbClr val="FFFFFF"/>
                </a:solidFill>
                <a:latin typeface="Calibri"/>
              </a:rPr>
              <a:t>Built on the KAI-</a:t>
            </a:r>
            <a:r>
              <a:rPr sz="1100" b="1" i="1" dirty="0" err="1">
                <a:solidFill>
                  <a:srgbClr val="FFFFFF"/>
                </a:solidFill>
                <a:latin typeface="Calibri"/>
              </a:rPr>
              <a:t>Netics</a:t>
            </a:r>
            <a:r>
              <a:rPr sz="1100" b="1" i="1" dirty="0">
                <a:solidFill>
                  <a:srgbClr val="FFFFFF"/>
                </a:solidFill>
                <a:latin typeface="Calibri"/>
              </a:rPr>
              <a:t> Core Engine already in production. </a:t>
            </a:r>
            <a:r>
              <a:rPr lang="en-US" sz="1100" b="1" i="1" dirty="0">
                <a:solidFill>
                  <a:srgbClr val="FFFFFF"/>
                </a:solidFill>
                <a:latin typeface="Calibri"/>
              </a:rPr>
              <a:t>As of the writing of this presentation n</a:t>
            </a:r>
            <a:r>
              <a:rPr sz="1100" b="1" i="1" dirty="0">
                <a:solidFill>
                  <a:srgbClr val="FFFFFF"/>
                </a:solidFill>
                <a:latin typeface="Calibri"/>
              </a:rPr>
              <a:t>o competitor has a hardware-anchored mission governance layer for commercial drone operations. MONK is being built before the mandate arrives.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MONK: Trusted Governance Layer for Autonomous Aviation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3600" y="128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3600" y="1280000"/>
            <a:ext cx="4100000" cy="26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4560" y="131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Autonomous Logistics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560" y="1560000"/>
            <a:ext cx="39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ADCFC"/>
                </a:solidFill>
                <a:latin typeface="Calibri"/>
              </a:rPr>
              <a:t>Delivery Drones (Medical, 3PL)  +  Inspection Drones (Infra, S</a:t>
            </a:r>
            <a:r>
              <a:rPr lang="en-US" sz="1000" b="0" i="0" dirty="0">
                <a:solidFill>
                  <a:srgbClr val="CADCFC"/>
                </a:solidFill>
                <a:latin typeface="Calibri"/>
              </a:rPr>
              <a:t>earch </a:t>
            </a:r>
            <a:r>
              <a:rPr sz="1000" b="0" i="0" dirty="0">
                <a:solidFill>
                  <a:srgbClr val="CADCFC"/>
                </a:solidFill>
                <a:latin typeface="Calibri"/>
              </a:rPr>
              <a:t>A</a:t>
            </a:r>
            <a:r>
              <a:rPr lang="en-US" sz="1000" b="0" i="0" dirty="0">
                <a:solidFill>
                  <a:srgbClr val="CADCFC"/>
                </a:solidFill>
                <a:latin typeface="Calibri"/>
              </a:rPr>
              <a:t>nd </a:t>
            </a:r>
            <a:r>
              <a:rPr sz="1000" b="0" i="0" dirty="0">
                <a:solidFill>
                  <a:srgbClr val="CADCFC"/>
                </a:solidFill>
                <a:latin typeface="Calibri"/>
              </a:rPr>
              <a:t>R</a:t>
            </a:r>
            <a:r>
              <a:rPr lang="en-US" sz="1000" b="0" i="0" dirty="0">
                <a:solidFill>
                  <a:srgbClr val="CADCFC"/>
                </a:solidFill>
                <a:latin typeface="Calibri"/>
              </a:rPr>
              <a:t>escue</a:t>
            </a:r>
            <a:r>
              <a:rPr sz="1000" b="0" i="0" dirty="0">
                <a:solidFill>
                  <a:srgbClr val="CADCFC"/>
                </a:solidFill>
                <a:latin typeface="Calibri"/>
              </a:rPr>
              <a:t>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133600" y="2080000"/>
            <a:ext cx="200000" cy="200000"/>
          </a:xfrm>
          <a:prstGeom prst="downArrow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63600" y="209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090"/>
                </a:solidFill>
                <a:latin typeface="Calibri"/>
              </a:rPr>
              <a:t>Encrypted Telemetry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3600" y="230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3600" y="2300000"/>
            <a:ext cx="4100000" cy="26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4560" y="233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MONK Governance Payload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560" y="2580000"/>
            <a:ext cx="39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ADCFC"/>
                </a:solidFill>
                <a:latin typeface="Calibri"/>
              </a:rPr>
              <a:t>◆ LAANC Authorization   ◆ Cryptographic Compliance   ◆ Telemetry Validation   ◆ </a:t>
            </a:r>
            <a:r>
              <a:rPr lang="en-US" sz="1000" b="0" i="0" dirty="0">
                <a:solidFill>
                  <a:srgbClr val="CADCFC"/>
                </a:solidFill>
                <a:latin typeface="Calibri"/>
              </a:rPr>
              <a:t>Mission Authorization Signing</a:t>
            </a:r>
            <a:endParaRPr sz="1000" b="0" i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2133600" y="3100000"/>
            <a:ext cx="200000" cy="200000"/>
          </a:xfrm>
          <a:prstGeom prst="downArrow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3600" y="311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C39A"/>
                </a:solidFill>
                <a:latin typeface="Calibri"/>
              </a:rPr>
              <a:t>Signed Compliance Token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3600" y="332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3600" y="3320000"/>
            <a:ext cx="4100000" cy="26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4560" y="335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BVLOS Corridor Network (CURN)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560" y="3600000"/>
            <a:ext cx="398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ADCFC"/>
                </a:solidFill>
                <a:latin typeface="Calibri"/>
              </a:rPr>
              <a:t>Flight Monitoring  •  Corridor Access Control  •  Geofence Enforcement  •  Anomaly Alerts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133600" y="4120000"/>
            <a:ext cx="200000" cy="200000"/>
          </a:xfrm>
          <a:prstGeom prst="downArrow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63600" y="413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090"/>
                </a:solidFill>
                <a:latin typeface="Calibri"/>
              </a:rPr>
              <a:t>Authorized Flight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3600" y="434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83600" y="4340000"/>
            <a:ext cx="4100000" cy="26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4560" y="4370000"/>
            <a:ext cx="398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1E3A5F"/>
                </a:solidFill>
                <a:latin typeface="Calibri"/>
              </a:rPr>
              <a:t>           </a:t>
            </a:r>
            <a:r>
              <a:rPr sz="1200" b="1" i="0" dirty="0">
                <a:solidFill>
                  <a:srgbClr val="1E3A5F"/>
                </a:solidFill>
                <a:latin typeface="Calibri"/>
              </a:rPr>
              <a:t>FAA / U</a:t>
            </a:r>
            <a:r>
              <a:rPr lang="en-US" sz="1200" b="1" i="0" dirty="0">
                <a:solidFill>
                  <a:srgbClr val="1E3A5F"/>
                </a:solidFill>
                <a:latin typeface="Calibri"/>
              </a:rPr>
              <a:t>nmanned </a:t>
            </a:r>
            <a:r>
              <a:rPr sz="1200" b="1" i="0" dirty="0">
                <a:solidFill>
                  <a:srgbClr val="1E3A5F"/>
                </a:solidFill>
                <a:latin typeface="Calibri"/>
              </a:rPr>
              <a:t>T</a:t>
            </a:r>
            <a:r>
              <a:rPr lang="en-US" sz="1200" b="1" i="0" dirty="0">
                <a:solidFill>
                  <a:srgbClr val="1E3A5F"/>
                </a:solidFill>
                <a:latin typeface="Calibri"/>
              </a:rPr>
              <a:t>raffic </a:t>
            </a:r>
            <a:r>
              <a:rPr sz="1200" b="1" i="0" dirty="0">
                <a:solidFill>
                  <a:srgbClr val="1E3A5F"/>
                </a:solidFill>
                <a:latin typeface="Calibri"/>
              </a:rPr>
              <a:t>M</a:t>
            </a:r>
            <a:r>
              <a:rPr lang="en-US" sz="1200" b="1" i="0" dirty="0">
                <a:solidFill>
                  <a:srgbClr val="1E3A5F"/>
                </a:solidFill>
                <a:latin typeface="Calibri"/>
              </a:rPr>
              <a:t>anagement</a:t>
            </a:r>
            <a:r>
              <a:rPr sz="1200" b="1" i="0" dirty="0">
                <a:solidFill>
                  <a:srgbClr val="1E3A5F"/>
                </a:solidFill>
                <a:latin typeface="Calibri"/>
              </a:rPr>
              <a:t> Airspace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560" y="4620000"/>
            <a:ext cx="398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ADEFC"/>
                </a:solidFill>
                <a:latin typeface="Calibri"/>
              </a:rPr>
              <a:t>Safety • Regulatory Compliance • Traffic Coordination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5760" y="1280000"/>
            <a:ext cx="4494640" cy="361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65760" y="1280000"/>
            <a:ext cx="4494640" cy="26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720" y="131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  <a:latin typeface="Calibri"/>
              </a:rPr>
              <a:t>Why MONK is the Differentiator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720" y="158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Every flight is pre-authorized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720" y="177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LAANC clearance embedded in mission before takeoff — not after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720" y="204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Every flight is cryptographically signed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720" y="223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Tamper-evident record auditable by UMMS, FAA, DHS, insurers at any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720" y="250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No competitor is building this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720" y="269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MONK is the trust infrastructure the entire CURN ecosystem will eventually require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720" y="296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26720" y="315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26720" y="342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DHS approved tech list candidate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720" y="361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Positions KAI-Netics for Safer Skies Act C-UAS certification pathway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8000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80000"/>
            <a:ext cx="864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20000"/>
            <a:ext cx="8644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28090"/>
                </a:solidFill>
                <a:latin typeface="Calibri"/>
              </a:rPr>
              <a:t>KAI-Netics is requesting entry into MEIA's Prototyping &amp; Manufacturing Accelerator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000" y="1100000"/>
            <a:ext cx="4100000" cy="1380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0000" y="1100000"/>
            <a:ext cx="4100000" cy="55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0000" y="1180000"/>
            <a:ext cx="4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Calibri"/>
              </a:rPr>
              <a:t>Entry into the Prototyping Accelerator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000" y="1440000"/>
            <a:ext cx="4000000" cy="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0EC"/>
                </a:solidFill>
                <a:latin typeface="Calibri"/>
              </a:rPr>
              <a:t>We are requesting formal consideration for MEIA's Prototyping &amp; Manufacturing Accelerator to advance the MONK Mission Authorization Engine from concept to working prototype — accelerating KAI-Netics' path to commercial deployment and SBIR readiness.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4000" y="1100000"/>
            <a:ext cx="4100000" cy="1380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44000" y="1100000"/>
            <a:ext cx="4100000" cy="55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4000" y="1180000"/>
            <a:ext cx="4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Customer Validation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4000" y="1440000"/>
            <a:ext cx="4000000" cy="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0EC"/>
                </a:solidFill>
                <a:latin typeface="Calibri"/>
              </a:rPr>
              <a:t>Facilitation of introductions to UMMS, Hopkins, and MedStar supply chain leadership — validating the medical delivery use case and opening the LOC conversation that unlocks Phase 1 revenue.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0000" y="2620000"/>
            <a:ext cx="4100000" cy="1380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00000" y="2620000"/>
            <a:ext cx="4100000" cy="55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0000" y="2700000"/>
            <a:ext cx="4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Ecosystem &amp; Network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000" y="2960000"/>
            <a:ext cx="4000000" cy="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0EC"/>
                </a:solidFill>
                <a:latin typeface="Calibri"/>
              </a:rPr>
              <a:t>Connection to MEIA's EEIR network for supply chain and aviation expertise; Climate Technology Founders Fund preparation; and investor introductions aligned to drone infrastructure and climate tech.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4000" y="2620000"/>
            <a:ext cx="4100000" cy="1380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44000" y="2620000"/>
            <a:ext cx="4100000" cy="5500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4000" y="2700000"/>
            <a:ext cx="4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68EE"/>
                </a:solidFill>
                <a:latin typeface="Calibri"/>
              </a:rPr>
              <a:t>Grant Navigation &amp; Workforce Funding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4000" y="2960000"/>
            <a:ext cx="4000000" cy="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0EC"/>
                </a:solidFill>
                <a:latin typeface="Calibri"/>
              </a:rPr>
              <a:t>Guidance on EARN Maryland, CDBG, and MEA Resilient MD applications supporting EAF's CAKO green collar drone operator training program — Maryland's first Part 107 workforce pipeline in climate-vulnerable communities.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000" y="4863500"/>
            <a:ext cx="8744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AB4C8"/>
                </a:solidFill>
                <a:latin typeface="Calibri"/>
              </a:rPr>
              <a:t>Kevin Alexander Smith  |  kas@kevin-llc.com  |  443.257.6836  |  kevin-llc.com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2962</Words>
  <Application>Microsoft Office PowerPoint</Application>
  <PresentationFormat>On-screen Show (16:9)</PresentationFormat>
  <Paragraphs>371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KAI-Netics MEIA Phase 2 Commercialization Plan</dc:title>
  <dc:subject>PptxGenJS Presentation</dc:subject>
  <dc:creator>Kevin Alexander Smith</dc:creator>
  <cp:lastModifiedBy>Kevin Smith</cp:lastModifiedBy>
  <cp:revision>9</cp:revision>
  <dcterms:created xsi:type="dcterms:W3CDTF">2026-04-11T02:07:57Z</dcterms:created>
  <dcterms:modified xsi:type="dcterms:W3CDTF">2026-04-13T19:07:55Z</dcterms:modified>
</cp:coreProperties>
</file>