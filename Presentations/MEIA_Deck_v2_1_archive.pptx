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9" r:id="rId6"/>
    <p:sldId id="258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8" r:id="rId15"/>
    <p:sldId id="271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0157" autoAdjust="0"/>
  </p:normalViewPr>
  <p:slideViewPr>
    <p:cSldViewPr snapToGrid="0" snapToObjects="1">
      <p:cViewPr>
        <p:scale>
          <a:sx n="99" d="100"/>
          <a:sy n="99" d="100"/>
        </p:scale>
        <p:origin x="91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405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5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UMMS built the Sparrows Point LOC as a deliberate consolidation strategy — centralizing supply receiving across all 11 hospital sites into a single location with one dock, one inventory system, and one logistics team managing inbound flow. That solved the fragmentation problem.</a:t>
            </a:r>
          </a:p>
          <a:p>
            <a:r>
              <a:rPr lang="en-US" dirty="0"/>
              <a:t>But consolidation created a new vulnerability. When you concentrate everything into one node, that node becomes a single point of failure. COVID proved this exactly — when ground transport was disrupted, the entire system froze because every delivery ran through the same bottlenecks.</a:t>
            </a:r>
          </a:p>
          <a:p>
            <a:r>
              <a:rPr lang="en-US" dirty="0"/>
              <a:t>Drones solve that specific problem. A drone doesn't need roads, doesn't need a driver, and operates on a completely separate infrastructure layer from the truck fleet. The LOC keeps doing what it was built to do — consolidate receiving. KAI-</a:t>
            </a:r>
            <a:r>
              <a:rPr lang="en-US" dirty="0" err="1"/>
              <a:t>Netics</a:t>
            </a:r>
            <a:r>
              <a:rPr lang="en-US" dirty="0"/>
              <a:t> adds a resilient last-mile distribution layer underneath it that can't be taken out by the same events that ground trucks.</a:t>
            </a:r>
          </a:p>
          <a:p>
            <a:r>
              <a:rPr lang="en-US" dirty="0"/>
              <a:t>The pitch is not "change how you receive supply." The pitch is "protect what you already built."</a:t>
            </a:r>
          </a:p>
          <a:p>
            <a:r>
              <a:rPr lang="en-US" dirty="0"/>
              <a:t>When a hospital supply chain VP asks "what happens when your system goes down?" — the answer is: our system is what you call when your system goes 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26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05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Logistics Operations Center (LOC)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Green House Gas (GHG)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standard*.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“98% of hospital leaders said COVID-19 exposed critical supply chain vulnerabilities” – 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Exchange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Chesapeake Unmanned Aerial Systems Route Network (CURN)'s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4B86D-28E4-F7FF-8D68-EA411CAF9AAF}"/>
              </a:ext>
            </a:extLst>
          </p:cNvPr>
          <p:cNvSpPr txBox="1"/>
          <p:nvPr/>
        </p:nvSpPr>
        <p:spPr>
          <a:xfrm>
            <a:off x="1179268" y="4800600"/>
            <a:ext cx="67854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/>
              <a:t>*The University of Maryland Medical System’s (UMMS) new 400,000-square-foot Logistics Operations Center (LOC) at Sparrows Point complies with Maryland’s climate standards by being an all-electric, solar-ready facility with high-efficiency insulation and heat-recovery technology.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Low-value trips — pharmacy runs, routine supply — cannot justify the cost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No new trips are created — we're splitting a fixed pie until the price drops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at customer sites + CURN corridor access = controlled end-to-end flight path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Autonomous Kinetic Management System (AKMS)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Foundry Prime 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494552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8090"/>
                </a:solidFill>
                <a:latin typeface="Calibri"/>
              </a:rPr>
              <a:t>= Tesla</a:t>
            </a:r>
            <a:r>
              <a:rPr lang="en-US" sz="900" b="0" i="1" dirty="0">
                <a:solidFill>
                  <a:srgbClr val="028090"/>
                </a:solidFill>
                <a:latin typeface="Calibri"/>
              </a:rPr>
              <a:t> (TSLA)</a:t>
            </a:r>
            <a:r>
              <a:rPr sz="900" b="0" i="1" dirty="0">
                <a:solidFill>
                  <a:srgbClr val="028090"/>
                </a:solidFill>
                <a:latin typeface="Calibri"/>
              </a:rPr>
              <a:t>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EAF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320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518617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F5A623"/>
                </a:solidFill>
                <a:latin typeface="Calibri"/>
              </a:rPr>
              <a:t>= T</a:t>
            </a:r>
            <a:r>
              <a:rPr lang="en-US" sz="900" b="0" i="1" dirty="0">
                <a:solidFill>
                  <a:srgbClr val="F5A623"/>
                </a:solidFill>
                <a:latin typeface="Calibri"/>
              </a:rPr>
              <a:t>SLA</a:t>
            </a:r>
            <a:r>
              <a:rPr sz="900" b="0" i="1" dirty="0">
                <a:solidFill>
                  <a:srgbClr val="F5A623"/>
                </a:solidFill>
                <a:latin typeface="Calibri"/>
              </a:rPr>
              <a:t>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184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184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184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880" y="4522531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C39A"/>
                </a:solidFill>
                <a:latin typeface="Calibri"/>
              </a:rPr>
              <a:t>=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TSLA Full-Service Driving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(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FSD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)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3600" y="4792302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792302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University of Maryland Regional Operations Center (UROC) -led Beyond Visual Line Of Site (BVLOS)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(Johns Hopkins, etc.)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213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56660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KAI-</a:t>
            </a:r>
            <a:r>
              <a:rPr sz="900" b="0" i="0" dirty="0" err="1">
                <a:solidFill>
                  <a:srgbClr val="CADCFC"/>
                </a:solidFill>
                <a:latin typeface="Calibri"/>
              </a:rPr>
              <a:t>Netics</a:t>
            </a:r>
            <a:r>
              <a:rPr sz="900" b="0" i="0" dirty="0">
                <a:solidFill>
                  <a:srgbClr val="CADCFC"/>
                </a:solidFill>
                <a:latin typeface="Calibri"/>
              </a:rPr>
              <a:t>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9543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95394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38816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79544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6998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8922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Tier</a:t>
            </a:r>
            <a:r>
              <a:rPr sz="900" b="0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900" dirty="0">
                <a:solidFill>
                  <a:srgbClr val="CADEFC"/>
                </a:solidFill>
                <a:latin typeface="Calibri"/>
              </a:rPr>
              <a:t>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1359" y="213826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1359" y="256660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4793803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793803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 dirty="0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59" y="164592"/>
            <a:ext cx="872530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Modular Operational Network Kernel (MONK)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Low Altitude Authorization and Notification Capability (LAANC)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2959767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2bg"/>
          <p:cNvSpPr/>
          <p:nvPr/>
        </p:nvSpPr>
        <p:spPr>
          <a:xfrm>
            <a:off x="2651600" y="1554481"/>
            <a:ext cx="1920240" cy="2959766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29597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2959765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464040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Delivery Drones (Medical, 3PL)  +  Inspection Drones (Infra, SAR)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Mission Authorization Signing</a:t>
            </a:r>
            <a:endParaRPr sz="10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FAA / UTM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EFC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MEIA Phase 2 prototype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$30K MEIA vendor budget builds MONK MVP: LAANC + signing + audit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2913</Words>
  <Application>Microsoft Office PowerPoint</Application>
  <PresentationFormat>On-screen Show (16:9)</PresentationFormat>
  <Paragraphs>344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6</cp:revision>
  <dcterms:created xsi:type="dcterms:W3CDTF">2026-04-11T02:07:57Z</dcterms:created>
  <dcterms:modified xsi:type="dcterms:W3CDTF">2026-04-12T21:53:56Z</dcterms:modified>
</cp:coreProperties>
</file>